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60" r:id="rId2"/>
    <p:sldId id="256" r:id="rId3"/>
    <p:sldId id="257" r:id="rId4"/>
    <p:sldId id="264" r:id="rId5"/>
    <p:sldId id="263" r:id="rId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0202"/>
    <a:srgbClr val="54C0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0830A-6F9D-4237-B2AE-86D35BFEAD68}" v="546" dt="2024-07-20T13:32:14.98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01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cap="none" spc="50" normalizeH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Sheet1!$C$3</c:f>
              <c:strCache>
                <c:ptCount val="1"/>
                <c:pt idx="0">
                  <c:v>Assets Under Management (INR mn)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Sheet1!$B$4:$B$8</c:f>
              <c:strCache>
                <c:ptCount val="5"/>
                <c:pt idx="0">
                  <c:v>FY 2020</c:v>
                </c:pt>
                <c:pt idx="1">
                  <c:v>FY 2021</c:v>
                </c:pt>
                <c:pt idx="2">
                  <c:v>FY 2022</c:v>
                </c:pt>
                <c:pt idx="3">
                  <c:v>FY 2023</c:v>
                </c:pt>
                <c:pt idx="4">
                  <c:v>FY 2024</c:v>
                </c:pt>
              </c:strCache>
            </c:strRef>
          </c:cat>
          <c:val>
            <c:numRef>
              <c:f>Sheet1!$C$4:$C$8</c:f>
              <c:numCache>
                <c:formatCode>General</c:formatCode>
                <c:ptCount val="5"/>
                <c:pt idx="0">
                  <c:v>11078.8</c:v>
                </c:pt>
                <c:pt idx="1">
                  <c:v>47056.4</c:v>
                </c:pt>
                <c:pt idx="2">
                  <c:v>114613.9</c:v>
                </c:pt>
                <c:pt idx="3">
                  <c:v>107799.7</c:v>
                </c:pt>
                <c:pt idx="4">
                  <c:v>82864.800000000003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45-4544-9284-C57C17CE327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25"/>
        <c:axId val="1691877663"/>
        <c:axId val="1691880063"/>
      </c:barChart>
      <c:catAx>
        <c:axId val="169187766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Financial 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20" normalizeH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1880063"/>
        <c:crosses val="autoZero"/>
        <c:auto val="1"/>
        <c:lblAlgn val="ctr"/>
        <c:lblOffset val="100"/>
        <c:noMultiLvlLbl val="0"/>
      </c:catAx>
      <c:valAx>
        <c:axId val="16918800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AUM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18776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 w="25400" cap="flat" cmpd="sng" algn="ctr">
      <a:solidFill>
        <a:schemeClr val="accent2"/>
      </a:solidFill>
      <a:prstDash val="solid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1600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61F529-BDB4-455B-9503-EB42E42A03C6}" type="doc">
      <dgm:prSet loTypeId="urn:microsoft.com/office/officeart/2005/8/layout/default" loCatId="list" qsTypeId="urn:microsoft.com/office/officeart/2005/8/quickstyle/simple2" qsCatId="simple" csTypeId="urn:microsoft.com/office/officeart/2005/8/colors/accent5_1" csCatId="accent5"/>
      <dgm:spPr/>
      <dgm:t>
        <a:bodyPr/>
        <a:lstStyle/>
        <a:p>
          <a:endParaRPr lang="en-US"/>
        </a:p>
      </dgm:t>
    </dgm:pt>
    <dgm:pt modelId="{7CB72748-CCF2-4C29-BEE1-661EF851C217}">
      <dgm:prSet custT="1"/>
      <dgm:spPr/>
      <dgm:t>
        <a:bodyPr/>
        <a:lstStyle/>
        <a:p>
          <a:r>
            <a:rPr lang="en-US" sz="1100" b="1" dirty="0"/>
            <a:t>Shift to diversified portfolios and digital tools for wealth management.</a:t>
          </a:r>
        </a:p>
      </dgm:t>
    </dgm:pt>
    <dgm:pt modelId="{C4B39DEB-E626-4D2B-A876-7C0A90BB85AB}" type="parTrans" cxnId="{55AE3BBF-45B0-4417-B314-3FF3B8103D0F}">
      <dgm:prSet/>
      <dgm:spPr/>
      <dgm:t>
        <a:bodyPr/>
        <a:lstStyle/>
        <a:p>
          <a:endParaRPr lang="en-US" sz="1100"/>
        </a:p>
      </dgm:t>
    </dgm:pt>
    <dgm:pt modelId="{564E48C5-5B62-4B4C-891A-B114A605B930}" type="sibTrans" cxnId="{55AE3BBF-45B0-4417-B314-3FF3B8103D0F}">
      <dgm:prSet/>
      <dgm:spPr/>
      <dgm:t>
        <a:bodyPr/>
        <a:lstStyle/>
        <a:p>
          <a:endParaRPr lang="en-US" sz="1100"/>
        </a:p>
      </dgm:t>
    </dgm:pt>
    <dgm:pt modelId="{F32B30F6-02DC-4BD1-ACF4-1C5BF55AF28D}">
      <dgm:prSet custT="1"/>
      <dgm:spPr/>
      <dgm:t>
        <a:bodyPr/>
        <a:lstStyle/>
        <a:p>
          <a:r>
            <a:rPr lang="en-US" sz="1100" b="1" dirty="0"/>
            <a:t>Digital solutions, ESG focus, and competition drive current trends.</a:t>
          </a:r>
        </a:p>
      </dgm:t>
    </dgm:pt>
    <dgm:pt modelId="{8A69F2B8-C26B-42C2-BC5A-35A80BB618B1}" type="parTrans" cxnId="{EDFB19C3-E4AC-45CB-94CC-0732C513DE56}">
      <dgm:prSet/>
      <dgm:spPr/>
      <dgm:t>
        <a:bodyPr/>
        <a:lstStyle/>
        <a:p>
          <a:endParaRPr lang="en-US" sz="1100"/>
        </a:p>
      </dgm:t>
    </dgm:pt>
    <dgm:pt modelId="{670634B3-FBFD-46D9-80DF-847562108C18}" type="sibTrans" cxnId="{EDFB19C3-E4AC-45CB-94CC-0732C513DE56}">
      <dgm:prSet/>
      <dgm:spPr/>
      <dgm:t>
        <a:bodyPr/>
        <a:lstStyle/>
        <a:p>
          <a:endParaRPr lang="en-US" sz="1100"/>
        </a:p>
      </dgm:t>
    </dgm:pt>
    <dgm:pt modelId="{C7FEC0FA-8F9D-4AA4-A95A-5C4734077579}">
      <dgm:prSet custT="1"/>
      <dgm:spPr/>
      <dgm:t>
        <a:bodyPr/>
        <a:lstStyle/>
        <a:p>
          <a:r>
            <a:rPr lang="en-US" sz="1100" b="1" dirty="0"/>
            <a:t>AI, digital platforms, sustainable investing, regulatory developments.</a:t>
          </a:r>
        </a:p>
      </dgm:t>
    </dgm:pt>
    <dgm:pt modelId="{71430C17-6BF0-4FD5-B749-667158B77351}" type="parTrans" cxnId="{859D61BE-02BC-450A-BE62-9BA66DAA743E}">
      <dgm:prSet/>
      <dgm:spPr/>
      <dgm:t>
        <a:bodyPr/>
        <a:lstStyle/>
        <a:p>
          <a:endParaRPr lang="en-US" sz="1100"/>
        </a:p>
      </dgm:t>
    </dgm:pt>
    <dgm:pt modelId="{ABCCB1FC-735F-4DA4-B33A-E2860AA0453D}" type="sibTrans" cxnId="{859D61BE-02BC-450A-BE62-9BA66DAA743E}">
      <dgm:prSet/>
      <dgm:spPr/>
      <dgm:t>
        <a:bodyPr/>
        <a:lstStyle/>
        <a:p>
          <a:endParaRPr lang="en-US" sz="1100"/>
        </a:p>
      </dgm:t>
    </dgm:pt>
    <dgm:pt modelId="{57F202B8-B583-4A91-B6A7-D73662DFF6CD}">
      <dgm:prSet custT="1"/>
      <dgm:spPr/>
      <dgm:t>
        <a:bodyPr/>
        <a:lstStyle/>
        <a:p>
          <a:r>
            <a:rPr lang="en-US" sz="1100" b="1" dirty="0"/>
            <a:t>Rising income, economic growth, tech advancements, financial literacy.</a:t>
          </a:r>
        </a:p>
      </dgm:t>
    </dgm:pt>
    <dgm:pt modelId="{3E93600C-E95C-40A1-8351-88719434CEDB}" type="parTrans" cxnId="{06450EDE-17CC-4D2A-92DA-8E45C8924C30}">
      <dgm:prSet/>
      <dgm:spPr/>
      <dgm:t>
        <a:bodyPr/>
        <a:lstStyle/>
        <a:p>
          <a:endParaRPr lang="en-US" sz="1100"/>
        </a:p>
      </dgm:t>
    </dgm:pt>
    <dgm:pt modelId="{8146CBB2-A230-43EB-BF1B-3D59F5574ACA}" type="sibTrans" cxnId="{06450EDE-17CC-4D2A-92DA-8E45C8924C30}">
      <dgm:prSet/>
      <dgm:spPr/>
      <dgm:t>
        <a:bodyPr/>
        <a:lstStyle/>
        <a:p>
          <a:endParaRPr lang="en-US" sz="1100"/>
        </a:p>
      </dgm:t>
    </dgm:pt>
    <dgm:pt modelId="{48CDE69E-F1BE-4B53-9087-47022B088F91}" type="pres">
      <dgm:prSet presAssocID="{9261F529-BDB4-455B-9503-EB42E42A03C6}" presName="diagram" presStyleCnt="0">
        <dgm:presLayoutVars>
          <dgm:dir/>
          <dgm:resizeHandles val="exact"/>
        </dgm:presLayoutVars>
      </dgm:prSet>
      <dgm:spPr/>
    </dgm:pt>
    <dgm:pt modelId="{B491FEB4-9C0B-4D35-BBA8-8D6C90C7AB54}" type="pres">
      <dgm:prSet presAssocID="{7CB72748-CCF2-4C29-BEE1-661EF851C217}" presName="node" presStyleLbl="node1" presStyleIdx="0" presStyleCnt="4">
        <dgm:presLayoutVars>
          <dgm:bulletEnabled val="1"/>
        </dgm:presLayoutVars>
      </dgm:prSet>
      <dgm:spPr/>
    </dgm:pt>
    <dgm:pt modelId="{BF485BB9-BCFC-439D-9D76-2BB85F3ED32C}" type="pres">
      <dgm:prSet presAssocID="{564E48C5-5B62-4B4C-891A-B114A605B930}" presName="sibTrans" presStyleCnt="0"/>
      <dgm:spPr/>
    </dgm:pt>
    <dgm:pt modelId="{2711486E-E569-482D-9F5B-488A0EEB912C}" type="pres">
      <dgm:prSet presAssocID="{F32B30F6-02DC-4BD1-ACF4-1C5BF55AF28D}" presName="node" presStyleLbl="node1" presStyleIdx="1" presStyleCnt="4">
        <dgm:presLayoutVars>
          <dgm:bulletEnabled val="1"/>
        </dgm:presLayoutVars>
      </dgm:prSet>
      <dgm:spPr/>
    </dgm:pt>
    <dgm:pt modelId="{C595CF29-7947-498F-A931-B64B700D2339}" type="pres">
      <dgm:prSet presAssocID="{670634B3-FBFD-46D9-80DF-847562108C18}" presName="sibTrans" presStyleCnt="0"/>
      <dgm:spPr/>
    </dgm:pt>
    <dgm:pt modelId="{5B0DDFF4-F1F2-46CA-B357-320A7F8678DC}" type="pres">
      <dgm:prSet presAssocID="{C7FEC0FA-8F9D-4AA4-A95A-5C4734077579}" presName="node" presStyleLbl="node1" presStyleIdx="2" presStyleCnt="4">
        <dgm:presLayoutVars>
          <dgm:bulletEnabled val="1"/>
        </dgm:presLayoutVars>
      </dgm:prSet>
      <dgm:spPr/>
    </dgm:pt>
    <dgm:pt modelId="{A8A7CB3B-4CCC-4F25-846B-F2F67BB37641}" type="pres">
      <dgm:prSet presAssocID="{ABCCB1FC-735F-4DA4-B33A-E2860AA0453D}" presName="sibTrans" presStyleCnt="0"/>
      <dgm:spPr/>
    </dgm:pt>
    <dgm:pt modelId="{9B906A0F-A6FC-4CAF-B005-8B5E173B39BB}" type="pres">
      <dgm:prSet presAssocID="{57F202B8-B583-4A91-B6A7-D73662DFF6CD}" presName="node" presStyleLbl="node1" presStyleIdx="3" presStyleCnt="4">
        <dgm:presLayoutVars>
          <dgm:bulletEnabled val="1"/>
        </dgm:presLayoutVars>
      </dgm:prSet>
      <dgm:spPr/>
    </dgm:pt>
  </dgm:ptLst>
  <dgm:cxnLst>
    <dgm:cxn modelId="{4CEE4D0C-5B63-4A6D-B871-80FCC4B96C97}" type="presOf" srcId="{57F202B8-B583-4A91-B6A7-D73662DFF6CD}" destId="{9B906A0F-A6FC-4CAF-B005-8B5E173B39BB}" srcOrd="0" destOrd="0" presId="urn:microsoft.com/office/officeart/2005/8/layout/default"/>
    <dgm:cxn modelId="{F4930957-A689-4140-B908-B48238A5C126}" type="presOf" srcId="{9261F529-BDB4-455B-9503-EB42E42A03C6}" destId="{48CDE69E-F1BE-4B53-9087-47022B088F91}" srcOrd="0" destOrd="0" presId="urn:microsoft.com/office/officeart/2005/8/layout/default"/>
    <dgm:cxn modelId="{D07E0E9C-4B24-4308-BC15-7EB570FA6242}" type="presOf" srcId="{C7FEC0FA-8F9D-4AA4-A95A-5C4734077579}" destId="{5B0DDFF4-F1F2-46CA-B357-320A7F8678DC}" srcOrd="0" destOrd="0" presId="urn:microsoft.com/office/officeart/2005/8/layout/default"/>
    <dgm:cxn modelId="{935E83A9-8C0E-44DF-8AD0-47B10759747F}" type="presOf" srcId="{F32B30F6-02DC-4BD1-ACF4-1C5BF55AF28D}" destId="{2711486E-E569-482D-9F5B-488A0EEB912C}" srcOrd="0" destOrd="0" presId="urn:microsoft.com/office/officeart/2005/8/layout/default"/>
    <dgm:cxn modelId="{859D61BE-02BC-450A-BE62-9BA66DAA743E}" srcId="{9261F529-BDB4-455B-9503-EB42E42A03C6}" destId="{C7FEC0FA-8F9D-4AA4-A95A-5C4734077579}" srcOrd="2" destOrd="0" parTransId="{71430C17-6BF0-4FD5-B749-667158B77351}" sibTransId="{ABCCB1FC-735F-4DA4-B33A-E2860AA0453D}"/>
    <dgm:cxn modelId="{55AE3BBF-45B0-4417-B314-3FF3B8103D0F}" srcId="{9261F529-BDB4-455B-9503-EB42E42A03C6}" destId="{7CB72748-CCF2-4C29-BEE1-661EF851C217}" srcOrd="0" destOrd="0" parTransId="{C4B39DEB-E626-4D2B-A876-7C0A90BB85AB}" sibTransId="{564E48C5-5B62-4B4C-891A-B114A605B930}"/>
    <dgm:cxn modelId="{EDFB19C3-E4AC-45CB-94CC-0732C513DE56}" srcId="{9261F529-BDB4-455B-9503-EB42E42A03C6}" destId="{F32B30F6-02DC-4BD1-ACF4-1C5BF55AF28D}" srcOrd="1" destOrd="0" parTransId="{8A69F2B8-C26B-42C2-BC5A-35A80BB618B1}" sibTransId="{670634B3-FBFD-46D9-80DF-847562108C18}"/>
    <dgm:cxn modelId="{06450EDE-17CC-4D2A-92DA-8E45C8924C30}" srcId="{9261F529-BDB4-455B-9503-EB42E42A03C6}" destId="{57F202B8-B583-4A91-B6A7-D73662DFF6CD}" srcOrd="3" destOrd="0" parTransId="{3E93600C-E95C-40A1-8351-88719434CEDB}" sibTransId="{8146CBB2-A230-43EB-BF1B-3D59F5574ACA}"/>
    <dgm:cxn modelId="{14ABF6E7-BB41-42D0-8394-0F75023EFA27}" type="presOf" srcId="{7CB72748-CCF2-4C29-BEE1-661EF851C217}" destId="{B491FEB4-9C0B-4D35-BBA8-8D6C90C7AB54}" srcOrd="0" destOrd="0" presId="urn:microsoft.com/office/officeart/2005/8/layout/default"/>
    <dgm:cxn modelId="{409B8DC5-27D2-4AA4-B224-660AAD4AB8FD}" type="presParOf" srcId="{48CDE69E-F1BE-4B53-9087-47022B088F91}" destId="{B491FEB4-9C0B-4D35-BBA8-8D6C90C7AB54}" srcOrd="0" destOrd="0" presId="urn:microsoft.com/office/officeart/2005/8/layout/default"/>
    <dgm:cxn modelId="{854CCAE4-7B91-4425-8E7E-9F92D09F3D9E}" type="presParOf" srcId="{48CDE69E-F1BE-4B53-9087-47022B088F91}" destId="{BF485BB9-BCFC-439D-9D76-2BB85F3ED32C}" srcOrd="1" destOrd="0" presId="urn:microsoft.com/office/officeart/2005/8/layout/default"/>
    <dgm:cxn modelId="{39D21028-B996-4B73-B86D-B41B5471DC62}" type="presParOf" srcId="{48CDE69E-F1BE-4B53-9087-47022B088F91}" destId="{2711486E-E569-482D-9F5B-488A0EEB912C}" srcOrd="2" destOrd="0" presId="urn:microsoft.com/office/officeart/2005/8/layout/default"/>
    <dgm:cxn modelId="{F33EEB25-5855-4862-9A05-D3EE4FF2720B}" type="presParOf" srcId="{48CDE69E-F1BE-4B53-9087-47022B088F91}" destId="{C595CF29-7947-498F-A931-B64B700D2339}" srcOrd="3" destOrd="0" presId="urn:microsoft.com/office/officeart/2005/8/layout/default"/>
    <dgm:cxn modelId="{489EB016-E3B8-43B6-A29A-503EDE4015DC}" type="presParOf" srcId="{48CDE69E-F1BE-4B53-9087-47022B088F91}" destId="{5B0DDFF4-F1F2-46CA-B357-320A7F8678DC}" srcOrd="4" destOrd="0" presId="urn:microsoft.com/office/officeart/2005/8/layout/default"/>
    <dgm:cxn modelId="{297B0C4E-7FF2-4C3D-9032-612A306D3CC1}" type="presParOf" srcId="{48CDE69E-F1BE-4B53-9087-47022B088F91}" destId="{A8A7CB3B-4CCC-4F25-846B-F2F67BB37641}" srcOrd="5" destOrd="0" presId="urn:microsoft.com/office/officeart/2005/8/layout/default"/>
    <dgm:cxn modelId="{8E077B17-223D-4B24-8B22-9F421873AE2F}" type="presParOf" srcId="{48CDE69E-F1BE-4B53-9087-47022B088F91}" destId="{9B906A0F-A6FC-4CAF-B005-8B5E173B39BB}" srcOrd="6" destOrd="0" presId="urn:microsoft.com/office/officeart/2005/8/layout/default"/>
  </dgm:cxnLst>
  <dgm:bg/>
  <dgm:whole>
    <a:ln w="28575"/>
  </dgm:whole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2982B14-4801-4E1A-BE29-DBFE8FB76439}" type="doc">
      <dgm:prSet loTypeId="urn:microsoft.com/office/officeart/2005/8/layout/matrix3" loCatId="matrix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0E70DED-FD98-48D2-8469-A7B2EFB81D1B}">
      <dgm:prSet custT="1"/>
      <dgm:spPr/>
      <dgm:t>
        <a:bodyPr/>
        <a:lstStyle/>
        <a:p>
          <a:r>
            <a:rPr lang="en-US" sz="1200" b="1" dirty="0"/>
            <a:t>Revenue Growth</a:t>
          </a:r>
        </a:p>
        <a:p>
          <a:r>
            <a:rPr lang="en-US" sz="1000" dirty="0"/>
            <a:t> Cross-selling opportunities for both firms lead to increased assets under management and higher fee income</a:t>
          </a:r>
        </a:p>
      </dgm:t>
    </dgm:pt>
    <dgm:pt modelId="{7F8F04B1-4F88-4A45-8BB5-B478CF903215}" type="parTrans" cxnId="{A4585698-DACD-425F-9834-1305A3569033}">
      <dgm:prSet/>
      <dgm:spPr/>
      <dgm:t>
        <a:bodyPr/>
        <a:lstStyle/>
        <a:p>
          <a:endParaRPr lang="en-US" sz="800"/>
        </a:p>
      </dgm:t>
    </dgm:pt>
    <dgm:pt modelId="{4B74B189-D585-4664-BBF7-32087AF7F2F8}" type="sibTrans" cxnId="{A4585698-DACD-425F-9834-1305A3569033}">
      <dgm:prSet/>
      <dgm:spPr/>
      <dgm:t>
        <a:bodyPr/>
        <a:lstStyle/>
        <a:p>
          <a:endParaRPr lang="en-US" sz="800"/>
        </a:p>
      </dgm:t>
    </dgm:pt>
    <dgm:pt modelId="{675C27A4-F084-4659-A4B2-B78682DB7B76}">
      <dgm:prSet custT="1"/>
      <dgm:spPr/>
      <dgm:t>
        <a:bodyPr/>
        <a:lstStyle/>
        <a:p>
          <a:r>
            <a:rPr lang="en-US" sz="1200" b="1" dirty="0"/>
            <a:t>Cost Savings</a:t>
          </a:r>
        </a:p>
        <a:p>
          <a:r>
            <a:rPr lang="en-US" sz="800" dirty="0"/>
            <a:t> </a:t>
          </a:r>
          <a:r>
            <a:rPr lang="en-US" sz="1000" dirty="0"/>
            <a:t>Operational efficiencies achieved through shared resources and technology platforms</a:t>
          </a:r>
        </a:p>
      </dgm:t>
    </dgm:pt>
    <dgm:pt modelId="{70494429-DF60-41BB-9B2F-790A4D2E5FD8}" type="parTrans" cxnId="{838ADE23-12BF-47EE-92C0-D1A0AFBC9DD7}">
      <dgm:prSet/>
      <dgm:spPr/>
      <dgm:t>
        <a:bodyPr/>
        <a:lstStyle/>
        <a:p>
          <a:endParaRPr lang="en-US" sz="800"/>
        </a:p>
      </dgm:t>
    </dgm:pt>
    <dgm:pt modelId="{7CA66DEC-3087-4783-82B0-99EF313C3987}" type="sibTrans" cxnId="{838ADE23-12BF-47EE-92C0-D1A0AFBC9DD7}">
      <dgm:prSet/>
      <dgm:spPr/>
      <dgm:t>
        <a:bodyPr/>
        <a:lstStyle/>
        <a:p>
          <a:endParaRPr lang="en-US" sz="800"/>
        </a:p>
      </dgm:t>
    </dgm:pt>
    <dgm:pt modelId="{5632AF13-722D-4DE2-BDFE-8EF57264D808}">
      <dgm:prSet custT="1"/>
      <dgm:spPr/>
      <dgm:t>
        <a:bodyPr/>
        <a:lstStyle/>
        <a:p>
          <a:r>
            <a:rPr lang="en-US" sz="1200" b="1" dirty="0"/>
            <a:t>Enhanced Brand</a:t>
          </a:r>
        </a:p>
        <a:p>
          <a:r>
            <a:rPr lang="en-US" sz="1000" dirty="0"/>
            <a:t> Combined brand equity attracts a wider range of clients and top talent</a:t>
          </a:r>
        </a:p>
      </dgm:t>
    </dgm:pt>
    <dgm:pt modelId="{FEC679C8-D14F-4014-9D81-6A22BB5F93A0}" type="parTrans" cxnId="{3301868D-B1B4-40EB-BE36-3C18BB0E8E68}">
      <dgm:prSet/>
      <dgm:spPr/>
      <dgm:t>
        <a:bodyPr/>
        <a:lstStyle/>
        <a:p>
          <a:endParaRPr lang="en-US" sz="800"/>
        </a:p>
      </dgm:t>
    </dgm:pt>
    <dgm:pt modelId="{413BCEAF-2C70-4A51-92B9-9FCAB78D5AB7}" type="sibTrans" cxnId="{3301868D-B1B4-40EB-BE36-3C18BB0E8E68}">
      <dgm:prSet/>
      <dgm:spPr/>
      <dgm:t>
        <a:bodyPr/>
        <a:lstStyle/>
        <a:p>
          <a:endParaRPr lang="en-US" sz="800"/>
        </a:p>
      </dgm:t>
    </dgm:pt>
    <dgm:pt modelId="{375236EA-C504-4B1D-A3EA-9B2B327A2476}">
      <dgm:prSet custT="1"/>
      <dgm:spPr/>
      <dgm:t>
        <a:bodyPr/>
        <a:lstStyle/>
        <a:p>
          <a:r>
            <a:rPr lang="en-US" sz="1200" b="1" dirty="0"/>
            <a:t>Innovation</a:t>
          </a:r>
        </a:p>
        <a:p>
          <a:r>
            <a:rPr lang="en-US" sz="1000" dirty="0"/>
            <a:t>Joint development of new investment products and services catering to evolving client needs</a:t>
          </a:r>
        </a:p>
      </dgm:t>
    </dgm:pt>
    <dgm:pt modelId="{DC5D01FD-7C56-48F7-AF93-C10871C17FAB}" type="parTrans" cxnId="{A2CD0C1A-E758-45FC-A8A4-71B561B7726E}">
      <dgm:prSet/>
      <dgm:spPr/>
      <dgm:t>
        <a:bodyPr/>
        <a:lstStyle/>
        <a:p>
          <a:endParaRPr lang="en-US" sz="800"/>
        </a:p>
      </dgm:t>
    </dgm:pt>
    <dgm:pt modelId="{8A904C0A-F31B-42A3-A9C5-2B4AB6994CE2}" type="sibTrans" cxnId="{A2CD0C1A-E758-45FC-A8A4-71B561B7726E}">
      <dgm:prSet/>
      <dgm:spPr/>
      <dgm:t>
        <a:bodyPr/>
        <a:lstStyle/>
        <a:p>
          <a:endParaRPr lang="en-US" sz="800"/>
        </a:p>
      </dgm:t>
    </dgm:pt>
    <dgm:pt modelId="{CC8EEC0D-F7C8-475B-9BD3-5B381939D104}" type="pres">
      <dgm:prSet presAssocID="{92982B14-4801-4E1A-BE29-DBFE8FB76439}" presName="matrix" presStyleCnt="0">
        <dgm:presLayoutVars>
          <dgm:chMax val="1"/>
          <dgm:dir/>
          <dgm:resizeHandles val="exact"/>
        </dgm:presLayoutVars>
      </dgm:prSet>
      <dgm:spPr/>
    </dgm:pt>
    <dgm:pt modelId="{B51D8264-1273-4B8F-BC75-EAB2335CDEA3}" type="pres">
      <dgm:prSet presAssocID="{92982B14-4801-4E1A-BE29-DBFE8FB76439}" presName="diamond" presStyleLbl="bgShp" presStyleIdx="0" presStyleCnt="1"/>
      <dgm:spPr/>
    </dgm:pt>
    <dgm:pt modelId="{7C0A8717-7841-4C2D-B2FE-02A9394CD4B5}" type="pres">
      <dgm:prSet presAssocID="{92982B14-4801-4E1A-BE29-DBFE8FB7643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FEF0000-1B54-4686-A54B-AD6668AC6C0E}" type="pres">
      <dgm:prSet presAssocID="{92982B14-4801-4E1A-BE29-DBFE8FB7643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FCEB1B0-4900-48D0-9824-66125DAAD980}" type="pres">
      <dgm:prSet presAssocID="{92982B14-4801-4E1A-BE29-DBFE8FB7643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6424D62-AAD5-47A9-8996-A6319BAD4C7A}" type="pres">
      <dgm:prSet presAssocID="{92982B14-4801-4E1A-BE29-DBFE8FB7643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D795614-509C-4139-A64B-C809DA9158B6}" type="presOf" srcId="{92982B14-4801-4E1A-BE29-DBFE8FB76439}" destId="{CC8EEC0D-F7C8-475B-9BD3-5B381939D104}" srcOrd="0" destOrd="0" presId="urn:microsoft.com/office/officeart/2005/8/layout/matrix3"/>
    <dgm:cxn modelId="{22E7C014-6AC9-4CDE-B6A8-E7ADA9A60380}" type="presOf" srcId="{375236EA-C504-4B1D-A3EA-9B2B327A2476}" destId="{16424D62-AAD5-47A9-8996-A6319BAD4C7A}" srcOrd="0" destOrd="0" presId="urn:microsoft.com/office/officeart/2005/8/layout/matrix3"/>
    <dgm:cxn modelId="{A2CD0C1A-E758-45FC-A8A4-71B561B7726E}" srcId="{92982B14-4801-4E1A-BE29-DBFE8FB76439}" destId="{375236EA-C504-4B1D-A3EA-9B2B327A2476}" srcOrd="3" destOrd="0" parTransId="{DC5D01FD-7C56-48F7-AF93-C10871C17FAB}" sibTransId="{8A904C0A-F31B-42A3-A9C5-2B4AB6994CE2}"/>
    <dgm:cxn modelId="{838ADE23-12BF-47EE-92C0-D1A0AFBC9DD7}" srcId="{92982B14-4801-4E1A-BE29-DBFE8FB76439}" destId="{675C27A4-F084-4659-A4B2-B78682DB7B76}" srcOrd="1" destOrd="0" parTransId="{70494429-DF60-41BB-9B2F-790A4D2E5FD8}" sibTransId="{7CA66DEC-3087-4783-82B0-99EF313C3987}"/>
    <dgm:cxn modelId="{C6987A4D-4AA2-4211-A5AF-B2791E6D5EAE}" type="presOf" srcId="{675C27A4-F084-4659-A4B2-B78682DB7B76}" destId="{4FEF0000-1B54-4686-A54B-AD6668AC6C0E}" srcOrd="0" destOrd="0" presId="urn:microsoft.com/office/officeart/2005/8/layout/matrix3"/>
    <dgm:cxn modelId="{3301868D-B1B4-40EB-BE36-3C18BB0E8E68}" srcId="{92982B14-4801-4E1A-BE29-DBFE8FB76439}" destId="{5632AF13-722D-4DE2-BDFE-8EF57264D808}" srcOrd="2" destOrd="0" parTransId="{FEC679C8-D14F-4014-9D81-6A22BB5F93A0}" sibTransId="{413BCEAF-2C70-4A51-92B9-9FCAB78D5AB7}"/>
    <dgm:cxn modelId="{A1E4BA95-478F-4BC7-A3D2-06A06F26013A}" type="presOf" srcId="{5632AF13-722D-4DE2-BDFE-8EF57264D808}" destId="{DFCEB1B0-4900-48D0-9824-66125DAAD980}" srcOrd="0" destOrd="0" presId="urn:microsoft.com/office/officeart/2005/8/layout/matrix3"/>
    <dgm:cxn modelId="{A4585698-DACD-425F-9834-1305A3569033}" srcId="{92982B14-4801-4E1A-BE29-DBFE8FB76439}" destId="{D0E70DED-FD98-48D2-8469-A7B2EFB81D1B}" srcOrd="0" destOrd="0" parTransId="{7F8F04B1-4F88-4A45-8BB5-B478CF903215}" sibTransId="{4B74B189-D585-4664-BBF7-32087AF7F2F8}"/>
    <dgm:cxn modelId="{32BABBB3-4633-4687-882C-87DCA92A6E13}" type="presOf" srcId="{D0E70DED-FD98-48D2-8469-A7B2EFB81D1B}" destId="{7C0A8717-7841-4C2D-B2FE-02A9394CD4B5}" srcOrd="0" destOrd="0" presId="urn:microsoft.com/office/officeart/2005/8/layout/matrix3"/>
    <dgm:cxn modelId="{4A29D401-638D-43F1-83FC-5F5FCB5C50E5}" type="presParOf" srcId="{CC8EEC0D-F7C8-475B-9BD3-5B381939D104}" destId="{B51D8264-1273-4B8F-BC75-EAB2335CDEA3}" srcOrd="0" destOrd="0" presId="urn:microsoft.com/office/officeart/2005/8/layout/matrix3"/>
    <dgm:cxn modelId="{E6EAAFA0-D6A9-4698-8809-1DAE8C664AA2}" type="presParOf" srcId="{CC8EEC0D-F7C8-475B-9BD3-5B381939D104}" destId="{7C0A8717-7841-4C2D-B2FE-02A9394CD4B5}" srcOrd="1" destOrd="0" presId="urn:microsoft.com/office/officeart/2005/8/layout/matrix3"/>
    <dgm:cxn modelId="{F2CCCB52-F9D2-420F-940C-6DF3139770B6}" type="presParOf" srcId="{CC8EEC0D-F7C8-475B-9BD3-5B381939D104}" destId="{4FEF0000-1B54-4686-A54B-AD6668AC6C0E}" srcOrd="2" destOrd="0" presId="urn:microsoft.com/office/officeart/2005/8/layout/matrix3"/>
    <dgm:cxn modelId="{01336A66-112D-41B7-BA7A-F5DDF85DC615}" type="presParOf" srcId="{CC8EEC0D-F7C8-475B-9BD3-5B381939D104}" destId="{DFCEB1B0-4900-48D0-9824-66125DAAD980}" srcOrd="3" destOrd="0" presId="urn:microsoft.com/office/officeart/2005/8/layout/matrix3"/>
    <dgm:cxn modelId="{4EE7249E-56C3-4098-BA11-91FE16FA34E2}" type="presParOf" srcId="{CC8EEC0D-F7C8-475B-9BD3-5B381939D104}" destId="{16424D62-AAD5-47A9-8996-A6319BAD4C7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91FEB4-9C0B-4D35-BBA8-8D6C90C7AB54}">
      <dsp:nvSpPr>
        <dsp:cNvPr id="0" name=""/>
        <dsp:cNvSpPr/>
      </dsp:nvSpPr>
      <dsp:spPr>
        <a:xfrm>
          <a:off x="351" y="210599"/>
          <a:ext cx="1370985" cy="8225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Shift to diversified portfolios and digital tools for wealth management.</a:t>
          </a:r>
        </a:p>
      </dsp:txBody>
      <dsp:txXfrm>
        <a:off x="351" y="210599"/>
        <a:ext cx="1370985" cy="822591"/>
      </dsp:txXfrm>
    </dsp:sp>
    <dsp:sp modelId="{2711486E-E569-482D-9F5B-488A0EEB912C}">
      <dsp:nvSpPr>
        <dsp:cNvPr id="0" name=""/>
        <dsp:cNvSpPr/>
      </dsp:nvSpPr>
      <dsp:spPr>
        <a:xfrm>
          <a:off x="1508435" y="210599"/>
          <a:ext cx="1370985" cy="8225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Digital solutions, ESG focus, and competition drive current trends.</a:t>
          </a:r>
        </a:p>
      </dsp:txBody>
      <dsp:txXfrm>
        <a:off x="1508435" y="210599"/>
        <a:ext cx="1370985" cy="822591"/>
      </dsp:txXfrm>
    </dsp:sp>
    <dsp:sp modelId="{5B0DDFF4-F1F2-46CA-B357-320A7F8678DC}">
      <dsp:nvSpPr>
        <dsp:cNvPr id="0" name=""/>
        <dsp:cNvSpPr/>
      </dsp:nvSpPr>
      <dsp:spPr>
        <a:xfrm>
          <a:off x="351" y="1170288"/>
          <a:ext cx="1370985" cy="8225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AI, digital platforms, sustainable investing, regulatory developments.</a:t>
          </a:r>
        </a:p>
      </dsp:txBody>
      <dsp:txXfrm>
        <a:off x="351" y="1170288"/>
        <a:ext cx="1370985" cy="822591"/>
      </dsp:txXfrm>
    </dsp:sp>
    <dsp:sp modelId="{9B906A0F-A6FC-4CAF-B005-8B5E173B39BB}">
      <dsp:nvSpPr>
        <dsp:cNvPr id="0" name=""/>
        <dsp:cNvSpPr/>
      </dsp:nvSpPr>
      <dsp:spPr>
        <a:xfrm>
          <a:off x="1508435" y="1170288"/>
          <a:ext cx="1370985" cy="82259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Rising income, economic growth, tech advancements, financial literacy.</a:t>
          </a:r>
        </a:p>
      </dsp:txBody>
      <dsp:txXfrm>
        <a:off x="1508435" y="1170288"/>
        <a:ext cx="1370985" cy="8225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1D8264-1273-4B8F-BC75-EAB2335CDEA3}">
      <dsp:nvSpPr>
        <dsp:cNvPr id="0" name=""/>
        <dsp:cNvSpPr/>
      </dsp:nvSpPr>
      <dsp:spPr>
        <a:xfrm>
          <a:off x="0" y="64665"/>
          <a:ext cx="3419072" cy="3419072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0A8717-7841-4C2D-B2FE-02A9394CD4B5}">
      <dsp:nvSpPr>
        <dsp:cNvPr id="0" name=""/>
        <dsp:cNvSpPr/>
      </dsp:nvSpPr>
      <dsp:spPr>
        <a:xfrm>
          <a:off x="324811" y="389477"/>
          <a:ext cx="1333438" cy="133343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Revenue Growth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Cross-selling opportunities for both firms lead to increased assets under management and higher fee income</a:t>
          </a:r>
        </a:p>
      </dsp:txBody>
      <dsp:txXfrm>
        <a:off x="389904" y="454570"/>
        <a:ext cx="1203252" cy="1203252"/>
      </dsp:txXfrm>
    </dsp:sp>
    <dsp:sp modelId="{4FEF0000-1B54-4686-A54B-AD6668AC6C0E}">
      <dsp:nvSpPr>
        <dsp:cNvPr id="0" name=""/>
        <dsp:cNvSpPr/>
      </dsp:nvSpPr>
      <dsp:spPr>
        <a:xfrm>
          <a:off x="1760822" y="389477"/>
          <a:ext cx="1333438" cy="133343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Cost Savings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 </a:t>
          </a:r>
          <a:r>
            <a:rPr lang="en-US" sz="1000" kern="1200" dirty="0"/>
            <a:t>Operational efficiencies achieved through shared resources and technology platforms</a:t>
          </a:r>
        </a:p>
      </dsp:txBody>
      <dsp:txXfrm>
        <a:off x="1825915" y="454570"/>
        <a:ext cx="1203252" cy="1203252"/>
      </dsp:txXfrm>
    </dsp:sp>
    <dsp:sp modelId="{DFCEB1B0-4900-48D0-9824-66125DAAD980}">
      <dsp:nvSpPr>
        <dsp:cNvPr id="0" name=""/>
        <dsp:cNvSpPr/>
      </dsp:nvSpPr>
      <dsp:spPr>
        <a:xfrm>
          <a:off x="324811" y="1825488"/>
          <a:ext cx="1333438" cy="133343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Enhanced Brand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Combined brand equity attracts a wider range of clients and top talent</a:t>
          </a:r>
        </a:p>
      </dsp:txBody>
      <dsp:txXfrm>
        <a:off x="389904" y="1890581"/>
        <a:ext cx="1203252" cy="1203252"/>
      </dsp:txXfrm>
    </dsp:sp>
    <dsp:sp modelId="{16424D62-AAD5-47A9-8996-A6319BAD4C7A}">
      <dsp:nvSpPr>
        <dsp:cNvPr id="0" name=""/>
        <dsp:cNvSpPr/>
      </dsp:nvSpPr>
      <dsp:spPr>
        <a:xfrm>
          <a:off x="1760822" y="1825488"/>
          <a:ext cx="1333438" cy="133343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Innovation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Joint development of new investment products and services catering to evolving client needs</a:t>
          </a:r>
        </a:p>
      </dsp:txBody>
      <dsp:txXfrm>
        <a:off x="1825915" y="1890581"/>
        <a:ext cx="1203252" cy="12032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F62E9-3595-42C4-B57C-17E5D8A20383}" type="datetimeFigureOut">
              <a:rPr lang="en-US" smtClean="0"/>
              <a:t>7/20/2024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9E24D8-26C4-45B6-A268-9EAFBDD50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76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9E24D8-26C4-45B6-A268-9EAFBDD5068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94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9E24D8-26C4-45B6-A268-9EAFBDD5068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856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9E24D8-26C4-45B6-A268-9EAFBDD5068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555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9E24D8-26C4-45B6-A268-9EAFBDD506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432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64E00-9E71-0B29-99B1-64FEA8674E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E9FBA-885C-5738-F63B-75C5AB663F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0B445-A9DE-F057-FDB2-B7C7D6767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CC561-CE7D-4910-98EA-3E0615D92B32}" type="datetimeFigureOut">
              <a:rPr lang="en-IN" smtClean="0"/>
              <a:t>20-07-2024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1952D-6D1D-6423-51D3-E2EC9A46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E7B4A-4072-2CFA-785B-7B20980D6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62472-A145-4DB4-9C25-A8F80FB27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25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92651" y="380"/>
            <a:ext cx="3806697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13" Type="http://schemas.openxmlformats.org/officeDocument/2006/relationships/diagramQuickStyle" Target="../diagrams/quickStyle1.xml"/><Relationship Id="rId18" Type="http://schemas.openxmlformats.org/officeDocument/2006/relationships/image" Target="../media/image18.png"/><Relationship Id="rId3" Type="http://schemas.openxmlformats.org/officeDocument/2006/relationships/image" Target="../media/image9.png"/><Relationship Id="rId21" Type="http://schemas.openxmlformats.org/officeDocument/2006/relationships/image" Target="../media/image21.png"/><Relationship Id="rId7" Type="http://schemas.openxmlformats.org/officeDocument/2006/relationships/image" Target="../media/image13.png"/><Relationship Id="rId12" Type="http://schemas.openxmlformats.org/officeDocument/2006/relationships/diagramLayout" Target="../diagrams/layout1.xml"/><Relationship Id="rId17" Type="http://schemas.microsoft.com/office/2007/relationships/hdphoto" Target="../media/hdphoto1.wdp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11" Type="http://schemas.openxmlformats.org/officeDocument/2006/relationships/diagramData" Target="../diagrams/data1.xml"/><Relationship Id="rId5" Type="http://schemas.openxmlformats.org/officeDocument/2006/relationships/image" Target="../media/image11.png"/><Relationship Id="rId15" Type="http://schemas.microsoft.com/office/2007/relationships/diagramDrawing" Target="../diagrams/drawing1.xml"/><Relationship Id="rId10" Type="http://schemas.openxmlformats.org/officeDocument/2006/relationships/image" Target="../media/image16.png"/><Relationship Id="rId19" Type="http://schemas.openxmlformats.org/officeDocument/2006/relationships/image" Target="../media/image19.png"/><Relationship Id="rId4" Type="http://schemas.openxmlformats.org/officeDocument/2006/relationships/image" Target="../media/image10.jpg"/><Relationship Id="rId9" Type="http://schemas.openxmlformats.org/officeDocument/2006/relationships/image" Target="../media/image15.jpeg"/><Relationship Id="rId14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0.png"/><Relationship Id="rId18" Type="http://schemas.openxmlformats.org/officeDocument/2006/relationships/chart" Target="../charts/chart1.xml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12" Type="http://schemas.openxmlformats.org/officeDocument/2006/relationships/image" Target="../media/image8.jpe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2.png"/><Relationship Id="rId10" Type="http://schemas.openxmlformats.org/officeDocument/2006/relationships/image" Target="../media/image28.png"/><Relationship Id="rId4" Type="http://schemas.microsoft.com/office/2007/relationships/hdphoto" Target="../media/hdphoto2.wdp"/><Relationship Id="rId9" Type="http://schemas.openxmlformats.org/officeDocument/2006/relationships/image" Target="../media/image27.png"/><Relationship Id="rId1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0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10" Type="http://schemas.microsoft.com/office/2007/relationships/hdphoto" Target="../media/hdphoto3.wdp"/><Relationship Id="rId4" Type="http://schemas.openxmlformats.org/officeDocument/2006/relationships/diagramData" Target="../diagrams/data2.xml"/><Relationship Id="rId9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CE07F21-4916-284E-57F8-7558D7462A36}"/>
              </a:ext>
            </a:extLst>
          </p:cNvPr>
          <p:cNvSpPr txBox="1"/>
          <p:nvPr/>
        </p:nvSpPr>
        <p:spPr>
          <a:xfrm>
            <a:off x="2811375" y="348411"/>
            <a:ext cx="86779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22960">
              <a:spcAft>
                <a:spcPts val="600"/>
              </a:spcAft>
            </a:pPr>
            <a:r>
              <a:rPr lang="en-US" sz="3200" b="1" i="0" dirty="0">
                <a:solidFill>
                  <a:schemeClr val="accent2"/>
                </a:solidFill>
                <a:effectLst/>
                <a:highlight>
                  <a:srgbClr val="FFFFFF"/>
                </a:highlight>
                <a:latin typeface="Aptos" panose="020B0004020202020204" pitchFamily="34" charset="0"/>
              </a:rPr>
              <a:t>CFA Institute Research Challenge 2024-25</a:t>
            </a:r>
            <a:endParaRPr lang="en-US" sz="3200" b="1" i="0" dirty="0">
              <a:solidFill>
                <a:schemeClr val="accent2"/>
              </a:solidFill>
              <a:effectLst/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3DB1A-1BF6-9DD7-13A4-C9CFEEAE8C70}"/>
              </a:ext>
            </a:extLst>
          </p:cNvPr>
          <p:cNvSpPr txBox="1"/>
          <p:nvPr/>
        </p:nvSpPr>
        <p:spPr>
          <a:xfrm>
            <a:off x="152400" y="2913909"/>
            <a:ext cx="5562600" cy="37916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4A2043-BC2A-949A-D53A-E34B622767CC}"/>
              </a:ext>
            </a:extLst>
          </p:cNvPr>
          <p:cNvSpPr txBox="1"/>
          <p:nvPr/>
        </p:nvSpPr>
        <p:spPr>
          <a:xfrm>
            <a:off x="4151730" y="2141318"/>
            <a:ext cx="38885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22960">
              <a:spcAft>
                <a:spcPts val="600"/>
              </a:spcAft>
            </a:pPr>
            <a:r>
              <a:rPr lang="en-US" sz="162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Team </a:t>
            </a:r>
            <a:r>
              <a:rPr lang="en-US" sz="2200" b="1" kern="1200" dirty="0">
                <a:solidFill>
                  <a:srgbClr val="A52500"/>
                </a:solidFill>
                <a:latin typeface="+mn-lt"/>
                <a:ea typeface="+mn-ea"/>
                <a:cs typeface="+mn-cs"/>
              </a:rPr>
              <a:t>The Philosopher’s Stone</a:t>
            </a:r>
            <a:endParaRPr lang="en-IN" sz="2200" b="1" dirty="0">
              <a:solidFill>
                <a:schemeClr val="accent2"/>
              </a:solidFill>
            </a:endParaRPr>
          </a:p>
        </p:txBody>
      </p:sp>
      <p:pic>
        <p:nvPicPr>
          <p:cNvPr id="15" name="Picture 14" descr="A logo with a blue yellow and green circle&#10;&#10;Description automatically generated">
            <a:extLst>
              <a:ext uri="{FF2B5EF4-FFF2-40B4-BE49-F238E27FC236}">
                <a16:creationId xmlns:a16="http://schemas.microsoft.com/office/drawing/2014/main" id="{B2754088-DE78-8653-A4E4-715EA2F6A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15" y="55280"/>
            <a:ext cx="876511" cy="120561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2EC88E3-1FCA-999E-FAD9-30E805F081D8}"/>
              </a:ext>
            </a:extLst>
          </p:cNvPr>
          <p:cNvSpPr txBox="1"/>
          <p:nvPr/>
        </p:nvSpPr>
        <p:spPr>
          <a:xfrm>
            <a:off x="1617625" y="2947284"/>
            <a:ext cx="200145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22960">
              <a:spcAft>
                <a:spcPts val="600"/>
              </a:spcAft>
            </a:pPr>
            <a:r>
              <a:rPr lang="en-US" sz="162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Team Members </a:t>
            </a:r>
            <a:endParaRPr lang="en-IN" b="1" dirty="0"/>
          </a:p>
        </p:txBody>
      </p:sp>
      <p:pic>
        <p:nvPicPr>
          <p:cNvPr id="17" name="Picture 16" descr="A cartoon of a child wearing glasses&#10;&#10;Description automatically generated">
            <a:extLst>
              <a:ext uri="{FF2B5EF4-FFF2-40B4-BE49-F238E27FC236}">
                <a16:creationId xmlns:a16="http://schemas.microsoft.com/office/drawing/2014/main" id="{DCB3179D-B7F8-C0F6-1BA7-5B29E2164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91" y="3368744"/>
            <a:ext cx="1086504" cy="1086504"/>
          </a:xfrm>
          <a:prstGeom prst="rect">
            <a:avLst/>
          </a:prstGeom>
        </p:spPr>
      </p:pic>
      <p:pic>
        <p:nvPicPr>
          <p:cNvPr id="18" name="Picture 17" descr="A person wearing glasses and a blue shirt&#10;&#10;Description automatically generated">
            <a:extLst>
              <a:ext uri="{FF2B5EF4-FFF2-40B4-BE49-F238E27FC236}">
                <a16:creationId xmlns:a16="http://schemas.microsoft.com/office/drawing/2014/main" id="{B729B846-E0EB-92B9-A88A-A20B496DB6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747" y="5298168"/>
            <a:ext cx="1008263" cy="1008263"/>
          </a:xfrm>
          <a:prstGeom prst="rect">
            <a:avLst/>
          </a:prstGeom>
        </p:spPr>
      </p:pic>
      <p:pic>
        <p:nvPicPr>
          <p:cNvPr id="1030" name="Picture 6" descr="Boy Special Lineal color icon">
            <a:extLst>
              <a:ext uri="{FF2B5EF4-FFF2-40B4-BE49-F238E27FC236}">
                <a16:creationId xmlns:a16="http://schemas.microsoft.com/office/drawing/2014/main" id="{9086D8FE-A243-85EE-4397-4200D506E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426373"/>
            <a:ext cx="1062164" cy="1062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FC933A1-DCC8-0832-0C5D-8F61CEE51327}"/>
              </a:ext>
            </a:extLst>
          </p:cNvPr>
          <p:cNvSpPr txBox="1"/>
          <p:nvPr/>
        </p:nvSpPr>
        <p:spPr>
          <a:xfrm>
            <a:off x="2459404" y="4520040"/>
            <a:ext cx="162975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22960">
              <a:spcAft>
                <a:spcPts val="600"/>
              </a:spcAft>
            </a:pPr>
            <a:r>
              <a:rPr lang="en-US" sz="162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Mayank Sharma</a:t>
            </a:r>
            <a:endParaRPr lang="en-IN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EE54E8-6D47-C91A-64BC-0657BF9FF045}"/>
              </a:ext>
            </a:extLst>
          </p:cNvPr>
          <p:cNvSpPr txBox="1"/>
          <p:nvPr/>
        </p:nvSpPr>
        <p:spPr>
          <a:xfrm>
            <a:off x="802747" y="4535076"/>
            <a:ext cx="162975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22960">
              <a:spcAft>
                <a:spcPts val="600"/>
              </a:spcAft>
            </a:pPr>
            <a:r>
              <a:rPr lang="en-US" sz="162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Ayush Agarwal</a:t>
            </a:r>
            <a:endParaRPr lang="en-IN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A73C99-EFAA-6C15-1F8E-3524DA0F6BF9}"/>
              </a:ext>
            </a:extLst>
          </p:cNvPr>
          <p:cNvSpPr txBox="1"/>
          <p:nvPr/>
        </p:nvSpPr>
        <p:spPr>
          <a:xfrm>
            <a:off x="2378135" y="6284726"/>
            <a:ext cx="162975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22960">
              <a:spcAft>
                <a:spcPts val="600"/>
              </a:spcAft>
            </a:pPr>
            <a:r>
              <a:rPr lang="en-US" sz="162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Pari Goyal</a:t>
            </a:r>
            <a:endParaRPr lang="en-IN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154375-2F06-431F-8CC2-014FF18826F4}"/>
              </a:ext>
            </a:extLst>
          </p:cNvPr>
          <p:cNvSpPr txBox="1"/>
          <p:nvPr/>
        </p:nvSpPr>
        <p:spPr>
          <a:xfrm>
            <a:off x="256353" y="1581537"/>
            <a:ext cx="11436841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Strategic Valuation and Acquisition of Marcellus Investment Managers by Nomura</a:t>
            </a:r>
            <a:endParaRPr lang="en-IN" sz="2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 descr="Selena Li: Nomura cuts about 10 investment banking jobs in Hong Kong,  ETHRWorldSEA">
            <a:extLst>
              <a:ext uri="{FF2B5EF4-FFF2-40B4-BE49-F238E27FC236}">
                <a16:creationId xmlns:a16="http://schemas.microsoft.com/office/drawing/2014/main" id="{3CA1ED03-2211-FE1C-DE83-1452AC5E4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117" y="3192553"/>
            <a:ext cx="3569774" cy="26850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D1242A-E799-2624-FB49-4C6D3521BCD1}"/>
              </a:ext>
            </a:extLst>
          </p:cNvPr>
          <p:cNvSpPr txBox="1"/>
          <p:nvPr/>
        </p:nvSpPr>
        <p:spPr>
          <a:xfrm>
            <a:off x="563465" y="6284726"/>
            <a:ext cx="162975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22960">
              <a:spcAft>
                <a:spcPts val="600"/>
              </a:spcAft>
            </a:pPr>
            <a:r>
              <a:rPr lang="en-US" sz="162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Pankaj Prithyani</a:t>
            </a:r>
            <a:endParaRPr lang="en-IN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F0CCA7-FD7C-1346-1DEE-ABB70DA40D6C}"/>
              </a:ext>
            </a:extLst>
          </p:cNvPr>
          <p:cNvSpPr txBox="1"/>
          <p:nvPr/>
        </p:nvSpPr>
        <p:spPr>
          <a:xfrm>
            <a:off x="3886200" y="6284726"/>
            <a:ext cx="1629756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22960">
              <a:spcAft>
                <a:spcPts val="600"/>
              </a:spcAft>
            </a:pPr>
            <a:r>
              <a:rPr lang="en-US" sz="162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Sandeepan Das</a:t>
            </a:r>
            <a:endParaRPr lang="en-IN" b="1" dirty="0"/>
          </a:p>
        </p:txBody>
      </p:sp>
      <p:pic>
        <p:nvPicPr>
          <p:cNvPr id="1028" name="Picture 4" descr="No photo description available.">
            <a:extLst>
              <a:ext uri="{FF2B5EF4-FFF2-40B4-BE49-F238E27FC236}">
                <a16:creationId xmlns:a16="http://schemas.microsoft.com/office/drawing/2014/main" id="{E7E4D36E-60E3-8087-9305-EDE5BC3B0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247" y="5277731"/>
            <a:ext cx="1028700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Woman holding something Vectors &amp; Illustrations for Free Download | Freepik">
            <a:extLst>
              <a:ext uri="{FF2B5EF4-FFF2-40B4-BE49-F238E27FC236}">
                <a16:creationId xmlns:a16="http://schemas.microsoft.com/office/drawing/2014/main" id="{8DE6060C-05CE-C7AC-7C15-F8A22FDFBD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72" b="28274"/>
          <a:stretch/>
        </p:blipFill>
        <p:spPr bwMode="auto">
          <a:xfrm>
            <a:off x="2447708" y="5164025"/>
            <a:ext cx="905092" cy="1086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arcellus Investment Managers | LinkedIn">
            <a:extLst>
              <a:ext uri="{FF2B5EF4-FFF2-40B4-BE49-F238E27FC236}">
                <a16:creationId xmlns:a16="http://schemas.microsoft.com/office/drawing/2014/main" id="{86EA671C-1F0F-688F-F027-CDD08DF1B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9008" y="3799127"/>
            <a:ext cx="1515539" cy="1515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077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/>
          <p:nvPr/>
        </p:nvSpPr>
        <p:spPr>
          <a:xfrm>
            <a:off x="8862" y="109405"/>
            <a:ext cx="5020338" cy="228986"/>
          </a:xfrm>
          <a:custGeom>
            <a:avLst/>
            <a:gdLst/>
            <a:ahLst/>
            <a:cxnLst/>
            <a:rect l="l" t="t" r="r" b="b"/>
            <a:pathLst>
              <a:path w="4105275" h="231775">
                <a:moveTo>
                  <a:pt x="4105008" y="135001"/>
                </a:moveTo>
                <a:lnTo>
                  <a:pt x="0" y="135001"/>
                </a:lnTo>
                <a:lnTo>
                  <a:pt x="0" y="231457"/>
                </a:lnTo>
                <a:lnTo>
                  <a:pt x="4105008" y="231457"/>
                </a:lnTo>
                <a:lnTo>
                  <a:pt x="4105008" y="135001"/>
                </a:lnTo>
                <a:close/>
              </a:path>
              <a:path w="4105275" h="231775">
                <a:moveTo>
                  <a:pt x="4105008" y="0"/>
                </a:moveTo>
                <a:lnTo>
                  <a:pt x="0" y="0"/>
                </a:lnTo>
                <a:lnTo>
                  <a:pt x="0" y="96456"/>
                </a:lnTo>
                <a:lnTo>
                  <a:pt x="4105008" y="96456"/>
                </a:lnTo>
                <a:lnTo>
                  <a:pt x="4105008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3" name="object 6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00" y="1780640"/>
            <a:ext cx="2121367" cy="679452"/>
          </a:xfrm>
          <a:prstGeom prst="rect">
            <a:avLst/>
          </a:prstGeom>
        </p:spPr>
      </p:pic>
      <p:sp>
        <p:nvSpPr>
          <p:cNvPr id="64" name="object 64"/>
          <p:cNvSpPr txBox="1"/>
          <p:nvPr/>
        </p:nvSpPr>
        <p:spPr>
          <a:xfrm>
            <a:off x="260925" y="1882205"/>
            <a:ext cx="16973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KEY</a:t>
            </a:r>
            <a:r>
              <a:rPr sz="1200" b="1" spc="1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FACTS</a:t>
            </a:r>
            <a:r>
              <a:rPr sz="1200" b="1" spc="-1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PERTAINING</a:t>
            </a:r>
            <a:r>
              <a:rPr sz="1200" b="1" spc="5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TO</a:t>
            </a:r>
            <a:endParaRPr sz="1200" dirty="0">
              <a:solidFill>
                <a:schemeClr val="accent3">
                  <a:lumMod val="20000"/>
                  <a:lumOff val="80000"/>
                </a:schemeClr>
              </a:solidFill>
              <a:latin typeface="Calibri"/>
              <a:cs typeface="Calibri"/>
            </a:endParaRPr>
          </a:p>
          <a:p>
            <a:pPr marL="44450" algn="ctr">
              <a:lnSpc>
                <a:spcPct val="100000"/>
              </a:lnSpc>
            </a:pPr>
            <a:r>
              <a:rPr lang="en-US" sz="1200" b="1" dirty="0">
                <a:solidFill>
                  <a:schemeClr val="accent3"/>
                </a:solidFill>
                <a:latin typeface="Calibri"/>
                <a:cs typeface="Calibri"/>
              </a:rPr>
              <a:t>Wealth Management </a:t>
            </a:r>
            <a:endParaRPr sz="1200" dirty="0">
              <a:solidFill>
                <a:schemeClr val="accent3"/>
              </a:solidFill>
              <a:latin typeface="Calibri"/>
              <a:cs typeface="Calibr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079997" y="1711871"/>
            <a:ext cx="1345751" cy="830356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655"/>
              </a:spcBef>
            </a:pPr>
            <a:r>
              <a:rPr lang="en-US" sz="2200" b="1" spc="-10" dirty="0">
                <a:solidFill>
                  <a:srgbClr val="006BAA"/>
                </a:solidFill>
                <a:latin typeface="Calibri"/>
                <a:cs typeface="Calibri"/>
              </a:rPr>
              <a:t>1.57%</a:t>
            </a:r>
            <a:endParaRPr sz="2200" dirty="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305"/>
              </a:spcBef>
            </a:pPr>
            <a:r>
              <a:rPr lang="en-US" sz="1200" spc="-10" dirty="0">
                <a:solidFill>
                  <a:srgbClr val="3A3838"/>
                </a:solidFill>
                <a:latin typeface="Calibri"/>
                <a:cs typeface="Calibri"/>
              </a:rPr>
              <a:t>CAGR 2024-2028</a:t>
            </a:r>
            <a:endParaRPr sz="12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3A3838"/>
                </a:solidFill>
                <a:latin typeface="Calibri"/>
                <a:cs typeface="Calibri"/>
              </a:rPr>
              <a:t>(AUM growth)</a:t>
            </a:r>
            <a:endParaRPr sz="1200" dirty="0">
              <a:latin typeface="Calibri"/>
              <a:cs typeface="Calibri"/>
            </a:endParaRP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0743D300-D673-1555-619D-4C3AB147F84D}"/>
              </a:ext>
            </a:extLst>
          </p:cNvPr>
          <p:cNvCxnSpPr>
            <a:cxnSpLocks/>
          </p:cNvCxnSpPr>
          <p:nvPr/>
        </p:nvCxnSpPr>
        <p:spPr>
          <a:xfrm>
            <a:off x="6871230" y="505494"/>
            <a:ext cx="0" cy="202386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object 66">
            <a:extLst>
              <a:ext uri="{FF2B5EF4-FFF2-40B4-BE49-F238E27FC236}">
                <a16:creationId xmlns:a16="http://schemas.microsoft.com/office/drawing/2014/main" id="{CCD3894A-A4D6-441F-E6A8-A3607D2D99D0}"/>
              </a:ext>
            </a:extLst>
          </p:cNvPr>
          <p:cNvSpPr txBox="1"/>
          <p:nvPr/>
        </p:nvSpPr>
        <p:spPr>
          <a:xfrm>
            <a:off x="3439895" y="1706467"/>
            <a:ext cx="1693419" cy="799578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655"/>
              </a:spcBef>
            </a:pPr>
            <a:r>
              <a:rPr lang="en-US" sz="2000" b="1" spc="-10" dirty="0">
                <a:solidFill>
                  <a:srgbClr val="006BAA"/>
                </a:solidFill>
                <a:latin typeface="Calibri"/>
                <a:cs typeface="Calibri"/>
              </a:rPr>
              <a:t>42,662,898 Mn </a:t>
            </a:r>
            <a:endParaRPr sz="2000" dirty="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305"/>
              </a:spcBef>
            </a:pPr>
            <a:r>
              <a:rPr lang="en-US" sz="1200" spc="-10" dirty="0">
                <a:solidFill>
                  <a:srgbClr val="3A3838"/>
                </a:solidFill>
                <a:latin typeface="Calibri"/>
                <a:cs typeface="Calibri"/>
              </a:rPr>
              <a:t>(in INR)Size of Asset Under Management in India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7" name="object 66">
            <a:extLst>
              <a:ext uri="{FF2B5EF4-FFF2-40B4-BE49-F238E27FC236}">
                <a16:creationId xmlns:a16="http://schemas.microsoft.com/office/drawing/2014/main" id="{B5E53046-CD3B-A7FE-B8FC-52BE7382C05A}"/>
              </a:ext>
            </a:extLst>
          </p:cNvPr>
          <p:cNvSpPr txBox="1"/>
          <p:nvPr/>
        </p:nvSpPr>
        <p:spPr>
          <a:xfrm>
            <a:off x="5133864" y="1674594"/>
            <a:ext cx="1693419" cy="799578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655"/>
              </a:spcBef>
            </a:pPr>
            <a:r>
              <a:rPr lang="en-US" sz="2000" b="1" spc="-10" dirty="0">
                <a:solidFill>
                  <a:srgbClr val="006BAA"/>
                </a:solidFill>
                <a:latin typeface="Calibri"/>
                <a:cs typeface="Calibri"/>
              </a:rPr>
              <a:t>5</a:t>
            </a:r>
            <a:r>
              <a:rPr lang="en-US" sz="2000" b="1" spc="-10" baseline="30000" dirty="0">
                <a:solidFill>
                  <a:srgbClr val="006BAA"/>
                </a:solidFill>
                <a:latin typeface="Calibri"/>
                <a:cs typeface="Calibri"/>
              </a:rPr>
              <a:t>th</a:t>
            </a:r>
            <a:r>
              <a:rPr lang="en-US" sz="2000" b="1" spc="-10" dirty="0">
                <a:solidFill>
                  <a:srgbClr val="006BAA"/>
                </a:solidFill>
                <a:latin typeface="Calibri"/>
                <a:cs typeface="Calibri"/>
              </a:rPr>
              <a:t> Rank</a:t>
            </a:r>
            <a:endParaRPr sz="2000" dirty="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305"/>
              </a:spcBef>
            </a:pPr>
            <a:r>
              <a:rPr lang="en-US" sz="1200" spc="-10" dirty="0">
                <a:solidFill>
                  <a:srgbClr val="3A3838"/>
                </a:solidFill>
                <a:latin typeface="Calibri"/>
                <a:cs typeface="Calibri"/>
              </a:rPr>
              <a:t>Countries with the Ultra High Net Worth Individuals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8" name="object 62">
            <a:extLst>
              <a:ext uri="{FF2B5EF4-FFF2-40B4-BE49-F238E27FC236}">
                <a16:creationId xmlns:a16="http://schemas.microsoft.com/office/drawing/2014/main" id="{1C95AD1A-1B7A-0883-A569-99E4305B3B28}"/>
              </a:ext>
            </a:extLst>
          </p:cNvPr>
          <p:cNvSpPr/>
          <p:nvPr/>
        </p:nvSpPr>
        <p:spPr>
          <a:xfrm flipV="1">
            <a:off x="36394" y="2491866"/>
            <a:ext cx="12235485" cy="46123"/>
          </a:xfrm>
          <a:custGeom>
            <a:avLst/>
            <a:gdLst/>
            <a:ahLst/>
            <a:cxnLst/>
            <a:rect l="l" t="t" r="r" b="b"/>
            <a:pathLst>
              <a:path w="12169140" h="22859">
                <a:moveTo>
                  <a:pt x="0" y="0"/>
                </a:moveTo>
                <a:lnTo>
                  <a:pt x="12169140" y="22577"/>
                </a:lnTo>
              </a:path>
            </a:pathLst>
          </a:custGeom>
          <a:ln w="12700">
            <a:solidFill>
              <a:srgbClr val="4471C4"/>
            </a:solidFill>
            <a:prstDash val="sysDash"/>
          </a:ln>
        </p:spPr>
        <p:txBody>
          <a:bodyPr wrap="square" lIns="0" tIns="0" rIns="0" bIns="0" rtlCol="0"/>
          <a:lstStyle/>
          <a:p>
            <a:endParaRPr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9A7B132-86BC-3B48-D607-945DE69EC5E8}"/>
              </a:ext>
            </a:extLst>
          </p:cNvPr>
          <p:cNvCxnSpPr>
            <a:cxnSpLocks/>
          </p:cNvCxnSpPr>
          <p:nvPr/>
        </p:nvCxnSpPr>
        <p:spPr>
          <a:xfrm>
            <a:off x="3733800" y="2514927"/>
            <a:ext cx="0" cy="43265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bject 82">
            <a:extLst>
              <a:ext uri="{FF2B5EF4-FFF2-40B4-BE49-F238E27FC236}">
                <a16:creationId xmlns:a16="http://schemas.microsoft.com/office/drawing/2014/main" id="{BB84072F-FDCB-8F04-ADE9-77A833DF1EBA}"/>
              </a:ext>
            </a:extLst>
          </p:cNvPr>
          <p:cNvSpPr txBox="1"/>
          <p:nvPr/>
        </p:nvSpPr>
        <p:spPr>
          <a:xfrm>
            <a:off x="878367" y="2620705"/>
            <a:ext cx="2743197" cy="23660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50" b="1" spc="-10" dirty="0">
                <a:solidFill>
                  <a:srgbClr val="1F4E79"/>
                </a:solidFill>
                <a:latin typeface="Calibri"/>
                <a:cs typeface="Calibri"/>
              </a:rPr>
              <a:t>Macro-environment Outlook</a:t>
            </a:r>
            <a:endParaRPr sz="1450" dirty="0">
              <a:latin typeface="Calibri"/>
              <a:cs typeface="Calibri"/>
            </a:endParaRPr>
          </a:p>
        </p:txBody>
      </p:sp>
      <p:sp>
        <p:nvSpPr>
          <p:cNvPr id="32" name="object 84">
            <a:extLst>
              <a:ext uri="{FF2B5EF4-FFF2-40B4-BE49-F238E27FC236}">
                <a16:creationId xmlns:a16="http://schemas.microsoft.com/office/drawing/2014/main" id="{68CE4E8F-C866-3779-8F0B-0135637B01C5}"/>
              </a:ext>
            </a:extLst>
          </p:cNvPr>
          <p:cNvSpPr/>
          <p:nvPr/>
        </p:nvSpPr>
        <p:spPr>
          <a:xfrm>
            <a:off x="176454" y="2612744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5" h="306705">
                <a:moveTo>
                  <a:pt x="153162" y="0"/>
                </a:moveTo>
                <a:lnTo>
                  <a:pt x="104748" y="7808"/>
                </a:lnTo>
                <a:lnTo>
                  <a:pt x="62704" y="29553"/>
                </a:lnTo>
                <a:lnTo>
                  <a:pt x="29549" y="62709"/>
                </a:lnTo>
                <a:lnTo>
                  <a:pt x="7807" y="104753"/>
                </a:lnTo>
                <a:lnTo>
                  <a:pt x="0" y="153162"/>
                </a:lnTo>
                <a:lnTo>
                  <a:pt x="7807" y="201570"/>
                </a:lnTo>
                <a:lnTo>
                  <a:pt x="29549" y="243614"/>
                </a:lnTo>
                <a:lnTo>
                  <a:pt x="62704" y="276770"/>
                </a:lnTo>
                <a:lnTo>
                  <a:pt x="104748" y="298515"/>
                </a:lnTo>
                <a:lnTo>
                  <a:pt x="153162" y="306323"/>
                </a:lnTo>
                <a:lnTo>
                  <a:pt x="201575" y="298515"/>
                </a:lnTo>
                <a:lnTo>
                  <a:pt x="243619" y="276770"/>
                </a:lnTo>
                <a:lnTo>
                  <a:pt x="276774" y="243614"/>
                </a:lnTo>
                <a:lnTo>
                  <a:pt x="298516" y="201570"/>
                </a:lnTo>
                <a:lnTo>
                  <a:pt x="306323" y="153162"/>
                </a:lnTo>
                <a:lnTo>
                  <a:pt x="298516" y="104753"/>
                </a:lnTo>
                <a:lnTo>
                  <a:pt x="276774" y="62709"/>
                </a:lnTo>
                <a:lnTo>
                  <a:pt x="243619" y="29553"/>
                </a:lnTo>
                <a:lnTo>
                  <a:pt x="201575" y="7808"/>
                </a:lnTo>
                <a:lnTo>
                  <a:pt x="153162" y="0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86">
            <a:extLst>
              <a:ext uri="{FF2B5EF4-FFF2-40B4-BE49-F238E27FC236}">
                <a16:creationId xmlns:a16="http://schemas.microsoft.com/office/drawing/2014/main" id="{1A69BB96-305A-50D1-0705-37894ED36084}"/>
              </a:ext>
            </a:extLst>
          </p:cNvPr>
          <p:cNvSpPr txBox="1"/>
          <p:nvPr/>
        </p:nvSpPr>
        <p:spPr>
          <a:xfrm>
            <a:off x="271703" y="2638652"/>
            <a:ext cx="1162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9" name="object 95">
            <a:extLst>
              <a:ext uri="{FF2B5EF4-FFF2-40B4-BE49-F238E27FC236}">
                <a16:creationId xmlns:a16="http://schemas.microsoft.com/office/drawing/2014/main" id="{810E100E-9AE9-96D6-E73F-B4EA7753E002}"/>
              </a:ext>
            </a:extLst>
          </p:cNvPr>
          <p:cNvSpPr txBox="1"/>
          <p:nvPr/>
        </p:nvSpPr>
        <p:spPr>
          <a:xfrm>
            <a:off x="249552" y="3053995"/>
            <a:ext cx="30575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84150" algn="l"/>
              </a:tabLst>
            </a:pPr>
            <a:r>
              <a:rPr lang="en-US" sz="1400" dirty="0">
                <a:solidFill>
                  <a:schemeClr val="tx1"/>
                </a:solidFill>
                <a:latin typeface="Calibri"/>
                <a:cs typeface="Calibri"/>
              </a:rPr>
              <a:t>Inflation within RBI's target range</a:t>
            </a:r>
          </a:p>
        </p:txBody>
      </p:sp>
      <p:sp>
        <p:nvSpPr>
          <p:cNvPr id="40" name="object 95">
            <a:extLst>
              <a:ext uri="{FF2B5EF4-FFF2-40B4-BE49-F238E27FC236}">
                <a16:creationId xmlns:a16="http://schemas.microsoft.com/office/drawing/2014/main" id="{BEE2C9F7-0540-4458-0A6D-1561915B74A8}"/>
              </a:ext>
            </a:extLst>
          </p:cNvPr>
          <p:cNvSpPr txBox="1"/>
          <p:nvPr/>
        </p:nvSpPr>
        <p:spPr>
          <a:xfrm>
            <a:off x="249551" y="3350192"/>
            <a:ext cx="3335702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84150" algn="l"/>
              </a:tabLst>
            </a:pPr>
            <a:r>
              <a:rPr lang="en-US" sz="1400" dirty="0">
                <a:solidFill>
                  <a:schemeClr val="tx1"/>
                </a:solidFill>
                <a:latin typeface="Calibri"/>
                <a:cs typeface="Calibri"/>
              </a:rPr>
              <a:t>Current Account Deficit: </a:t>
            </a:r>
            <a:r>
              <a:rPr lang="en-US" sz="1400" b="1" dirty="0">
                <a:solidFill>
                  <a:srgbClr val="C00000"/>
                </a:solidFill>
                <a:latin typeface="Calibri"/>
                <a:cs typeface="Calibri"/>
              </a:rPr>
              <a:t>Reduced from 2% of GDP in FY 2022-23 to 1% in FY 2023-24.</a:t>
            </a:r>
          </a:p>
        </p:txBody>
      </p:sp>
      <p:sp>
        <p:nvSpPr>
          <p:cNvPr id="41" name="object 95">
            <a:extLst>
              <a:ext uri="{FF2B5EF4-FFF2-40B4-BE49-F238E27FC236}">
                <a16:creationId xmlns:a16="http://schemas.microsoft.com/office/drawing/2014/main" id="{908752DA-7E65-4567-BF93-CAD2518AA311}"/>
              </a:ext>
            </a:extLst>
          </p:cNvPr>
          <p:cNvSpPr txBox="1"/>
          <p:nvPr/>
        </p:nvSpPr>
        <p:spPr>
          <a:xfrm>
            <a:off x="249552" y="3855349"/>
            <a:ext cx="3372011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84150" algn="l"/>
              </a:tabLst>
            </a:pPr>
            <a:r>
              <a:rPr lang="en-US" sz="1400" b="1" dirty="0">
                <a:solidFill>
                  <a:srgbClr val="C00000"/>
                </a:solidFill>
                <a:latin typeface="Calibri"/>
                <a:cs typeface="Calibri"/>
              </a:rPr>
              <a:t>8.2% YoY in FY 2023-24</a:t>
            </a:r>
            <a:r>
              <a:rPr lang="en-US" sz="1400" dirty="0">
                <a:solidFill>
                  <a:schemeClr val="tx1"/>
                </a:solidFill>
                <a:latin typeface="Calibri"/>
                <a:cs typeface="Calibri"/>
              </a:rPr>
              <a:t>, one of the highest globally.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F26AE2-30C9-CC73-4523-F6A479207304}"/>
              </a:ext>
            </a:extLst>
          </p:cNvPr>
          <p:cNvSpPr txBox="1"/>
          <p:nvPr/>
        </p:nvSpPr>
        <p:spPr>
          <a:xfrm>
            <a:off x="89558" y="4361698"/>
            <a:ext cx="3548375" cy="4308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100" b="1" i="1" dirty="0"/>
              <a:t>Wealth growing beyond Tier 1 cities; </a:t>
            </a:r>
          </a:p>
          <a:p>
            <a:r>
              <a:rPr lang="en-US" sz="1100" b="1" i="1" dirty="0">
                <a:solidFill>
                  <a:srgbClr val="C00000"/>
                </a:solidFill>
              </a:rPr>
              <a:t>UHNI presence in 95 cities (up from 10 in 2012).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0D05A7-38AA-94CF-902E-0746A9E4BFEB}"/>
              </a:ext>
            </a:extLst>
          </p:cNvPr>
          <p:cNvSpPr txBox="1"/>
          <p:nvPr/>
        </p:nvSpPr>
        <p:spPr>
          <a:xfrm>
            <a:off x="89558" y="4965956"/>
            <a:ext cx="1053438" cy="1615827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/>
              <a:t> Gross household savings grew 2.8x, financial savings 3.2x, shares and debentures 13x over the last decade.</a:t>
            </a:r>
          </a:p>
        </p:txBody>
      </p:sp>
      <p:pic>
        <p:nvPicPr>
          <p:cNvPr id="49" name="Picture 48" descr="A graph of the cost of savings&#10;&#10;Description automatically generated">
            <a:extLst>
              <a:ext uri="{FF2B5EF4-FFF2-40B4-BE49-F238E27FC236}">
                <a16:creationId xmlns:a16="http://schemas.microsoft.com/office/drawing/2014/main" id="{18D2ECCC-F3A7-5C16-B9C1-690EC3DC414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4" t="18794" b="8202"/>
          <a:stretch/>
        </p:blipFill>
        <p:spPr>
          <a:xfrm>
            <a:off x="1238863" y="5019595"/>
            <a:ext cx="2347985" cy="1533606"/>
          </a:xfrm>
          <a:prstGeom prst="rect">
            <a:avLst/>
          </a:prstGeom>
        </p:spPr>
      </p:pic>
      <p:sp>
        <p:nvSpPr>
          <p:cNvPr id="51" name="object 84">
            <a:extLst>
              <a:ext uri="{FF2B5EF4-FFF2-40B4-BE49-F238E27FC236}">
                <a16:creationId xmlns:a16="http://schemas.microsoft.com/office/drawing/2014/main" id="{4154828D-6C7B-8BF8-0A4E-90C96DC9A102}"/>
              </a:ext>
            </a:extLst>
          </p:cNvPr>
          <p:cNvSpPr/>
          <p:nvPr/>
        </p:nvSpPr>
        <p:spPr>
          <a:xfrm>
            <a:off x="3899284" y="2608406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306705" h="306705">
                <a:moveTo>
                  <a:pt x="153162" y="0"/>
                </a:moveTo>
                <a:lnTo>
                  <a:pt x="104748" y="7808"/>
                </a:lnTo>
                <a:lnTo>
                  <a:pt x="62704" y="29553"/>
                </a:lnTo>
                <a:lnTo>
                  <a:pt x="29549" y="62709"/>
                </a:lnTo>
                <a:lnTo>
                  <a:pt x="7807" y="104753"/>
                </a:lnTo>
                <a:lnTo>
                  <a:pt x="0" y="153162"/>
                </a:lnTo>
                <a:lnTo>
                  <a:pt x="7807" y="201570"/>
                </a:lnTo>
                <a:lnTo>
                  <a:pt x="29549" y="243614"/>
                </a:lnTo>
                <a:lnTo>
                  <a:pt x="62704" y="276770"/>
                </a:lnTo>
                <a:lnTo>
                  <a:pt x="104748" y="298515"/>
                </a:lnTo>
                <a:lnTo>
                  <a:pt x="153162" y="306323"/>
                </a:lnTo>
                <a:lnTo>
                  <a:pt x="201575" y="298515"/>
                </a:lnTo>
                <a:lnTo>
                  <a:pt x="243619" y="276770"/>
                </a:lnTo>
                <a:lnTo>
                  <a:pt x="276774" y="243614"/>
                </a:lnTo>
                <a:lnTo>
                  <a:pt x="298516" y="201570"/>
                </a:lnTo>
                <a:lnTo>
                  <a:pt x="306323" y="153162"/>
                </a:lnTo>
                <a:lnTo>
                  <a:pt x="298516" y="104753"/>
                </a:lnTo>
                <a:lnTo>
                  <a:pt x="276774" y="62709"/>
                </a:lnTo>
                <a:lnTo>
                  <a:pt x="243619" y="29553"/>
                </a:lnTo>
                <a:lnTo>
                  <a:pt x="201575" y="7808"/>
                </a:lnTo>
                <a:lnTo>
                  <a:pt x="153162" y="0"/>
                </a:lnTo>
                <a:close/>
              </a:path>
            </a:pathLst>
          </a:custGeom>
          <a:solidFill>
            <a:srgbClr val="1F4E79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86">
            <a:extLst>
              <a:ext uri="{FF2B5EF4-FFF2-40B4-BE49-F238E27FC236}">
                <a16:creationId xmlns:a16="http://schemas.microsoft.com/office/drawing/2014/main" id="{AEE80FE5-FE81-20C9-8DF4-59E940A15094}"/>
              </a:ext>
            </a:extLst>
          </p:cNvPr>
          <p:cNvSpPr txBox="1"/>
          <p:nvPr/>
        </p:nvSpPr>
        <p:spPr>
          <a:xfrm>
            <a:off x="3969109" y="2641303"/>
            <a:ext cx="11620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54" name="object 82">
            <a:extLst>
              <a:ext uri="{FF2B5EF4-FFF2-40B4-BE49-F238E27FC236}">
                <a16:creationId xmlns:a16="http://schemas.microsoft.com/office/drawing/2014/main" id="{9747018B-85DB-7B24-06FD-E630948E8DC5}"/>
              </a:ext>
            </a:extLst>
          </p:cNvPr>
          <p:cNvSpPr txBox="1"/>
          <p:nvPr/>
        </p:nvSpPr>
        <p:spPr>
          <a:xfrm>
            <a:off x="4085314" y="2620704"/>
            <a:ext cx="2743197" cy="23660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450" b="1" spc="-10" dirty="0">
                <a:solidFill>
                  <a:srgbClr val="1F4E79"/>
                </a:solidFill>
                <a:latin typeface="Calibri"/>
                <a:cs typeface="Calibri"/>
              </a:rPr>
              <a:t>Industry Overview </a:t>
            </a:r>
            <a:endParaRPr sz="1450" dirty="0">
              <a:latin typeface="Calibri"/>
              <a:cs typeface="Calibri"/>
            </a:endParaRPr>
          </a:p>
        </p:txBody>
      </p:sp>
      <p:sp>
        <p:nvSpPr>
          <p:cNvPr id="57" name="object 95">
            <a:extLst>
              <a:ext uri="{FF2B5EF4-FFF2-40B4-BE49-F238E27FC236}">
                <a16:creationId xmlns:a16="http://schemas.microsoft.com/office/drawing/2014/main" id="{B57A7A0F-7CA9-4608-F71B-E17513E3D92E}"/>
              </a:ext>
            </a:extLst>
          </p:cNvPr>
          <p:cNvSpPr txBox="1"/>
          <p:nvPr/>
        </p:nvSpPr>
        <p:spPr>
          <a:xfrm>
            <a:off x="3865195" y="2971870"/>
            <a:ext cx="30575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184150" algn="l"/>
              </a:tabLst>
            </a:pPr>
            <a:r>
              <a:rPr lang="en-US" sz="1400" b="1" dirty="0">
                <a:solidFill>
                  <a:schemeClr val="tx1"/>
                </a:solidFill>
                <a:latin typeface="Calibri"/>
                <a:cs typeface="Calibri"/>
              </a:rPr>
              <a:t>Key Growth Drivers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0A00883-CE5B-931B-1D63-2B79A155DC78}"/>
              </a:ext>
            </a:extLst>
          </p:cNvPr>
          <p:cNvSpPr txBox="1"/>
          <p:nvPr/>
        </p:nvSpPr>
        <p:spPr>
          <a:xfrm>
            <a:off x="3810000" y="3282905"/>
            <a:ext cx="2366045" cy="27699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Increase in HNIs/UHNIs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C62C463-F475-0414-7281-3731FBBC5663}"/>
              </a:ext>
            </a:extLst>
          </p:cNvPr>
          <p:cNvSpPr txBox="1"/>
          <p:nvPr/>
        </p:nvSpPr>
        <p:spPr>
          <a:xfrm>
            <a:off x="3927572" y="3645677"/>
            <a:ext cx="691245" cy="2923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6.1%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5E93AD0-0D63-E2C1-5346-C66846AA43D0}"/>
              </a:ext>
            </a:extLst>
          </p:cNvPr>
          <p:cNvSpPr txBox="1"/>
          <p:nvPr/>
        </p:nvSpPr>
        <p:spPr>
          <a:xfrm>
            <a:off x="4619424" y="3660372"/>
            <a:ext cx="1627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Rise in UHNIs (2023) 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CE6BF332-90EC-F3D7-BB22-8A9F671CC22C}"/>
              </a:ext>
            </a:extLst>
          </p:cNvPr>
          <p:cNvSpPr txBox="1"/>
          <p:nvPr/>
        </p:nvSpPr>
        <p:spPr>
          <a:xfrm>
            <a:off x="3768515" y="4022450"/>
            <a:ext cx="69124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13,263</a:t>
            </a:r>
          </a:p>
          <a:p>
            <a:r>
              <a:rPr lang="en-US" sz="13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(2023)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AE539D62-1600-E7A1-A1C1-2E16E96AA7DB}"/>
              </a:ext>
            </a:extLst>
          </p:cNvPr>
          <p:cNvSpPr txBox="1"/>
          <p:nvPr/>
        </p:nvSpPr>
        <p:spPr>
          <a:xfrm>
            <a:off x="3515407" y="4554435"/>
            <a:ext cx="260106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/>
              <a:t>Number of UHNIs to grow (expected)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50735744-F5A2-E324-5207-BD2965755B65}"/>
              </a:ext>
            </a:extLst>
          </p:cNvPr>
          <p:cNvSpPr txBox="1"/>
          <p:nvPr/>
        </p:nvSpPr>
        <p:spPr>
          <a:xfrm>
            <a:off x="5246487" y="4061992"/>
            <a:ext cx="73408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19,908</a:t>
            </a:r>
          </a:p>
          <a:p>
            <a:r>
              <a:rPr lang="en-US" sz="13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(2028)</a:t>
            </a:r>
          </a:p>
        </p:txBody>
      </p:sp>
      <p:sp>
        <p:nvSpPr>
          <p:cNvPr id="173" name="Arrow: Right 172">
            <a:extLst>
              <a:ext uri="{FF2B5EF4-FFF2-40B4-BE49-F238E27FC236}">
                <a16:creationId xmlns:a16="http://schemas.microsoft.com/office/drawing/2014/main" id="{2AEA682C-96E8-4AEA-6925-03E8BD368358}"/>
              </a:ext>
            </a:extLst>
          </p:cNvPr>
          <p:cNvSpPr/>
          <p:nvPr/>
        </p:nvSpPr>
        <p:spPr>
          <a:xfrm>
            <a:off x="4520528" y="4138120"/>
            <a:ext cx="612786" cy="29238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47F76D1-5D00-003D-5FD7-24B7A2F4CF73}"/>
              </a:ext>
            </a:extLst>
          </p:cNvPr>
          <p:cNvSpPr txBox="1"/>
          <p:nvPr/>
        </p:nvSpPr>
        <p:spPr>
          <a:xfrm>
            <a:off x="3825786" y="5032305"/>
            <a:ext cx="2366045" cy="27699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Regulatory Reforms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DAFBCD69-691E-61BF-FCBB-A7FE9710749C}"/>
              </a:ext>
            </a:extLst>
          </p:cNvPr>
          <p:cNvSpPr txBox="1"/>
          <p:nvPr/>
        </p:nvSpPr>
        <p:spPr>
          <a:xfrm>
            <a:off x="3768515" y="5317858"/>
            <a:ext cx="251936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Efficient client money management, stronger cybersecurity, tighter insider trading regulations.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FF4863-1BF9-D288-6E6F-435E8BA09C6F}"/>
              </a:ext>
            </a:extLst>
          </p:cNvPr>
          <p:cNvSpPr txBox="1"/>
          <p:nvPr/>
        </p:nvSpPr>
        <p:spPr>
          <a:xfrm>
            <a:off x="3770790" y="5977987"/>
            <a:ext cx="2421039" cy="27699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Digital Innovation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CC1D83-07AD-3D8B-B57D-15311861C2C0}"/>
              </a:ext>
            </a:extLst>
          </p:cNvPr>
          <p:cNvSpPr txBox="1"/>
          <p:nvPr/>
        </p:nvSpPr>
        <p:spPr>
          <a:xfrm>
            <a:off x="3735396" y="6285495"/>
            <a:ext cx="2552482" cy="595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90" dirty="0"/>
              <a:t>Preference shift towards non-traditional investments like MF, PMS, AIF, REITs, InvITs.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713DB63-BD4F-67C8-70CD-322568456194}"/>
              </a:ext>
            </a:extLst>
          </p:cNvPr>
          <p:cNvGrpSpPr/>
          <p:nvPr/>
        </p:nvGrpSpPr>
        <p:grpSpPr>
          <a:xfrm>
            <a:off x="6283814" y="4788984"/>
            <a:ext cx="2835276" cy="1969770"/>
            <a:chOff x="9278998" y="2608406"/>
            <a:chExt cx="2835276" cy="196977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FC36B6-560A-EC9D-8F31-B8EB43CF8A9E}"/>
                </a:ext>
              </a:extLst>
            </p:cNvPr>
            <p:cNvSpPr txBox="1"/>
            <p:nvPr/>
          </p:nvSpPr>
          <p:spPr>
            <a:xfrm>
              <a:off x="9278998" y="2608406"/>
              <a:ext cx="2835276" cy="19697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    Key Players</a:t>
              </a:r>
            </a:p>
            <a:p>
              <a:endParaRPr lang="en-US" sz="1200" b="1" dirty="0"/>
            </a:p>
            <a:p>
              <a:endParaRPr lang="en-US" sz="1200" b="1" dirty="0"/>
            </a:p>
            <a:p>
              <a:endParaRPr lang="en-US" sz="1200" b="1" dirty="0"/>
            </a:p>
            <a:p>
              <a:endParaRPr lang="en-US" sz="1200" b="1" dirty="0"/>
            </a:p>
            <a:p>
              <a:endParaRPr lang="en-US" sz="1200" b="1" dirty="0"/>
            </a:p>
            <a:p>
              <a:endParaRPr lang="en-US" sz="1200" b="1" dirty="0"/>
            </a:p>
            <a:p>
              <a:endParaRPr lang="en-US" sz="1200" b="1" dirty="0"/>
            </a:p>
            <a:p>
              <a:endParaRPr lang="en-US" sz="1200" b="1" dirty="0"/>
            </a:p>
            <a:p>
              <a:endParaRPr lang="en-US" sz="1200" b="1" dirty="0"/>
            </a:p>
          </p:txBody>
        </p:sp>
        <p:pic>
          <p:nvPicPr>
            <p:cNvPr id="1026" name="Picture 2" descr="Motilal Oswal - Business Model | All ...">
              <a:extLst>
                <a:ext uri="{FF2B5EF4-FFF2-40B4-BE49-F238E27FC236}">
                  <a16:creationId xmlns:a16="http://schemas.microsoft.com/office/drawing/2014/main" id="{19DBEFF2-4679-E68C-B5BC-C747AD081F7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046" t="38636" r="1" b="31312"/>
            <a:stretch/>
          </p:blipFill>
          <p:spPr bwMode="auto">
            <a:xfrm>
              <a:off x="10716054" y="3068499"/>
              <a:ext cx="1332204" cy="2708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The Delisting Of ICICI Securities Is Eventually Approved After A  Significant Uproar From Regular Investors">
              <a:extLst>
                <a:ext uri="{FF2B5EF4-FFF2-40B4-BE49-F238E27FC236}">
                  <a16:creationId xmlns:a16="http://schemas.microsoft.com/office/drawing/2014/main" id="{EF0090F4-EBDB-7A44-BCE5-A456FA94AA4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13" t="12437" r="25469" b="27102"/>
            <a:stretch/>
          </p:blipFill>
          <p:spPr bwMode="auto">
            <a:xfrm>
              <a:off x="9482484" y="2940599"/>
              <a:ext cx="909134" cy="6438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Nuvama Mutual Fund Investment App Review">
              <a:extLst>
                <a:ext uri="{FF2B5EF4-FFF2-40B4-BE49-F238E27FC236}">
                  <a16:creationId xmlns:a16="http://schemas.microsoft.com/office/drawing/2014/main" id="{088F274F-2D99-B672-D2F3-92DF00F451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90854" y="3396993"/>
              <a:ext cx="1257404" cy="366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Angel One - YouTube">
              <a:extLst>
                <a:ext uri="{FF2B5EF4-FFF2-40B4-BE49-F238E27FC236}">
                  <a16:creationId xmlns:a16="http://schemas.microsoft.com/office/drawing/2014/main" id="{B0D3FF7F-46DB-B262-E2D4-1F83ED3F233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277" t="8359" r="17766" b="9585"/>
            <a:stretch/>
          </p:blipFill>
          <p:spPr bwMode="auto">
            <a:xfrm>
              <a:off x="11277083" y="3816140"/>
              <a:ext cx="534568" cy="6858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Geojit Financial Services launches AI-powered global investment platform">
              <a:extLst>
                <a:ext uri="{FF2B5EF4-FFF2-40B4-BE49-F238E27FC236}">
                  <a16:creationId xmlns:a16="http://schemas.microsoft.com/office/drawing/2014/main" id="{CA91AB39-04C1-9F12-D341-8EA373AA854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329" b="33946"/>
            <a:stretch/>
          </p:blipFill>
          <p:spPr bwMode="auto">
            <a:xfrm>
              <a:off x="9428553" y="3741990"/>
              <a:ext cx="1312932" cy="2711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JMFINANCIL Stock Price and Chart — NSE:JMFINANCIL — TradingView — India">
              <a:extLst>
                <a:ext uri="{FF2B5EF4-FFF2-40B4-BE49-F238E27FC236}">
                  <a16:creationId xmlns:a16="http://schemas.microsoft.com/office/drawing/2014/main" id="{E99A1BC8-9226-4ACE-D68B-32D7C502D2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450" b="42393"/>
            <a:stretch/>
          </p:blipFill>
          <p:spPr bwMode="auto">
            <a:xfrm>
              <a:off x="9419479" y="4187820"/>
              <a:ext cx="1371375" cy="3175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55E0997B-8559-6604-2B38-67C9E720EE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996594"/>
              </p:ext>
            </p:extLst>
          </p:nvPr>
        </p:nvGraphicFramePr>
        <p:xfrm>
          <a:off x="9234504" y="4654521"/>
          <a:ext cx="2879772" cy="22034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pic>
        <p:nvPicPr>
          <p:cNvPr id="56" name="Picture 55">
            <a:extLst>
              <a:ext uri="{FF2B5EF4-FFF2-40B4-BE49-F238E27FC236}">
                <a16:creationId xmlns:a16="http://schemas.microsoft.com/office/drawing/2014/main" id="{861D4400-EC0E-3D6A-B031-748AADC06D4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72191" y="2605782"/>
            <a:ext cx="3439334" cy="2061990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softEdge rad="112500"/>
          </a:effectLst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88D07605-DB63-AFD5-B1DF-2398AD574543}"/>
              </a:ext>
            </a:extLst>
          </p:cNvPr>
          <p:cNvPicPr>
            <a:picLocks noChangeAspect="1"/>
          </p:cNvPicPr>
          <p:nvPr/>
        </p:nvPicPr>
        <p:blipFill>
          <a:blip r:embed="rId18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50763" y="2617043"/>
            <a:ext cx="2513138" cy="2015869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D3208452-8D6B-15CD-6FC9-07A0369A14BD}"/>
              </a:ext>
            </a:extLst>
          </p:cNvPr>
          <p:cNvSpPr txBox="1"/>
          <p:nvPr/>
        </p:nvSpPr>
        <p:spPr>
          <a:xfrm>
            <a:off x="9813876" y="2605782"/>
            <a:ext cx="2288565" cy="206199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4" name="object 9">
            <a:extLst>
              <a:ext uri="{FF2B5EF4-FFF2-40B4-BE49-F238E27FC236}">
                <a16:creationId xmlns:a16="http://schemas.microsoft.com/office/drawing/2014/main" id="{BB209858-5051-93B2-80AA-07BE51F99E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05989" y="48423"/>
            <a:ext cx="3806697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335" algn="ctr">
              <a:lnSpc>
                <a:spcPct val="100000"/>
              </a:lnSpc>
              <a:spcBef>
                <a:spcPts val="100"/>
              </a:spcBef>
            </a:pPr>
            <a:r>
              <a:rPr lang="en-US" sz="2200" b="1" spc="-20" dirty="0">
                <a:solidFill>
                  <a:srgbClr val="9E0202"/>
                </a:solidFill>
              </a:rPr>
              <a:t>Industry Overview</a:t>
            </a:r>
            <a:endParaRPr sz="2200" b="1" spc="-20" dirty="0">
              <a:solidFill>
                <a:srgbClr val="9E0202"/>
              </a:solidFill>
            </a:endParaRPr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CCCB67C9-6FE6-A915-639D-2B8A2BE3646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99782" y="633229"/>
            <a:ext cx="2388998" cy="1524893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C677864B-A510-D471-2793-10C3FC86DFBF}"/>
              </a:ext>
            </a:extLst>
          </p:cNvPr>
          <p:cNvSpPr txBox="1"/>
          <p:nvPr/>
        </p:nvSpPr>
        <p:spPr>
          <a:xfrm>
            <a:off x="6960130" y="2207775"/>
            <a:ext cx="24150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solidFill>
                  <a:schemeClr val="bg1">
                    <a:lumMod val="65000"/>
                  </a:schemeClr>
                </a:solidFill>
              </a:rPr>
              <a:t>Sources: Jefferies, DRHP(Nuvama)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CCBE51F-5F60-4244-043F-80112BD12A76}"/>
              </a:ext>
            </a:extLst>
          </p:cNvPr>
          <p:cNvSpPr txBox="1"/>
          <p:nvPr/>
        </p:nvSpPr>
        <p:spPr>
          <a:xfrm>
            <a:off x="1233165" y="6559084"/>
            <a:ext cx="24150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solidFill>
                  <a:schemeClr val="bg1">
                    <a:lumMod val="65000"/>
                  </a:schemeClr>
                </a:solidFill>
              </a:rPr>
              <a:t>Sources: Jefferies, RBI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F079C1F9-AC4B-A9C3-8C18-7610D36FF5EE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t="12134" r="2381" b="4799"/>
          <a:stretch/>
        </p:blipFill>
        <p:spPr>
          <a:xfrm>
            <a:off x="9455024" y="505494"/>
            <a:ext cx="2708877" cy="166147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D2462BA5-2408-A3A8-9540-64A722A14D08}"/>
              </a:ext>
            </a:extLst>
          </p:cNvPr>
          <p:cNvSpPr txBox="1"/>
          <p:nvPr/>
        </p:nvSpPr>
        <p:spPr>
          <a:xfrm>
            <a:off x="9455024" y="2148000"/>
            <a:ext cx="273697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50" b="1" i="1" dirty="0"/>
              <a:t>Revenue: 27% CAGR led by integrated wealth management platform driving sustainable growth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11D3C71-4A34-EFEE-20B8-2502DB1734BD}"/>
              </a:ext>
            </a:extLst>
          </p:cNvPr>
          <p:cNvCxnSpPr/>
          <p:nvPr/>
        </p:nvCxnSpPr>
        <p:spPr>
          <a:xfrm>
            <a:off x="0" y="1706467"/>
            <a:ext cx="6871230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6" name="Picture 85">
            <a:extLst>
              <a:ext uri="{FF2B5EF4-FFF2-40B4-BE49-F238E27FC236}">
                <a16:creationId xmlns:a16="http://schemas.microsoft.com/office/drawing/2014/main" id="{B26703AC-CDD8-B373-F282-334220430AE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100" y="479310"/>
            <a:ext cx="6843130" cy="1214252"/>
          </a:xfrm>
          <a:prstGeom prst="rect">
            <a:avLst/>
          </a:prstGeom>
        </p:spPr>
      </p:pic>
      <p:sp>
        <p:nvSpPr>
          <p:cNvPr id="87" name="object 24">
            <a:extLst>
              <a:ext uri="{FF2B5EF4-FFF2-40B4-BE49-F238E27FC236}">
                <a16:creationId xmlns:a16="http://schemas.microsoft.com/office/drawing/2014/main" id="{E6A60A16-8FBC-072B-CFFF-E404568F2907}"/>
              </a:ext>
            </a:extLst>
          </p:cNvPr>
          <p:cNvSpPr/>
          <p:nvPr/>
        </p:nvSpPr>
        <p:spPr>
          <a:xfrm>
            <a:off x="7371413" y="115926"/>
            <a:ext cx="4811725" cy="214886"/>
          </a:xfrm>
          <a:custGeom>
            <a:avLst/>
            <a:gdLst/>
            <a:ahLst/>
            <a:cxnLst/>
            <a:rect l="l" t="t" r="r" b="b"/>
            <a:pathLst>
              <a:path w="4105275" h="231775">
                <a:moveTo>
                  <a:pt x="4105008" y="135001"/>
                </a:moveTo>
                <a:lnTo>
                  <a:pt x="0" y="135001"/>
                </a:lnTo>
                <a:lnTo>
                  <a:pt x="0" y="231457"/>
                </a:lnTo>
                <a:lnTo>
                  <a:pt x="4105008" y="231457"/>
                </a:lnTo>
                <a:lnTo>
                  <a:pt x="4105008" y="135001"/>
                </a:lnTo>
                <a:close/>
              </a:path>
              <a:path w="4105275" h="231775">
                <a:moveTo>
                  <a:pt x="4105008" y="0"/>
                </a:moveTo>
                <a:lnTo>
                  <a:pt x="0" y="0"/>
                </a:lnTo>
                <a:lnTo>
                  <a:pt x="0" y="96456"/>
                </a:lnTo>
                <a:lnTo>
                  <a:pt x="4105008" y="96456"/>
                </a:lnTo>
                <a:lnTo>
                  <a:pt x="4105008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/>
          <p:nvPr/>
        </p:nvSpPr>
        <p:spPr>
          <a:xfrm>
            <a:off x="3088894" y="2414397"/>
            <a:ext cx="1162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034655" y="2599436"/>
            <a:ext cx="12020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POTENTIAL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2BE82C1D-FFBA-A900-6D05-9E0AA651BB81}"/>
              </a:ext>
            </a:extLst>
          </p:cNvPr>
          <p:cNvSpPr txBox="1"/>
          <p:nvPr/>
        </p:nvSpPr>
        <p:spPr>
          <a:xfrm>
            <a:off x="39055" y="1639428"/>
            <a:ext cx="1590363" cy="3231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Mission &amp; Vision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84F31FD1-9E4E-C734-C9A5-569D4F961390}"/>
              </a:ext>
            </a:extLst>
          </p:cNvPr>
          <p:cNvSpPr txBox="1"/>
          <p:nvPr/>
        </p:nvSpPr>
        <p:spPr>
          <a:xfrm>
            <a:off x="1729786" y="1706166"/>
            <a:ext cx="3225118" cy="261610"/>
          </a:xfrm>
          <a:prstGeom prst="rect">
            <a:avLst/>
          </a:prstGeom>
          <a:ln w="12700">
            <a:prstDash val="lg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make wealth creation simple and accessible</a:t>
            </a:r>
          </a:p>
        </p:txBody>
      </p:sp>
      <p:pic>
        <p:nvPicPr>
          <p:cNvPr id="183" name="Picture 182">
            <a:extLst>
              <a:ext uri="{FF2B5EF4-FFF2-40B4-BE49-F238E27FC236}">
                <a16:creationId xmlns:a16="http://schemas.microsoft.com/office/drawing/2014/main" id="{D36D5691-0E40-90BB-496B-268EE511D33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</a:extLst>
          </a:blip>
          <a:srcRect t="76945"/>
          <a:stretch/>
        </p:blipFill>
        <p:spPr>
          <a:xfrm>
            <a:off x="5044616" y="1684009"/>
            <a:ext cx="6999567" cy="314487"/>
          </a:xfrm>
          <a:prstGeom prst="rect">
            <a:avLst/>
          </a:prstGeom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229BBD30-B75E-C038-1C0B-FD4AF7DC2062}"/>
              </a:ext>
            </a:extLst>
          </p:cNvPr>
          <p:cNvGrpSpPr/>
          <p:nvPr/>
        </p:nvGrpSpPr>
        <p:grpSpPr>
          <a:xfrm>
            <a:off x="89557" y="404168"/>
            <a:ext cx="12012884" cy="1235260"/>
            <a:chOff x="89558" y="467483"/>
            <a:chExt cx="12012884" cy="1235260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43422E7C-9ADA-6039-F888-A35CFE5E6E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28038"/>
            <a:stretch/>
          </p:blipFill>
          <p:spPr>
            <a:xfrm>
              <a:off x="1806498" y="529298"/>
              <a:ext cx="777990" cy="73185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3BC01E8-C219-B43A-5A55-F88DAB75F26D}"/>
                </a:ext>
              </a:extLst>
            </p:cNvPr>
            <p:cNvSpPr txBox="1"/>
            <p:nvPr/>
          </p:nvSpPr>
          <p:spPr>
            <a:xfrm>
              <a:off x="1493579" y="1225732"/>
              <a:ext cx="151277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Saurabh Mukherjea</a:t>
              </a:r>
            </a:p>
            <a:p>
              <a:r>
                <a:rPr lang="en-US" sz="1100" b="1" dirty="0"/>
                <a:t>  CIO and Founder</a:t>
              </a:r>
            </a:p>
          </p:txBody>
        </p: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38AF57A3-9548-99E5-A5AE-746128754E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1422" r="6808"/>
            <a:stretch/>
          </p:blipFill>
          <p:spPr>
            <a:xfrm>
              <a:off x="3585254" y="529240"/>
              <a:ext cx="765811" cy="704876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C43DFC7-39BB-5637-0B00-AD01B2A296D6}"/>
                </a:ext>
              </a:extLst>
            </p:cNvPr>
            <p:cNvSpPr txBox="1"/>
            <p:nvPr/>
          </p:nvSpPr>
          <p:spPr>
            <a:xfrm>
              <a:off x="2884534" y="1229194"/>
              <a:ext cx="223510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C00000"/>
                  </a:solidFill>
                </a:rPr>
                <a:t>Pramod Gubbi, CFA</a:t>
              </a:r>
            </a:p>
            <a:p>
              <a:pPr algn="ctr"/>
              <a:r>
                <a:rPr lang="en-US" sz="1100" b="1" dirty="0"/>
                <a:t>Client Advisory &amp; Relationship</a:t>
              </a:r>
            </a:p>
          </p:txBody>
        </p: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6520EC12-5FA3-0EF4-52FC-AF5048F20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30188" y="533407"/>
              <a:ext cx="765811" cy="744205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76E447E-7654-85DC-F0A2-7CF110A1DCC2}"/>
                </a:ext>
              </a:extLst>
            </p:cNvPr>
            <p:cNvSpPr txBox="1"/>
            <p:nvPr/>
          </p:nvSpPr>
          <p:spPr>
            <a:xfrm>
              <a:off x="4696713" y="1243707"/>
              <a:ext cx="223510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C00000"/>
                  </a:solidFill>
                </a:rPr>
                <a:t>Rakshit Ranjan , CFA</a:t>
              </a:r>
            </a:p>
            <a:p>
              <a:pPr algn="ctr"/>
              <a:r>
                <a:rPr lang="en-US" sz="1100" b="1" dirty="0"/>
                <a:t>Investments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0174F14-120C-A635-B009-DF629C54E056}"/>
                </a:ext>
              </a:extLst>
            </p:cNvPr>
            <p:cNvSpPr txBox="1"/>
            <p:nvPr/>
          </p:nvSpPr>
          <p:spPr>
            <a:xfrm>
              <a:off x="8089748" y="1271856"/>
              <a:ext cx="223510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C00000"/>
                  </a:solidFill>
                </a:rPr>
                <a:t>Sapna Bhavsar</a:t>
              </a:r>
            </a:p>
            <a:p>
              <a:pPr algn="ctr"/>
              <a:r>
                <a:rPr lang="en-US" sz="1100" b="1" dirty="0"/>
                <a:t>People and Culture</a:t>
              </a: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E2F075AC-4E90-D042-CAAB-63A0ADEE7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832464" y="565130"/>
              <a:ext cx="718951" cy="789705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EFB31A2E-BE44-9F24-2710-EF42ACF05F68}"/>
                </a:ext>
              </a:extLst>
            </p:cNvPr>
            <p:cNvSpPr txBox="1"/>
            <p:nvPr/>
          </p:nvSpPr>
          <p:spPr>
            <a:xfrm>
              <a:off x="6369588" y="1247835"/>
              <a:ext cx="223510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C00000"/>
                  </a:solidFill>
                </a:rPr>
                <a:t>Manish Hemnani</a:t>
              </a:r>
            </a:p>
            <a:p>
              <a:pPr algn="ctr"/>
              <a:r>
                <a:rPr lang="en-US" sz="1100" b="1" dirty="0"/>
                <a:t>Technology &amp; Operations 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51027E7E-8B44-5CCA-793D-F458289DDFDE}"/>
                </a:ext>
              </a:extLst>
            </p:cNvPr>
            <p:cNvSpPr txBox="1"/>
            <p:nvPr/>
          </p:nvSpPr>
          <p:spPr>
            <a:xfrm>
              <a:off x="9867336" y="1257299"/>
              <a:ext cx="223510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C00000"/>
                  </a:solidFill>
                </a:rPr>
                <a:t>Nitesh Bhadani , CA</a:t>
              </a:r>
            </a:p>
            <a:p>
              <a:pPr algn="ctr"/>
              <a:r>
                <a:rPr lang="en-US" sz="1100" b="1" dirty="0"/>
                <a:t>Client Advisory &amp; Relationship</a:t>
              </a:r>
            </a:p>
          </p:txBody>
        </p:sp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B1F6AAD7-A926-E4CA-DACE-4AB0AF38D3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12296" r="9203"/>
            <a:stretch/>
          </p:blipFill>
          <p:spPr>
            <a:xfrm>
              <a:off x="10568406" y="588933"/>
              <a:ext cx="718951" cy="73497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FC181B20-20F7-781A-01F2-73CC3D219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228713" y="467483"/>
              <a:ext cx="660300" cy="836242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69053434-A91F-A701-9E6A-DFCB9FE64264}"/>
                </a:ext>
              </a:extLst>
            </p:cNvPr>
            <p:cNvSpPr txBox="1"/>
            <p:nvPr/>
          </p:nvSpPr>
          <p:spPr>
            <a:xfrm>
              <a:off x="89558" y="726478"/>
              <a:ext cx="1337383" cy="57250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Managerial </a:t>
              </a:r>
            </a:p>
            <a:p>
              <a:pPr algn="ctr"/>
              <a:r>
                <a:rPr lang="en-US" sz="15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Positions</a:t>
              </a:r>
            </a:p>
          </p:txBody>
        </p:sp>
      </p:grpSp>
      <p:sp>
        <p:nvSpPr>
          <p:cNvPr id="85" name="object 62">
            <a:extLst>
              <a:ext uri="{FF2B5EF4-FFF2-40B4-BE49-F238E27FC236}">
                <a16:creationId xmlns:a16="http://schemas.microsoft.com/office/drawing/2014/main" id="{750501FB-A1AD-4396-0AF8-5C70C5E4EA85}"/>
              </a:ext>
            </a:extLst>
          </p:cNvPr>
          <p:cNvSpPr/>
          <p:nvPr/>
        </p:nvSpPr>
        <p:spPr>
          <a:xfrm>
            <a:off x="-15052" y="1579561"/>
            <a:ext cx="12206417" cy="45719"/>
          </a:xfrm>
          <a:custGeom>
            <a:avLst/>
            <a:gdLst/>
            <a:ahLst/>
            <a:cxnLst/>
            <a:rect l="l" t="t" r="r" b="b"/>
            <a:pathLst>
              <a:path w="12169140" h="22859">
                <a:moveTo>
                  <a:pt x="0" y="0"/>
                </a:moveTo>
                <a:lnTo>
                  <a:pt x="12169140" y="22577"/>
                </a:lnTo>
              </a:path>
            </a:pathLst>
          </a:custGeom>
          <a:ln w="12700">
            <a:solidFill>
              <a:srgbClr val="4471C4"/>
            </a:solidFill>
            <a:prstDash val="sysDash"/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6" name="object 62">
            <a:extLst>
              <a:ext uri="{FF2B5EF4-FFF2-40B4-BE49-F238E27FC236}">
                <a16:creationId xmlns:a16="http://schemas.microsoft.com/office/drawing/2014/main" id="{DF7F718E-C7B9-174D-D089-1C2CDB9663C3}"/>
              </a:ext>
            </a:extLst>
          </p:cNvPr>
          <p:cNvSpPr/>
          <p:nvPr/>
        </p:nvSpPr>
        <p:spPr>
          <a:xfrm>
            <a:off x="5744" y="2025328"/>
            <a:ext cx="12206417" cy="45719"/>
          </a:xfrm>
          <a:custGeom>
            <a:avLst/>
            <a:gdLst/>
            <a:ahLst/>
            <a:cxnLst/>
            <a:rect l="l" t="t" r="r" b="b"/>
            <a:pathLst>
              <a:path w="12169140" h="22859">
                <a:moveTo>
                  <a:pt x="0" y="0"/>
                </a:moveTo>
                <a:lnTo>
                  <a:pt x="12169140" y="22577"/>
                </a:lnTo>
              </a:path>
            </a:pathLst>
          </a:custGeom>
          <a:ln w="12700">
            <a:solidFill>
              <a:srgbClr val="4471C4"/>
            </a:solidFill>
            <a:prstDash val="sysDash"/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495D4E9D-744B-842F-0723-7F35EC69C488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r="1474"/>
          <a:stretch/>
        </p:blipFill>
        <p:spPr>
          <a:xfrm>
            <a:off x="4869882" y="2190053"/>
            <a:ext cx="7291647" cy="2366034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  <a:prstDash val="lgDashDotDot"/>
          </a:ln>
        </p:spPr>
      </p:pic>
      <p:grpSp>
        <p:nvGrpSpPr>
          <p:cNvPr id="100" name="Group 99">
            <a:extLst>
              <a:ext uri="{FF2B5EF4-FFF2-40B4-BE49-F238E27FC236}">
                <a16:creationId xmlns:a16="http://schemas.microsoft.com/office/drawing/2014/main" id="{39862BCE-B9F6-4235-446D-1372CABF9111}"/>
              </a:ext>
            </a:extLst>
          </p:cNvPr>
          <p:cNvGrpSpPr/>
          <p:nvPr/>
        </p:nvGrpSpPr>
        <p:grpSpPr>
          <a:xfrm>
            <a:off x="4467926" y="2153713"/>
            <a:ext cx="306705" cy="306705"/>
            <a:chOff x="92789" y="2128599"/>
            <a:chExt cx="306705" cy="306705"/>
          </a:xfrm>
        </p:grpSpPr>
        <p:sp>
          <p:nvSpPr>
            <p:cNvPr id="92" name="object 84">
              <a:extLst>
                <a:ext uri="{FF2B5EF4-FFF2-40B4-BE49-F238E27FC236}">
                  <a16:creationId xmlns:a16="http://schemas.microsoft.com/office/drawing/2014/main" id="{A5B82F34-FA15-A0A5-C22F-8A6ABAD5B3E5}"/>
                </a:ext>
              </a:extLst>
            </p:cNvPr>
            <p:cNvSpPr/>
            <p:nvPr/>
          </p:nvSpPr>
          <p:spPr>
            <a:xfrm>
              <a:off x="92789" y="2128599"/>
              <a:ext cx="306705" cy="306705"/>
            </a:xfrm>
            <a:custGeom>
              <a:avLst/>
              <a:gdLst/>
              <a:ahLst/>
              <a:cxnLst/>
              <a:rect l="l" t="t" r="r" b="b"/>
              <a:pathLst>
                <a:path w="306705" h="306705">
                  <a:moveTo>
                    <a:pt x="153162" y="0"/>
                  </a:moveTo>
                  <a:lnTo>
                    <a:pt x="104748" y="7808"/>
                  </a:lnTo>
                  <a:lnTo>
                    <a:pt x="62704" y="29553"/>
                  </a:lnTo>
                  <a:lnTo>
                    <a:pt x="29549" y="62709"/>
                  </a:lnTo>
                  <a:lnTo>
                    <a:pt x="7807" y="104753"/>
                  </a:lnTo>
                  <a:lnTo>
                    <a:pt x="0" y="153162"/>
                  </a:lnTo>
                  <a:lnTo>
                    <a:pt x="7807" y="201570"/>
                  </a:lnTo>
                  <a:lnTo>
                    <a:pt x="29549" y="243614"/>
                  </a:lnTo>
                  <a:lnTo>
                    <a:pt x="62704" y="276770"/>
                  </a:lnTo>
                  <a:lnTo>
                    <a:pt x="104748" y="298515"/>
                  </a:lnTo>
                  <a:lnTo>
                    <a:pt x="153162" y="306323"/>
                  </a:lnTo>
                  <a:lnTo>
                    <a:pt x="201575" y="298515"/>
                  </a:lnTo>
                  <a:lnTo>
                    <a:pt x="243619" y="276770"/>
                  </a:lnTo>
                  <a:lnTo>
                    <a:pt x="276774" y="243614"/>
                  </a:lnTo>
                  <a:lnTo>
                    <a:pt x="298516" y="201570"/>
                  </a:lnTo>
                  <a:lnTo>
                    <a:pt x="306323" y="153162"/>
                  </a:lnTo>
                  <a:lnTo>
                    <a:pt x="298516" y="104753"/>
                  </a:lnTo>
                  <a:lnTo>
                    <a:pt x="276774" y="62709"/>
                  </a:lnTo>
                  <a:lnTo>
                    <a:pt x="243619" y="29553"/>
                  </a:lnTo>
                  <a:lnTo>
                    <a:pt x="201575" y="7808"/>
                  </a:lnTo>
                  <a:lnTo>
                    <a:pt x="153162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4" name="object 86">
              <a:extLst>
                <a:ext uri="{FF2B5EF4-FFF2-40B4-BE49-F238E27FC236}">
                  <a16:creationId xmlns:a16="http://schemas.microsoft.com/office/drawing/2014/main" id="{9DF47E22-4135-375C-AE2E-12AB7B7D5AA0}"/>
                </a:ext>
              </a:extLst>
            </p:cNvPr>
            <p:cNvSpPr txBox="1"/>
            <p:nvPr/>
          </p:nvSpPr>
          <p:spPr>
            <a:xfrm>
              <a:off x="188038" y="2162253"/>
              <a:ext cx="116205" cy="22890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US" sz="1400" b="1" spc="-50" dirty="0">
                  <a:solidFill>
                    <a:srgbClr val="FFFFFF"/>
                  </a:solidFill>
                  <a:latin typeface="Calibri"/>
                  <a:cs typeface="Calibri"/>
                </a:rPr>
                <a:t>3</a:t>
              </a:r>
              <a:endParaRPr sz="1400" dirty="0">
                <a:latin typeface="Calibri"/>
                <a:cs typeface="Calibri"/>
              </a:endParaRPr>
            </a:p>
          </p:txBody>
        </p:sp>
      </p:grpSp>
      <p:sp>
        <p:nvSpPr>
          <p:cNvPr id="97" name="object 24">
            <a:extLst>
              <a:ext uri="{FF2B5EF4-FFF2-40B4-BE49-F238E27FC236}">
                <a16:creationId xmlns:a16="http://schemas.microsoft.com/office/drawing/2014/main" id="{FCD14B80-A8B5-ECED-C9CF-4BB665AB447D}"/>
              </a:ext>
            </a:extLst>
          </p:cNvPr>
          <p:cNvSpPr/>
          <p:nvPr/>
        </p:nvSpPr>
        <p:spPr>
          <a:xfrm>
            <a:off x="8862" y="109405"/>
            <a:ext cx="5020338" cy="228986"/>
          </a:xfrm>
          <a:custGeom>
            <a:avLst/>
            <a:gdLst/>
            <a:ahLst/>
            <a:cxnLst/>
            <a:rect l="l" t="t" r="r" b="b"/>
            <a:pathLst>
              <a:path w="4105275" h="231775">
                <a:moveTo>
                  <a:pt x="4105008" y="135001"/>
                </a:moveTo>
                <a:lnTo>
                  <a:pt x="0" y="135001"/>
                </a:lnTo>
                <a:lnTo>
                  <a:pt x="0" y="231457"/>
                </a:lnTo>
                <a:lnTo>
                  <a:pt x="4105008" y="231457"/>
                </a:lnTo>
                <a:lnTo>
                  <a:pt x="4105008" y="135001"/>
                </a:lnTo>
                <a:close/>
              </a:path>
              <a:path w="4105275" h="231775">
                <a:moveTo>
                  <a:pt x="4105008" y="0"/>
                </a:moveTo>
                <a:lnTo>
                  <a:pt x="0" y="0"/>
                </a:lnTo>
                <a:lnTo>
                  <a:pt x="0" y="96456"/>
                </a:lnTo>
                <a:lnTo>
                  <a:pt x="4105008" y="96456"/>
                </a:lnTo>
                <a:lnTo>
                  <a:pt x="4105008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24">
            <a:extLst>
              <a:ext uri="{FF2B5EF4-FFF2-40B4-BE49-F238E27FC236}">
                <a16:creationId xmlns:a16="http://schemas.microsoft.com/office/drawing/2014/main" id="{55080270-E121-26E5-227B-BDA9029ACE71}"/>
              </a:ext>
            </a:extLst>
          </p:cNvPr>
          <p:cNvSpPr/>
          <p:nvPr/>
        </p:nvSpPr>
        <p:spPr>
          <a:xfrm>
            <a:off x="7371413" y="115926"/>
            <a:ext cx="4811725" cy="214886"/>
          </a:xfrm>
          <a:custGeom>
            <a:avLst/>
            <a:gdLst/>
            <a:ahLst/>
            <a:cxnLst/>
            <a:rect l="l" t="t" r="r" b="b"/>
            <a:pathLst>
              <a:path w="4105275" h="231775">
                <a:moveTo>
                  <a:pt x="4105008" y="135001"/>
                </a:moveTo>
                <a:lnTo>
                  <a:pt x="0" y="135001"/>
                </a:lnTo>
                <a:lnTo>
                  <a:pt x="0" y="231457"/>
                </a:lnTo>
                <a:lnTo>
                  <a:pt x="4105008" y="231457"/>
                </a:lnTo>
                <a:lnTo>
                  <a:pt x="4105008" y="135001"/>
                </a:lnTo>
                <a:close/>
              </a:path>
              <a:path w="4105275" h="231775">
                <a:moveTo>
                  <a:pt x="4105008" y="0"/>
                </a:moveTo>
                <a:lnTo>
                  <a:pt x="0" y="0"/>
                </a:lnTo>
                <a:lnTo>
                  <a:pt x="0" y="96456"/>
                </a:lnTo>
                <a:lnTo>
                  <a:pt x="4105008" y="96456"/>
                </a:lnTo>
                <a:lnTo>
                  <a:pt x="4105008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">
            <a:extLst>
              <a:ext uri="{FF2B5EF4-FFF2-40B4-BE49-F238E27FC236}">
                <a16:creationId xmlns:a16="http://schemas.microsoft.com/office/drawing/2014/main" id="{8E3A19AB-B10E-5B43-2D94-56F52AEEB0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05989" y="48423"/>
            <a:ext cx="3806697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335" algn="ctr">
              <a:lnSpc>
                <a:spcPct val="100000"/>
              </a:lnSpc>
              <a:spcBef>
                <a:spcPts val="100"/>
              </a:spcBef>
            </a:pPr>
            <a:r>
              <a:rPr lang="en-US" sz="2200" b="1" spc="-20" dirty="0">
                <a:solidFill>
                  <a:srgbClr val="9E0202"/>
                </a:solidFill>
              </a:rPr>
              <a:t>Company Overview</a:t>
            </a:r>
            <a:endParaRPr sz="2200" b="1" spc="-20" dirty="0">
              <a:solidFill>
                <a:srgbClr val="9E0202"/>
              </a:solidFill>
            </a:endParaRP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6446D38A-1DDB-06E6-C738-CC6D2334D591}"/>
              </a:ext>
            </a:extLst>
          </p:cNvPr>
          <p:cNvGrpSpPr/>
          <p:nvPr/>
        </p:nvGrpSpPr>
        <p:grpSpPr>
          <a:xfrm>
            <a:off x="134033" y="2086085"/>
            <a:ext cx="306705" cy="490830"/>
            <a:chOff x="92789" y="2128599"/>
            <a:chExt cx="306705" cy="490830"/>
          </a:xfrm>
        </p:grpSpPr>
        <p:sp>
          <p:nvSpPr>
            <p:cNvPr id="102" name="object 84">
              <a:extLst>
                <a:ext uri="{FF2B5EF4-FFF2-40B4-BE49-F238E27FC236}">
                  <a16:creationId xmlns:a16="http://schemas.microsoft.com/office/drawing/2014/main" id="{E243E141-C468-A7A3-8F38-F4F2E59B022C}"/>
                </a:ext>
              </a:extLst>
            </p:cNvPr>
            <p:cNvSpPr/>
            <p:nvPr/>
          </p:nvSpPr>
          <p:spPr>
            <a:xfrm>
              <a:off x="92789" y="2128599"/>
              <a:ext cx="306705" cy="306705"/>
            </a:xfrm>
            <a:custGeom>
              <a:avLst/>
              <a:gdLst/>
              <a:ahLst/>
              <a:cxnLst/>
              <a:rect l="l" t="t" r="r" b="b"/>
              <a:pathLst>
                <a:path w="306705" h="306705">
                  <a:moveTo>
                    <a:pt x="153162" y="0"/>
                  </a:moveTo>
                  <a:lnTo>
                    <a:pt x="104748" y="7808"/>
                  </a:lnTo>
                  <a:lnTo>
                    <a:pt x="62704" y="29553"/>
                  </a:lnTo>
                  <a:lnTo>
                    <a:pt x="29549" y="62709"/>
                  </a:lnTo>
                  <a:lnTo>
                    <a:pt x="7807" y="104753"/>
                  </a:lnTo>
                  <a:lnTo>
                    <a:pt x="0" y="153162"/>
                  </a:lnTo>
                  <a:lnTo>
                    <a:pt x="7807" y="201570"/>
                  </a:lnTo>
                  <a:lnTo>
                    <a:pt x="29549" y="243614"/>
                  </a:lnTo>
                  <a:lnTo>
                    <a:pt x="62704" y="276770"/>
                  </a:lnTo>
                  <a:lnTo>
                    <a:pt x="104748" y="298515"/>
                  </a:lnTo>
                  <a:lnTo>
                    <a:pt x="153162" y="306323"/>
                  </a:lnTo>
                  <a:lnTo>
                    <a:pt x="201575" y="298515"/>
                  </a:lnTo>
                  <a:lnTo>
                    <a:pt x="243619" y="276770"/>
                  </a:lnTo>
                  <a:lnTo>
                    <a:pt x="276774" y="243614"/>
                  </a:lnTo>
                  <a:lnTo>
                    <a:pt x="298516" y="201570"/>
                  </a:lnTo>
                  <a:lnTo>
                    <a:pt x="306323" y="153162"/>
                  </a:lnTo>
                  <a:lnTo>
                    <a:pt x="298516" y="104753"/>
                  </a:lnTo>
                  <a:lnTo>
                    <a:pt x="276774" y="62709"/>
                  </a:lnTo>
                  <a:lnTo>
                    <a:pt x="243619" y="29553"/>
                  </a:lnTo>
                  <a:lnTo>
                    <a:pt x="201575" y="7808"/>
                  </a:lnTo>
                  <a:lnTo>
                    <a:pt x="153162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3" name="object 86">
              <a:extLst>
                <a:ext uri="{FF2B5EF4-FFF2-40B4-BE49-F238E27FC236}">
                  <a16:creationId xmlns:a16="http://schemas.microsoft.com/office/drawing/2014/main" id="{6B18E928-4D0A-1E11-2824-E5F32317B122}"/>
                </a:ext>
              </a:extLst>
            </p:cNvPr>
            <p:cNvSpPr txBox="1"/>
            <p:nvPr/>
          </p:nvSpPr>
          <p:spPr>
            <a:xfrm>
              <a:off x="188038" y="2162253"/>
              <a:ext cx="116205" cy="457176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US" sz="1400" b="1" spc="-50" dirty="0">
                  <a:solidFill>
                    <a:srgbClr val="FFFFFF"/>
                  </a:solidFill>
                  <a:latin typeface="Calibri"/>
                  <a:cs typeface="Calibri"/>
                </a:rPr>
                <a:t>1</a:t>
              </a:r>
            </a:p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endParaRPr sz="1400" dirty="0">
                <a:latin typeface="Calibri"/>
                <a:cs typeface="Calibri"/>
              </a:endParaRPr>
            </a:p>
          </p:txBody>
        </p:sp>
      </p:grpSp>
      <p:sp>
        <p:nvSpPr>
          <p:cNvPr id="107" name="object 82">
            <a:extLst>
              <a:ext uri="{FF2B5EF4-FFF2-40B4-BE49-F238E27FC236}">
                <a16:creationId xmlns:a16="http://schemas.microsoft.com/office/drawing/2014/main" id="{8229540F-E82B-60A4-7B1A-0E5D64EB1EF0}"/>
              </a:ext>
            </a:extLst>
          </p:cNvPr>
          <p:cNvSpPr txBox="1"/>
          <p:nvPr/>
        </p:nvSpPr>
        <p:spPr>
          <a:xfrm>
            <a:off x="319672" y="2151321"/>
            <a:ext cx="2743197" cy="23660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450" b="1" spc="-10" dirty="0">
                <a:solidFill>
                  <a:srgbClr val="1F4E79"/>
                </a:solidFill>
                <a:latin typeface="Calibri"/>
                <a:cs typeface="Calibri"/>
              </a:rPr>
              <a:t>About the Company</a:t>
            </a:r>
            <a:endParaRPr sz="1450" dirty="0">
              <a:latin typeface="Calibri"/>
              <a:cs typeface="Calibri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A3FA49B-2F76-DFB1-EBA8-F6D7D1896CD1}"/>
              </a:ext>
            </a:extLst>
          </p:cNvPr>
          <p:cNvSpPr txBox="1"/>
          <p:nvPr/>
        </p:nvSpPr>
        <p:spPr>
          <a:xfrm>
            <a:off x="-15904" y="6596390"/>
            <a:ext cx="48857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solidFill>
                  <a:schemeClr val="bg1">
                    <a:lumMod val="65000"/>
                  </a:schemeClr>
                </a:solidFill>
              </a:rPr>
              <a:t>Sources: Marcellus Website, SEBI (Portfolio Manager Monthly Reports)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41B22D6-9814-EF9F-8F1A-C7F29AAD5877}"/>
              </a:ext>
            </a:extLst>
          </p:cNvPr>
          <p:cNvSpPr txBox="1"/>
          <p:nvPr/>
        </p:nvSpPr>
        <p:spPr>
          <a:xfrm>
            <a:off x="94216" y="2500669"/>
            <a:ext cx="4373710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Marcellus Investment Managers is a SEBI-registered provider of Portfolio Management Services (PMS) that offers several investment strategies focused on quality companies. Their flagship product, the Marcellus Consistent Compounders Portfolio (CCP), invests in a concentrated portfolio of heavily moated companies.</a:t>
            </a:r>
          </a:p>
        </p:txBody>
      </p:sp>
      <p:pic>
        <p:nvPicPr>
          <p:cNvPr id="112" name="Picture 8" descr="Marcellus Investment Managers | LinkedIn">
            <a:extLst>
              <a:ext uri="{FF2B5EF4-FFF2-40B4-BE49-F238E27FC236}">
                <a16:creationId xmlns:a16="http://schemas.microsoft.com/office/drawing/2014/main" id="{DEA7B8A3-B110-2932-AB22-11920B1B2B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13" b="38947"/>
          <a:stretch/>
        </p:blipFill>
        <p:spPr bwMode="auto">
          <a:xfrm>
            <a:off x="2671116" y="2063297"/>
            <a:ext cx="1515539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15DB236-C425-A419-90EE-952463BFCEA8}"/>
              </a:ext>
            </a:extLst>
          </p:cNvPr>
          <p:cNvGrpSpPr/>
          <p:nvPr/>
        </p:nvGrpSpPr>
        <p:grpSpPr>
          <a:xfrm>
            <a:off x="75929" y="3576003"/>
            <a:ext cx="306705" cy="306705"/>
            <a:chOff x="92789" y="2128599"/>
            <a:chExt cx="306705" cy="306705"/>
          </a:xfrm>
        </p:grpSpPr>
        <p:sp>
          <p:nvSpPr>
            <p:cNvPr id="114" name="object 84">
              <a:extLst>
                <a:ext uri="{FF2B5EF4-FFF2-40B4-BE49-F238E27FC236}">
                  <a16:creationId xmlns:a16="http://schemas.microsoft.com/office/drawing/2014/main" id="{69D3E775-133B-60FE-751C-F55094A8DA3E}"/>
                </a:ext>
              </a:extLst>
            </p:cNvPr>
            <p:cNvSpPr/>
            <p:nvPr/>
          </p:nvSpPr>
          <p:spPr>
            <a:xfrm>
              <a:off x="92789" y="2128599"/>
              <a:ext cx="306705" cy="306705"/>
            </a:xfrm>
            <a:custGeom>
              <a:avLst/>
              <a:gdLst/>
              <a:ahLst/>
              <a:cxnLst/>
              <a:rect l="l" t="t" r="r" b="b"/>
              <a:pathLst>
                <a:path w="306705" h="306705">
                  <a:moveTo>
                    <a:pt x="153162" y="0"/>
                  </a:moveTo>
                  <a:lnTo>
                    <a:pt x="104748" y="7808"/>
                  </a:lnTo>
                  <a:lnTo>
                    <a:pt x="62704" y="29553"/>
                  </a:lnTo>
                  <a:lnTo>
                    <a:pt x="29549" y="62709"/>
                  </a:lnTo>
                  <a:lnTo>
                    <a:pt x="7807" y="104753"/>
                  </a:lnTo>
                  <a:lnTo>
                    <a:pt x="0" y="153162"/>
                  </a:lnTo>
                  <a:lnTo>
                    <a:pt x="7807" y="201570"/>
                  </a:lnTo>
                  <a:lnTo>
                    <a:pt x="29549" y="243614"/>
                  </a:lnTo>
                  <a:lnTo>
                    <a:pt x="62704" y="276770"/>
                  </a:lnTo>
                  <a:lnTo>
                    <a:pt x="104748" y="298515"/>
                  </a:lnTo>
                  <a:lnTo>
                    <a:pt x="153162" y="306323"/>
                  </a:lnTo>
                  <a:lnTo>
                    <a:pt x="201575" y="298515"/>
                  </a:lnTo>
                  <a:lnTo>
                    <a:pt x="243619" y="276770"/>
                  </a:lnTo>
                  <a:lnTo>
                    <a:pt x="276774" y="243614"/>
                  </a:lnTo>
                  <a:lnTo>
                    <a:pt x="298516" y="201570"/>
                  </a:lnTo>
                  <a:lnTo>
                    <a:pt x="306323" y="153162"/>
                  </a:lnTo>
                  <a:lnTo>
                    <a:pt x="298516" y="104753"/>
                  </a:lnTo>
                  <a:lnTo>
                    <a:pt x="276774" y="62709"/>
                  </a:lnTo>
                  <a:lnTo>
                    <a:pt x="243619" y="29553"/>
                  </a:lnTo>
                  <a:lnTo>
                    <a:pt x="201575" y="7808"/>
                  </a:lnTo>
                  <a:lnTo>
                    <a:pt x="153162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5" name="object 86">
              <a:extLst>
                <a:ext uri="{FF2B5EF4-FFF2-40B4-BE49-F238E27FC236}">
                  <a16:creationId xmlns:a16="http://schemas.microsoft.com/office/drawing/2014/main" id="{34EA7207-FF67-BF48-57EF-BD02DD6B39F7}"/>
                </a:ext>
              </a:extLst>
            </p:cNvPr>
            <p:cNvSpPr txBox="1"/>
            <p:nvPr/>
          </p:nvSpPr>
          <p:spPr>
            <a:xfrm>
              <a:off x="188038" y="2162253"/>
              <a:ext cx="116205" cy="22890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US" sz="1400" b="1" spc="-50" dirty="0">
                  <a:solidFill>
                    <a:srgbClr val="FFFFFF"/>
                  </a:solidFill>
                  <a:latin typeface="Calibri"/>
                  <a:cs typeface="Calibri"/>
                </a:rPr>
                <a:t>2</a:t>
              </a:r>
            </a:p>
          </p:txBody>
        </p:sp>
      </p:grpSp>
      <p:sp>
        <p:nvSpPr>
          <p:cNvPr id="122" name="object 82">
            <a:extLst>
              <a:ext uri="{FF2B5EF4-FFF2-40B4-BE49-F238E27FC236}">
                <a16:creationId xmlns:a16="http://schemas.microsoft.com/office/drawing/2014/main" id="{665150E8-D504-2EAE-617B-E559596A8611}"/>
              </a:ext>
            </a:extLst>
          </p:cNvPr>
          <p:cNvSpPr txBox="1"/>
          <p:nvPr/>
        </p:nvSpPr>
        <p:spPr>
          <a:xfrm>
            <a:off x="485167" y="3609657"/>
            <a:ext cx="2743197" cy="23660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450" b="1" spc="-10" dirty="0">
                <a:solidFill>
                  <a:srgbClr val="1F4E79"/>
                </a:solidFill>
                <a:latin typeface="Calibri"/>
                <a:cs typeface="Calibri"/>
              </a:rPr>
              <a:t>Product Portfolio</a:t>
            </a:r>
            <a:endParaRPr sz="1450" dirty="0">
              <a:latin typeface="Calibri"/>
              <a:cs typeface="Calibri"/>
            </a:endParaRPr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5A2F5812-7A6D-9239-A7F6-777EBB55ECD4}"/>
              </a:ext>
            </a:extLst>
          </p:cNvPr>
          <p:cNvGrpSpPr/>
          <p:nvPr/>
        </p:nvGrpSpPr>
        <p:grpSpPr>
          <a:xfrm>
            <a:off x="130621" y="3919580"/>
            <a:ext cx="4732653" cy="645186"/>
            <a:chOff x="130621" y="3919580"/>
            <a:chExt cx="4732653" cy="645186"/>
          </a:xfrm>
        </p:grpSpPr>
        <p:pic>
          <p:nvPicPr>
            <p:cNvPr id="123" name="object 36">
              <a:extLst>
                <a:ext uri="{FF2B5EF4-FFF2-40B4-BE49-F238E27FC236}">
                  <a16:creationId xmlns:a16="http://schemas.microsoft.com/office/drawing/2014/main" id="{FB45CECA-E883-A0B7-6702-CD2D5E4FD994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0621" y="3919580"/>
              <a:ext cx="4644010" cy="645186"/>
            </a:xfrm>
            <a:prstGeom prst="rect">
              <a:avLst/>
            </a:prstGeom>
          </p:spPr>
        </p:pic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2E66FEAE-3009-AA65-FD67-85B76299E2D6}"/>
                </a:ext>
              </a:extLst>
            </p:cNvPr>
            <p:cNvSpPr txBox="1"/>
            <p:nvPr/>
          </p:nvSpPr>
          <p:spPr>
            <a:xfrm>
              <a:off x="219264" y="3943261"/>
              <a:ext cx="4644010" cy="5678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30" b="1" dirty="0">
                  <a:solidFill>
                    <a:srgbClr val="FF0000"/>
                  </a:solidFill>
                </a:rPr>
                <a:t>Consistent Compounders Portfolio</a:t>
              </a:r>
            </a:p>
            <a:p>
              <a:r>
                <a:rPr lang="en-US" sz="1030" b="1" dirty="0">
                  <a:solidFill>
                    <a:schemeClr val="bg1"/>
                  </a:solidFill>
                </a:rPr>
                <a:t>12-15 stocks, 20-30% returns, outperforms Sensex by 8-12%, includes Titan, Nestle.</a:t>
              </a: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674A65F2-3705-17AE-BEE0-C417D90A260F}"/>
              </a:ext>
            </a:extLst>
          </p:cNvPr>
          <p:cNvGrpSpPr/>
          <p:nvPr/>
        </p:nvGrpSpPr>
        <p:grpSpPr>
          <a:xfrm>
            <a:off x="130621" y="4602551"/>
            <a:ext cx="4732653" cy="645186"/>
            <a:chOff x="130621" y="3919580"/>
            <a:chExt cx="4732653" cy="645186"/>
          </a:xfrm>
        </p:grpSpPr>
        <p:pic>
          <p:nvPicPr>
            <p:cNvPr id="132" name="object 36">
              <a:extLst>
                <a:ext uri="{FF2B5EF4-FFF2-40B4-BE49-F238E27FC236}">
                  <a16:creationId xmlns:a16="http://schemas.microsoft.com/office/drawing/2014/main" id="{1C9042A9-F58F-B274-D0E4-88DECE327C69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0621" y="3919580"/>
              <a:ext cx="4644010" cy="645186"/>
            </a:xfrm>
            <a:prstGeom prst="rect">
              <a:avLst/>
            </a:prstGeom>
          </p:spPr>
        </p:pic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5CB7E2AA-BC90-98B0-4426-C5EED44A09DC}"/>
                </a:ext>
              </a:extLst>
            </p:cNvPr>
            <p:cNvSpPr txBox="1"/>
            <p:nvPr/>
          </p:nvSpPr>
          <p:spPr>
            <a:xfrm>
              <a:off x="219264" y="3943261"/>
              <a:ext cx="4644010" cy="5678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30" b="1" dirty="0">
                  <a:solidFill>
                    <a:srgbClr val="FF0000"/>
                  </a:solidFill>
                </a:rPr>
                <a:t>Rising Giants Portfolio</a:t>
              </a:r>
            </a:p>
            <a:p>
              <a:r>
                <a:rPr lang="en-US" sz="1030" b="1" dirty="0">
                  <a:solidFill>
                    <a:schemeClr val="bg1"/>
                  </a:solidFill>
                </a:rPr>
                <a:t>Mid-cap companies, $500M-$10B, potential Nifty 50 candidates, emphasizes clean accounting.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7E73935-8286-B03F-9632-E1D3B313C886}"/>
              </a:ext>
            </a:extLst>
          </p:cNvPr>
          <p:cNvGrpSpPr/>
          <p:nvPr/>
        </p:nvGrpSpPr>
        <p:grpSpPr>
          <a:xfrm>
            <a:off x="118705" y="5291300"/>
            <a:ext cx="4732653" cy="645186"/>
            <a:chOff x="130621" y="3919580"/>
            <a:chExt cx="4732653" cy="645186"/>
          </a:xfrm>
        </p:grpSpPr>
        <p:pic>
          <p:nvPicPr>
            <p:cNvPr id="135" name="object 36">
              <a:extLst>
                <a:ext uri="{FF2B5EF4-FFF2-40B4-BE49-F238E27FC236}">
                  <a16:creationId xmlns:a16="http://schemas.microsoft.com/office/drawing/2014/main" id="{E7E87807-E111-AEB0-E9E3-EC1DCFEE58F2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0621" y="3919580"/>
              <a:ext cx="4644010" cy="645186"/>
            </a:xfrm>
            <a:prstGeom prst="rect">
              <a:avLst/>
            </a:prstGeom>
          </p:spPr>
        </p:pic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5740753-C8E7-8D51-BDA4-E944788F80CA}"/>
                </a:ext>
              </a:extLst>
            </p:cNvPr>
            <p:cNvSpPr txBox="1"/>
            <p:nvPr/>
          </p:nvSpPr>
          <p:spPr>
            <a:xfrm>
              <a:off x="219264" y="3943261"/>
              <a:ext cx="4644010" cy="5678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30" b="1" dirty="0">
                  <a:solidFill>
                    <a:srgbClr val="FF0000"/>
                  </a:solidFill>
                </a:rPr>
                <a:t>Little Champs Portfolio</a:t>
              </a:r>
            </a:p>
            <a:p>
              <a:r>
                <a:rPr lang="en-US" sz="1030" b="1" dirty="0">
                  <a:solidFill>
                    <a:schemeClr val="bg1"/>
                  </a:solidFill>
                </a:rPr>
                <a:t>Small-caps below $1B, seeks multi-bagger potential, focuses on long-term growth.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3371CB01-5B37-D387-6353-8E46DB37D92C}"/>
              </a:ext>
            </a:extLst>
          </p:cNvPr>
          <p:cNvGrpSpPr/>
          <p:nvPr/>
        </p:nvGrpSpPr>
        <p:grpSpPr>
          <a:xfrm>
            <a:off x="118705" y="5960167"/>
            <a:ext cx="4732653" cy="645186"/>
            <a:chOff x="130621" y="3919580"/>
            <a:chExt cx="4732653" cy="645186"/>
          </a:xfrm>
        </p:grpSpPr>
        <p:pic>
          <p:nvPicPr>
            <p:cNvPr id="138" name="object 36">
              <a:extLst>
                <a:ext uri="{FF2B5EF4-FFF2-40B4-BE49-F238E27FC236}">
                  <a16:creationId xmlns:a16="http://schemas.microsoft.com/office/drawing/2014/main" id="{DDD009CE-6569-2AD4-6050-642AD9AC73F2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0621" y="3919580"/>
              <a:ext cx="4644010" cy="645186"/>
            </a:xfrm>
            <a:prstGeom prst="rect">
              <a:avLst/>
            </a:prstGeom>
          </p:spPr>
        </p:pic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4313CF29-2952-F774-D253-8CCB7CEB01AD}"/>
                </a:ext>
              </a:extLst>
            </p:cNvPr>
            <p:cNvSpPr txBox="1"/>
            <p:nvPr/>
          </p:nvSpPr>
          <p:spPr>
            <a:xfrm>
              <a:off x="219264" y="3943261"/>
              <a:ext cx="4644010" cy="5678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30" b="1" dirty="0">
                  <a:solidFill>
                    <a:srgbClr val="FF0000"/>
                  </a:solidFill>
                </a:rPr>
                <a:t>Kings of Capital Portfolio</a:t>
              </a:r>
            </a:p>
            <a:p>
              <a:r>
                <a:rPr lang="en-US" sz="1030" b="1" dirty="0">
                  <a:solidFill>
                    <a:schemeClr val="bg1"/>
                  </a:solidFill>
                </a:rPr>
                <a:t>Multi-cap financial stocks, banks, NBFCs, asset management, aims for attractive returns.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2889FBCC-39E4-1278-701F-1ED10704201D}"/>
              </a:ext>
            </a:extLst>
          </p:cNvPr>
          <p:cNvGrpSpPr/>
          <p:nvPr/>
        </p:nvGrpSpPr>
        <p:grpSpPr>
          <a:xfrm>
            <a:off x="4893622" y="4665259"/>
            <a:ext cx="306705" cy="306705"/>
            <a:chOff x="92789" y="2128599"/>
            <a:chExt cx="306705" cy="306705"/>
          </a:xfrm>
        </p:grpSpPr>
        <p:sp>
          <p:nvSpPr>
            <p:cNvPr id="141" name="object 84">
              <a:extLst>
                <a:ext uri="{FF2B5EF4-FFF2-40B4-BE49-F238E27FC236}">
                  <a16:creationId xmlns:a16="http://schemas.microsoft.com/office/drawing/2014/main" id="{1833EEDE-5A51-FF19-AFB2-C01DFE03AEBB}"/>
                </a:ext>
              </a:extLst>
            </p:cNvPr>
            <p:cNvSpPr/>
            <p:nvPr/>
          </p:nvSpPr>
          <p:spPr>
            <a:xfrm>
              <a:off x="92789" y="2128599"/>
              <a:ext cx="306705" cy="306705"/>
            </a:xfrm>
            <a:custGeom>
              <a:avLst/>
              <a:gdLst/>
              <a:ahLst/>
              <a:cxnLst/>
              <a:rect l="l" t="t" r="r" b="b"/>
              <a:pathLst>
                <a:path w="306705" h="306705">
                  <a:moveTo>
                    <a:pt x="153162" y="0"/>
                  </a:moveTo>
                  <a:lnTo>
                    <a:pt x="104748" y="7808"/>
                  </a:lnTo>
                  <a:lnTo>
                    <a:pt x="62704" y="29553"/>
                  </a:lnTo>
                  <a:lnTo>
                    <a:pt x="29549" y="62709"/>
                  </a:lnTo>
                  <a:lnTo>
                    <a:pt x="7807" y="104753"/>
                  </a:lnTo>
                  <a:lnTo>
                    <a:pt x="0" y="153162"/>
                  </a:lnTo>
                  <a:lnTo>
                    <a:pt x="7807" y="201570"/>
                  </a:lnTo>
                  <a:lnTo>
                    <a:pt x="29549" y="243614"/>
                  </a:lnTo>
                  <a:lnTo>
                    <a:pt x="62704" y="276770"/>
                  </a:lnTo>
                  <a:lnTo>
                    <a:pt x="104748" y="298515"/>
                  </a:lnTo>
                  <a:lnTo>
                    <a:pt x="153162" y="306323"/>
                  </a:lnTo>
                  <a:lnTo>
                    <a:pt x="201575" y="298515"/>
                  </a:lnTo>
                  <a:lnTo>
                    <a:pt x="243619" y="276770"/>
                  </a:lnTo>
                  <a:lnTo>
                    <a:pt x="276774" y="243614"/>
                  </a:lnTo>
                  <a:lnTo>
                    <a:pt x="298516" y="201570"/>
                  </a:lnTo>
                  <a:lnTo>
                    <a:pt x="306323" y="153162"/>
                  </a:lnTo>
                  <a:lnTo>
                    <a:pt x="298516" y="104753"/>
                  </a:lnTo>
                  <a:lnTo>
                    <a:pt x="276774" y="62709"/>
                  </a:lnTo>
                  <a:lnTo>
                    <a:pt x="243619" y="29553"/>
                  </a:lnTo>
                  <a:lnTo>
                    <a:pt x="201575" y="7808"/>
                  </a:lnTo>
                  <a:lnTo>
                    <a:pt x="153162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2" name="object 86">
              <a:extLst>
                <a:ext uri="{FF2B5EF4-FFF2-40B4-BE49-F238E27FC236}">
                  <a16:creationId xmlns:a16="http://schemas.microsoft.com/office/drawing/2014/main" id="{1CA17C65-1F28-F0E6-A86D-1FE15B90F064}"/>
                </a:ext>
              </a:extLst>
            </p:cNvPr>
            <p:cNvSpPr txBox="1"/>
            <p:nvPr/>
          </p:nvSpPr>
          <p:spPr>
            <a:xfrm>
              <a:off x="188038" y="2162253"/>
              <a:ext cx="116205" cy="22890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US" sz="1400" b="1" spc="-50" dirty="0">
                  <a:solidFill>
                    <a:srgbClr val="FFFFFF"/>
                  </a:solidFill>
                  <a:latin typeface="Calibri"/>
                  <a:cs typeface="Calibri"/>
                </a:rPr>
                <a:t>4</a:t>
              </a:r>
            </a:p>
          </p:txBody>
        </p:sp>
      </p:grpSp>
      <p:sp>
        <p:nvSpPr>
          <p:cNvPr id="144" name="TextBox 143">
            <a:extLst>
              <a:ext uri="{FF2B5EF4-FFF2-40B4-BE49-F238E27FC236}">
                <a16:creationId xmlns:a16="http://schemas.microsoft.com/office/drawing/2014/main" id="{AEA2F601-E26D-0DBB-F934-ACC7E7ECBAC6}"/>
              </a:ext>
            </a:extLst>
          </p:cNvPr>
          <p:cNvSpPr txBox="1"/>
          <p:nvPr/>
        </p:nvSpPr>
        <p:spPr>
          <a:xfrm>
            <a:off x="5295800" y="6568493"/>
            <a:ext cx="35432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solidFill>
                  <a:schemeClr val="bg1">
                    <a:lumMod val="50000"/>
                  </a:schemeClr>
                </a:solidFill>
              </a:rPr>
              <a:t>Marcellus’s Assets Under Management over the years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63EC9850-A98E-C0C2-ABFB-AEDD97F31C2D}"/>
              </a:ext>
            </a:extLst>
          </p:cNvPr>
          <p:cNvGrpSpPr/>
          <p:nvPr/>
        </p:nvGrpSpPr>
        <p:grpSpPr>
          <a:xfrm>
            <a:off x="9038585" y="4646823"/>
            <a:ext cx="306705" cy="306705"/>
            <a:chOff x="92789" y="2128599"/>
            <a:chExt cx="306705" cy="306705"/>
          </a:xfrm>
        </p:grpSpPr>
        <p:sp>
          <p:nvSpPr>
            <p:cNvPr id="146" name="object 84">
              <a:extLst>
                <a:ext uri="{FF2B5EF4-FFF2-40B4-BE49-F238E27FC236}">
                  <a16:creationId xmlns:a16="http://schemas.microsoft.com/office/drawing/2014/main" id="{C94F4816-2249-FAE7-DA91-B420C4EF0EAE}"/>
                </a:ext>
              </a:extLst>
            </p:cNvPr>
            <p:cNvSpPr/>
            <p:nvPr/>
          </p:nvSpPr>
          <p:spPr>
            <a:xfrm>
              <a:off x="92789" y="2128599"/>
              <a:ext cx="306705" cy="306705"/>
            </a:xfrm>
            <a:custGeom>
              <a:avLst/>
              <a:gdLst/>
              <a:ahLst/>
              <a:cxnLst/>
              <a:rect l="l" t="t" r="r" b="b"/>
              <a:pathLst>
                <a:path w="306705" h="306705">
                  <a:moveTo>
                    <a:pt x="153162" y="0"/>
                  </a:moveTo>
                  <a:lnTo>
                    <a:pt x="104748" y="7808"/>
                  </a:lnTo>
                  <a:lnTo>
                    <a:pt x="62704" y="29553"/>
                  </a:lnTo>
                  <a:lnTo>
                    <a:pt x="29549" y="62709"/>
                  </a:lnTo>
                  <a:lnTo>
                    <a:pt x="7807" y="104753"/>
                  </a:lnTo>
                  <a:lnTo>
                    <a:pt x="0" y="153162"/>
                  </a:lnTo>
                  <a:lnTo>
                    <a:pt x="7807" y="201570"/>
                  </a:lnTo>
                  <a:lnTo>
                    <a:pt x="29549" y="243614"/>
                  </a:lnTo>
                  <a:lnTo>
                    <a:pt x="62704" y="276770"/>
                  </a:lnTo>
                  <a:lnTo>
                    <a:pt x="104748" y="298515"/>
                  </a:lnTo>
                  <a:lnTo>
                    <a:pt x="153162" y="306323"/>
                  </a:lnTo>
                  <a:lnTo>
                    <a:pt x="201575" y="298515"/>
                  </a:lnTo>
                  <a:lnTo>
                    <a:pt x="243619" y="276770"/>
                  </a:lnTo>
                  <a:lnTo>
                    <a:pt x="276774" y="243614"/>
                  </a:lnTo>
                  <a:lnTo>
                    <a:pt x="298516" y="201570"/>
                  </a:lnTo>
                  <a:lnTo>
                    <a:pt x="306323" y="153162"/>
                  </a:lnTo>
                  <a:lnTo>
                    <a:pt x="298516" y="104753"/>
                  </a:lnTo>
                  <a:lnTo>
                    <a:pt x="276774" y="62709"/>
                  </a:lnTo>
                  <a:lnTo>
                    <a:pt x="243619" y="29553"/>
                  </a:lnTo>
                  <a:lnTo>
                    <a:pt x="201575" y="7808"/>
                  </a:lnTo>
                  <a:lnTo>
                    <a:pt x="153162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7" name="object 86">
              <a:extLst>
                <a:ext uri="{FF2B5EF4-FFF2-40B4-BE49-F238E27FC236}">
                  <a16:creationId xmlns:a16="http://schemas.microsoft.com/office/drawing/2014/main" id="{ACC6A619-5BF6-D171-1CC8-FCDC5B4F03F6}"/>
                </a:ext>
              </a:extLst>
            </p:cNvPr>
            <p:cNvSpPr txBox="1"/>
            <p:nvPr/>
          </p:nvSpPr>
          <p:spPr>
            <a:xfrm>
              <a:off x="188038" y="2162253"/>
              <a:ext cx="116205" cy="22890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US" sz="1400" b="1" spc="-50" dirty="0">
                  <a:solidFill>
                    <a:srgbClr val="FFFFFF"/>
                  </a:solidFill>
                  <a:latin typeface="Calibri"/>
                  <a:cs typeface="Calibri"/>
                </a:rPr>
                <a:t>5</a:t>
              </a:r>
            </a:p>
          </p:txBody>
        </p:sp>
      </p:grpSp>
      <p:sp>
        <p:nvSpPr>
          <p:cNvPr id="148" name="object 82">
            <a:extLst>
              <a:ext uri="{FF2B5EF4-FFF2-40B4-BE49-F238E27FC236}">
                <a16:creationId xmlns:a16="http://schemas.microsoft.com/office/drawing/2014/main" id="{7880E6E3-A691-90C3-DD89-1ADA187E2BA3}"/>
              </a:ext>
            </a:extLst>
          </p:cNvPr>
          <p:cNvSpPr txBox="1"/>
          <p:nvPr/>
        </p:nvSpPr>
        <p:spPr>
          <a:xfrm>
            <a:off x="9191936" y="4675093"/>
            <a:ext cx="2743197" cy="23660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450" b="1" spc="-10" dirty="0">
                <a:solidFill>
                  <a:srgbClr val="1F4E79"/>
                </a:solidFill>
                <a:latin typeface="Calibri"/>
                <a:cs typeface="Calibri"/>
              </a:rPr>
              <a:t>Investment Philosophy  </a:t>
            </a:r>
            <a:endParaRPr sz="1450" dirty="0">
              <a:latin typeface="Calibri"/>
              <a:cs typeface="Calibri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19622CAB-ECFF-4E34-C24A-8BBF553E3E42}"/>
              </a:ext>
            </a:extLst>
          </p:cNvPr>
          <p:cNvSpPr txBox="1"/>
          <p:nvPr/>
        </p:nvSpPr>
        <p:spPr>
          <a:xfrm>
            <a:off x="8946217" y="6475700"/>
            <a:ext cx="152313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9E0202"/>
                </a:solidFill>
                <a:effectLst/>
                <a:latin typeface="Arial" panose="020B0604020202020204" pitchFamily="34" charset="0"/>
              </a:rPr>
              <a:t>Efficient Capital Allocation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9E0202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1" name="Picture 3" descr="Asset allocation - Free business and finance icons">
            <a:extLst>
              <a:ext uri="{FF2B5EF4-FFF2-40B4-BE49-F238E27FC236}">
                <a16:creationId xmlns:a16="http://schemas.microsoft.com/office/drawing/2014/main" id="{268B19D1-53A2-3ACF-5974-DB3E20154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027" y="6025843"/>
            <a:ext cx="537515" cy="513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4" name="TextBox 153">
            <a:extLst>
              <a:ext uri="{FF2B5EF4-FFF2-40B4-BE49-F238E27FC236}">
                <a16:creationId xmlns:a16="http://schemas.microsoft.com/office/drawing/2014/main" id="{CA6B0062-4D4F-C321-F5CE-A514581DE14D}"/>
              </a:ext>
            </a:extLst>
          </p:cNvPr>
          <p:cNvSpPr txBox="1"/>
          <p:nvPr/>
        </p:nvSpPr>
        <p:spPr>
          <a:xfrm>
            <a:off x="10370147" y="6560338"/>
            <a:ext cx="18499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9E0202"/>
                </a:solidFill>
                <a:effectLst/>
                <a:latin typeface="Arial" panose="020B0604020202020204" pitchFamily="34" charset="0"/>
              </a:rPr>
              <a:t>High-Quality Companies</a:t>
            </a:r>
          </a:p>
        </p:txBody>
      </p:sp>
      <p:pic>
        <p:nvPicPr>
          <p:cNvPr id="2053" name="Picture 5" descr="Quality - Free business and finance icons">
            <a:extLst>
              <a:ext uri="{FF2B5EF4-FFF2-40B4-BE49-F238E27FC236}">
                <a16:creationId xmlns:a16="http://schemas.microsoft.com/office/drawing/2014/main" id="{ABE6483E-916D-BBF1-4C64-187759F26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2376" y="5964011"/>
            <a:ext cx="589960" cy="58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id="{61795E5D-4B54-AF0C-E4D9-FFD0F034ABBF}"/>
              </a:ext>
            </a:extLst>
          </p:cNvPr>
          <p:cNvSpPr txBox="1"/>
          <p:nvPr/>
        </p:nvSpPr>
        <p:spPr>
          <a:xfrm>
            <a:off x="8838785" y="5511880"/>
            <a:ext cx="18834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9E0202"/>
                </a:solidFill>
                <a:effectLst/>
                <a:latin typeface="Arial" panose="020B0604020202020204" pitchFamily="34" charset="0"/>
              </a:rPr>
              <a:t>Sustainable Competitive Advantages</a:t>
            </a:r>
          </a:p>
        </p:txBody>
      </p:sp>
      <p:pic>
        <p:nvPicPr>
          <p:cNvPr id="2055" name="Picture 7" descr="2,000+ Esg Icon Stock Illustrations, Royalty-Free Vector Graphics &amp; Clip  Art - iStock | Sustainability and esg icon, Esg icon vector">
            <a:extLst>
              <a:ext uri="{FF2B5EF4-FFF2-40B4-BE49-F238E27FC236}">
                <a16:creationId xmlns:a16="http://schemas.microsoft.com/office/drawing/2014/main" id="{CB648434-932D-512B-B8F4-2CD36F05A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0539" y="4909386"/>
            <a:ext cx="625724" cy="625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 descr="Accounting - Free business and finance icons">
            <a:extLst>
              <a:ext uri="{FF2B5EF4-FFF2-40B4-BE49-F238E27FC236}">
                <a16:creationId xmlns:a16="http://schemas.microsoft.com/office/drawing/2014/main" id="{9E4CBD18-D02C-0272-DCA5-C7ABFC8E1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5200" y="4978501"/>
            <a:ext cx="507356" cy="507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8" name="TextBox 157">
            <a:extLst>
              <a:ext uri="{FF2B5EF4-FFF2-40B4-BE49-F238E27FC236}">
                <a16:creationId xmlns:a16="http://schemas.microsoft.com/office/drawing/2014/main" id="{797A27A5-0ACA-28FC-BE84-639C2397091E}"/>
              </a:ext>
            </a:extLst>
          </p:cNvPr>
          <p:cNvSpPr txBox="1"/>
          <p:nvPr/>
        </p:nvSpPr>
        <p:spPr>
          <a:xfrm>
            <a:off x="10657348" y="5540963"/>
            <a:ext cx="155481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9E0202"/>
                </a:solidFill>
                <a:effectLst/>
                <a:latin typeface="Arial" panose="020B0604020202020204" pitchFamily="34" charset="0"/>
              </a:rPr>
              <a:t>Clean Accounting 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91773FB-D393-3119-FC5E-02993F6025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7572624"/>
              </p:ext>
            </p:extLst>
          </p:nvPr>
        </p:nvGraphicFramePr>
        <p:xfrm>
          <a:off x="5230675" y="4665259"/>
          <a:ext cx="3649522" cy="19066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object 24">
            <a:extLst>
              <a:ext uri="{FF2B5EF4-FFF2-40B4-BE49-F238E27FC236}">
                <a16:creationId xmlns:a16="http://schemas.microsoft.com/office/drawing/2014/main" id="{FCD14B80-A8B5-ECED-C9CF-4BB665AB447D}"/>
              </a:ext>
            </a:extLst>
          </p:cNvPr>
          <p:cNvSpPr/>
          <p:nvPr/>
        </p:nvSpPr>
        <p:spPr>
          <a:xfrm>
            <a:off x="8862" y="109405"/>
            <a:ext cx="5020338" cy="228986"/>
          </a:xfrm>
          <a:custGeom>
            <a:avLst/>
            <a:gdLst/>
            <a:ahLst/>
            <a:cxnLst/>
            <a:rect l="l" t="t" r="r" b="b"/>
            <a:pathLst>
              <a:path w="4105275" h="231775">
                <a:moveTo>
                  <a:pt x="4105008" y="135001"/>
                </a:moveTo>
                <a:lnTo>
                  <a:pt x="0" y="135001"/>
                </a:lnTo>
                <a:lnTo>
                  <a:pt x="0" y="231457"/>
                </a:lnTo>
                <a:lnTo>
                  <a:pt x="4105008" y="231457"/>
                </a:lnTo>
                <a:lnTo>
                  <a:pt x="4105008" y="135001"/>
                </a:lnTo>
                <a:close/>
              </a:path>
              <a:path w="4105275" h="231775">
                <a:moveTo>
                  <a:pt x="4105008" y="0"/>
                </a:moveTo>
                <a:lnTo>
                  <a:pt x="0" y="0"/>
                </a:lnTo>
                <a:lnTo>
                  <a:pt x="0" y="96456"/>
                </a:lnTo>
                <a:lnTo>
                  <a:pt x="4105008" y="96456"/>
                </a:lnTo>
                <a:lnTo>
                  <a:pt x="4105008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24">
            <a:extLst>
              <a:ext uri="{FF2B5EF4-FFF2-40B4-BE49-F238E27FC236}">
                <a16:creationId xmlns:a16="http://schemas.microsoft.com/office/drawing/2014/main" id="{55080270-E121-26E5-227B-BDA9029ACE71}"/>
              </a:ext>
            </a:extLst>
          </p:cNvPr>
          <p:cNvSpPr/>
          <p:nvPr/>
        </p:nvSpPr>
        <p:spPr>
          <a:xfrm>
            <a:off x="7371413" y="115926"/>
            <a:ext cx="4811725" cy="214886"/>
          </a:xfrm>
          <a:custGeom>
            <a:avLst/>
            <a:gdLst/>
            <a:ahLst/>
            <a:cxnLst/>
            <a:rect l="l" t="t" r="r" b="b"/>
            <a:pathLst>
              <a:path w="4105275" h="231775">
                <a:moveTo>
                  <a:pt x="4105008" y="135001"/>
                </a:moveTo>
                <a:lnTo>
                  <a:pt x="0" y="135001"/>
                </a:lnTo>
                <a:lnTo>
                  <a:pt x="0" y="231457"/>
                </a:lnTo>
                <a:lnTo>
                  <a:pt x="4105008" y="231457"/>
                </a:lnTo>
                <a:lnTo>
                  <a:pt x="4105008" y="135001"/>
                </a:lnTo>
                <a:close/>
              </a:path>
              <a:path w="4105275" h="231775">
                <a:moveTo>
                  <a:pt x="4105008" y="0"/>
                </a:moveTo>
                <a:lnTo>
                  <a:pt x="0" y="0"/>
                </a:lnTo>
                <a:lnTo>
                  <a:pt x="0" y="96456"/>
                </a:lnTo>
                <a:lnTo>
                  <a:pt x="4105008" y="96456"/>
                </a:lnTo>
                <a:lnTo>
                  <a:pt x="4105008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">
            <a:extLst>
              <a:ext uri="{FF2B5EF4-FFF2-40B4-BE49-F238E27FC236}">
                <a16:creationId xmlns:a16="http://schemas.microsoft.com/office/drawing/2014/main" id="{8E3A19AB-B10E-5B43-2D94-56F52AEEB0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05989" y="48423"/>
            <a:ext cx="3806697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335" algn="ctr">
              <a:lnSpc>
                <a:spcPct val="100000"/>
              </a:lnSpc>
              <a:spcBef>
                <a:spcPts val="100"/>
              </a:spcBef>
            </a:pPr>
            <a:r>
              <a:rPr lang="en-US" sz="2200" b="1" spc="-20" dirty="0">
                <a:solidFill>
                  <a:srgbClr val="9E0202"/>
                </a:solidFill>
              </a:rPr>
              <a:t>Deal Overview</a:t>
            </a:r>
            <a:endParaRPr sz="2200" b="1" spc="-20" dirty="0">
              <a:solidFill>
                <a:srgbClr val="9E0202"/>
              </a:solidFill>
            </a:endParaRPr>
          </a:p>
        </p:txBody>
      </p:sp>
      <p:sp>
        <p:nvSpPr>
          <p:cNvPr id="5" name="object 82">
            <a:extLst>
              <a:ext uri="{FF2B5EF4-FFF2-40B4-BE49-F238E27FC236}">
                <a16:creationId xmlns:a16="http://schemas.microsoft.com/office/drawing/2014/main" id="{E747B92D-D3A0-8EBF-16AB-EC0DB325E40D}"/>
              </a:ext>
            </a:extLst>
          </p:cNvPr>
          <p:cNvSpPr txBox="1"/>
          <p:nvPr/>
        </p:nvSpPr>
        <p:spPr>
          <a:xfrm>
            <a:off x="473120" y="435789"/>
            <a:ext cx="2285997" cy="23660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450" b="1" spc="-10" dirty="0">
                <a:solidFill>
                  <a:srgbClr val="1F4E79"/>
                </a:solidFill>
                <a:latin typeface="Calibri"/>
                <a:cs typeface="Calibri"/>
              </a:rPr>
              <a:t>Valuation Summary</a:t>
            </a:r>
            <a:endParaRPr sz="1450" dirty="0">
              <a:latin typeface="Calibri"/>
              <a:cs typeface="Calibri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AAFA3E2-32A9-980A-7DA8-1F6FF9E8CD39}"/>
              </a:ext>
            </a:extLst>
          </p:cNvPr>
          <p:cNvGrpSpPr/>
          <p:nvPr/>
        </p:nvGrpSpPr>
        <p:grpSpPr>
          <a:xfrm>
            <a:off x="150495" y="365687"/>
            <a:ext cx="306705" cy="490830"/>
            <a:chOff x="92789" y="2128599"/>
            <a:chExt cx="306705" cy="490830"/>
          </a:xfrm>
        </p:grpSpPr>
        <p:sp>
          <p:nvSpPr>
            <p:cNvPr id="7" name="object 84">
              <a:extLst>
                <a:ext uri="{FF2B5EF4-FFF2-40B4-BE49-F238E27FC236}">
                  <a16:creationId xmlns:a16="http://schemas.microsoft.com/office/drawing/2014/main" id="{3E8B78F1-409F-56C3-EF46-792198023646}"/>
                </a:ext>
              </a:extLst>
            </p:cNvPr>
            <p:cNvSpPr/>
            <p:nvPr/>
          </p:nvSpPr>
          <p:spPr>
            <a:xfrm>
              <a:off x="92789" y="2128599"/>
              <a:ext cx="306705" cy="306705"/>
            </a:xfrm>
            <a:custGeom>
              <a:avLst/>
              <a:gdLst/>
              <a:ahLst/>
              <a:cxnLst/>
              <a:rect l="l" t="t" r="r" b="b"/>
              <a:pathLst>
                <a:path w="306705" h="306705">
                  <a:moveTo>
                    <a:pt x="153162" y="0"/>
                  </a:moveTo>
                  <a:lnTo>
                    <a:pt x="104748" y="7808"/>
                  </a:lnTo>
                  <a:lnTo>
                    <a:pt x="62704" y="29553"/>
                  </a:lnTo>
                  <a:lnTo>
                    <a:pt x="29549" y="62709"/>
                  </a:lnTo>
                  <a:lnTo>
                    <a:pt x="7807" y="104753"/>
                  </a:lnTo>
                  <a:lnTo>
                    <a:pt x="0" y="153162"/>
                  </a:lnTo>
                  <a:lnTo>
                    <a:pt x="7807" y="201570"/>
                  </a:lnTo>
                  <a:lnTo>
                    <a:pt x="29549" y="243614"/>
                  </a:lnTo>
                  <a:lnTo>
                    <a:pt x="62704" y="276770"/>
                  </a:lnTo>
                  <a:lnTo>
                    <a:pt x="104748" y="298515"/>
                  </a:lnTo>
                  <a:lnTo>
                    <a:pt x="153162" y="306323"/>
                  </a:lnTo>
                  <a:lnTo>
                    <a:pt x="201575" y="298515"/>
                  </a:lnTo>
                  <a:lnTo>
                    <a:pt x="243619" y="276770"/>
                  </a:lnTo>
                  <a:lnTo>
                    <a:pt x="276774" y="243614"/>
                  </a:lnTo>
                  <a:lnTo>
                    <a:pt x="298516" y="201570"/>
                  </a:lnTo>
                  <a:lnTo>
                    <a:pt x="306323" y="153162"/>
                  </a:lnTo>
                  <a:lnTo>
                    <a:pt x="298516" y="104753"/>
                  </a:lnTo>
                  <a:lnTo>
                    <a:pt x="276774" y="62709"/>
                  </a:lnTo>
                  <a:lnTo>
                    <a:pt x="243619" y="29553"/>
                  </a:lnTo>
                  <a:lnTo>
                    <a:pt x="201575" y="7808"/>
                  </a:lnTo>
                  <a:lnTo>
                    <a:pt x="153162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86">
              <a:extLst>
                <a:ext uri="{FF2B5EF4-FFF2-40B4-BE49-F238E27FC236}">
                  <a16:creationId xmlns:a16="http://schemas.microsoft.com/office/drawing/2014/main" id="{B9343515-385E-F5DA-A621-2785D790C029}"/>
                </a:ext>
              </a:extLst>
            </p:cNvPr>
            <p:cNvSpPr txBox="1"/>
            <p:nvPr/>
          </p:nvSpPr>
          <p:spPr>
            <a:xfrm>
              <a:off x="188038" y="2162253"/>
              <a:ext cx="116205" cy="457176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US" sz="1400" b="1" spc="-50" dirty="0">
                  <a:solidFill>
                    <a:srgbClr val="FFFFFF"/>
                  </a:solidFill>
                  <a:latin typeface="Calibri"/>
                  <a:cs typeface="Calibri"/>
                </a:rPr>
                <a:t>1</a:t>
              </a:r>
            </a:p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endParaRPr sz="1400" dirty="0">
                <a:latin typeface="Calibri"/>
                <a:cs typeface="Calibri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CD7DE1C-C9AB-48DE-0ABD-D9A38DBB4074}"/>
              </a:ext>
            </a:extLst>
          </p:cNvPr>
          <p:cNvGrpSpPr/>
          <p:nvPr/>
        </p:nvGrpSpPr>
        <p:grpSpPr>
          <a:xfrm>
            <a:off x="92391" y="2899115"/>
            <a:ext cx="306705" cy="306705"/>
            <a:chOff x="92789" y="2128599"/>
            <a:chExt cx="306705" cy="306705"/>
          </a:xfrm>
        </p:grpSpPr>
        <p:sp>
          <p:nvSpPr>
            <p:cNvPr id="10" name="object 84">
              <a:extLst>
                <a:ext uri="{FF2B5EF4-FFF2-40B4-BE49-F238E27FC236}">
                  <a16:creationId xmlns:a16="http://schemas.microsoft.com/office/drawing/2014/main" id="{3643E63F-B914-90B1-A243-6F4D3863D31E}"/>
                </a:ext>
              </a:extLst>
            </p:cNvPr>
            <p:cNvSpPr/>
            <p:nvPr/>
          </p:nvSpPr>
          <p:spPr>
            <a:xfrm>
              <a:off x="92789" y="2128599"/>
              <a:ext cx="306705" cy="306705"/>
            </a:xfrm>
            <a:custGeom>
              <a:avLst/>
              <a:gdLst/>
              <a:ahLst/>
              <a:cxnLst/>
              <a:rect l="l" t="t" r="r" b="b"/>
              <a:pathLst>
                <a:path w="306705" h="306705">
                  <a:moveTo>
                    <a:pt x="153162" y="0"/>
                  </a:moveTo>
                  <a:lnTo>
                    <a:pt x="104748" y="7808"/>
                  </a:lnTo>
                  <a:lnTo>
                    <a:pt x="62704" y="29553"/>
                  </a:lnTo>
                  <a:lnTo>
                    <a:pt x="29549" y="62709"/>
                  </a:lnTo>
                  <a:lnTo>
                    <a:pt x="7807" y="104753"/>
                  </a:lnTo>
                  <a:lnTo>
                    <a:pt x="0" y="153162"/>
                  </a:lnTo>
                  <a:lnTo>
                    <a:pt x="7807" y="201570"/>
                  </a:lnTo>
                  <a:lnTo>
                    <a:pt x="29549" y="243614"/>
                  </a:lnTo>
                  <a:lnTo>
                    <a:pt x="62704" y="276770"/>
                  </a:lnTo>
                  <a:lnTo>
                    <a:pt x="104748" y="298515"/>
                  </a:lnTo>
                  <a:lnTo>
                    <a:pt x="153162" y="306323"/>
                  </a:lnTo>
                  <a:lnTo>
                    <a:pt x="201575" y="298515"/>
                  </a:lnTo>
                  <a:lnTo>
                    <a:pt x="243619" y="276770"/>
                  </a:lnTo>
                  <a:lnTo>
                    <a:pt x="276774" y="243614"/>
                  </a:lnTo>
                  <a:lnTo>
                    <a:pt x="298516" y="201570"/>
                  </a:lnTo>
                  <a:lnTo>
                    <a:pt x="306323" y="153162"/>
                  </a:lnTo>
                  <a:lnTo>
                    <a:pt x="298516" y="104753"/>
                  </a:lnTo>
                  <a:lnTo>
                    <a:pt x="276774" y="62709"/>
                  </a:lnTo>
                  <a:lnTo>
                    <a:pt x="243619" y="29553"/>
                  </a:lnTo>
                  <a:lnTo>
                    <a:pt x="201575" y="7808"/>
                  </a:lnTo>
                  <a:lnTo>
                    <a:pt x="153162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86">
              <a:extLst>
                <a:ext uri="{FF2B5EF4-FFF2-40B4-BE49-F238E27FC236}">
                  <a16:creationId xmlns:a16="http://schemas.microsoft.com/office/drawing/2014/main" id="{5C133FD5-0873-92E6-27F5-2C1E67C654AE}"/>
                </a:ext>
              </a:extLst>
            </p:cNvPr>
            <p:cNvSpPr txBox="1"/>
            <p:nvPr/>
          </p:nvSpPr>
          <p:spPr>
            <a:xfrm>
              <a:off x="188038" y="2162253"/>
              <a:ext cx="116205" cy="22890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US" sz="1400" b="1" spc="-50" dirty="0">
                  <a:solidFill>
                    <a:srgbClr val="FFFFFF"/>
                  </a:solidFill>
                  <a:latin typeface="Calibri"/>
                  <a:cs typeface="Calibri"/>
                </a:rPr>
                <a:t>2</a:t>
              </a:r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3E8BC8-F157-9DDC-A963-31B03C529790}"/>
              </a:ext>
            </a:extLst>
          </p:cNvPr>
          <p:cNvCxnSpPr>
            <a:cxnSpLocks/>
          </p:cNvCxnSpPr>
          <p:nvPr/>
        </p:nvCxnSpPr>
        <p:spPr>
          <a:xfrm>
            <a:off x="8862" y="2819400"/>
            <a:ext cx="12174276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object 82">
            <a:extLst>
              <a:ext uri="{FF2B5EF4-FFF2-40B4-BE49-F238E27FC236}">
                <a16:creationId xmlns:a16="http://schemas.microsoft.com/office/drawing/2014/main" id="{F6CE88FE-A481-4BBE-4872-D10AFE5885CA}"/>
              </a:ext>
            </a:extLst>
          </p:cNvPr>
          <p:cNvSpPr txBox="1"/>
          <p:nvPr/>
        </p:nvSpPr>
        <p:spPr>
          <a:xfrm>
            <a:off x="441052" y="2941039"/>
            <a:ext cx="2285997" cy="23660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450" b="1" spc="-10" dirty="0">
                <a:solidFill>
                  <a:srgbClr val="1F4E79"/>
                </a:solidFill>
                <a:latin typeface="Calibri"/>
                <a:cs typeface="Calibri"/>
              </a:rPr>
              <a:t>Key Risks of the Business</a:t>
            </a:r>
            <a:endParaRPr sz="1450" dirty="0">
              <a:latin typeface="Calibri"/>
              <a:cs typeface="Calibri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8DC0DF1-407C-AD35-837A-5995BBD7077D}"/>
              </a:ext>
            </a:extLst>
          </p:cNvPr>
          <p:cNvGrpSpPr/>
          <p:nvPr/>
        </p:nvGrpSpPr>
        <p:grpSpPr>
          <a:xfrm>
            <a:off x="8862" y="3253851"/>
            <a:ext cx="4028650" cy="595686"/>
            <a:chOff x="130621" y="3919580"/>
            <a:chExt cx="4720994" cy="645186"/>
          </a:xfrm>
        </p:grpSpPr>
        <p:pic>
          <p:nvPicPr>
            <p:cNvPr id="21" name="object 36">
              <a:extLst>
                <a:ext uri="{FF2B5EF4-FFF2-40B4-BE49-F238E27FC236}">
                  <a16:creationId xmlns:a16="http://schemas.microsoft.com/office/drawing/2014/main" id="{7E7E3530-87D6-6894-5601-DD07E3D74B6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621" y="3919580"/>
              <a:ext cx="4644010" cy="645186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57F4F3E-89EB-EB10-BB32-2AF0A086BD8B}"/>
                </a:ext>
              </a:extLst>
            </p:cNvPr>
            <p:cNvSpPr txBox="1"/>
            <p:nvPr/>
          </p:nvSpPr>
          <p:spPr>
            <a:xfrm>
              <a:off x="207604" y="3946237"/>
              <a:ext cx="4644011" cy="6150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30" b="1" dirty="0">
                  <a:solidFill>
                    <a:srgbClr val="FF0000"/>
                  </a:solidFill>
                </a:rPr>
                <a:t>Market risk</a:t>
              </a:r>
            </a:p>
            <a:p>
              <a:r>
                <a:rPr lang="en-US" sz="1030" b="1" dirty="0">
                  <a:solidFill>
                    <a:schemeClr val="bg1"/>
                  </a:solidFill>
                </a:rPr>
                <a:t>PMS exposed to fluctuations, economic conditions, global events.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D2C705C-DF17-5C5A-1FF4-7A11E6EBAFB2}"/>
              </a:ext>
            </a:extLst>
          </p:cNvPr>
          <p:cNvGrpSpPr/>
          <p:nvPr/>
        </p:nvGrpSpPr>
        <p:grpSpPr>
          <a:xfrm>
            <a:off x="6844" y="3874149"/>
            <a:ext cx="4030668" cy="595686"/>
            <a:chOff x="130621" y="3919580"/>
            <a:chExt cx="4720993" cy="645186"/>
          </a:xfrm>
        </p:grpSpPr>
        <p:pic>
          <p:nvPicPr>
            <p:cNvPr id="24" name="object 36">
              <a:extLst>
                <a:ext uri="{FF2B5EF4-FFF2-40B4-BE49-F238E27FC236}">
                  <a16:creationId xmlns:a16="http://schemas.microsoft.com/office/drawing/2014/main" id="{2C63FF12-1D8C-0604-A39F-6393F1A962E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621" y="3919580"/>
              <a:ext cx="4644010" cy="645186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AB15C24-0B2B-C7A6-8C57-E1337839258F}"/>
                </a:ext>
              </a:extLst>
            </p:cNvPr>
            <p:cNvSpPr txBox="1"/>
            <p:nvPr/>
          </p:nvSpPr>
          <p:spPr>
            <a:xfrm>
              <a:off x="207604" y="3946237"/>
              <a:ext cx="4644010" cy="6150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30" b="1" dirty="0">
                  <a:solidFill>
                    <a:srgbClr val="FF0000"/>
                  </a:solidFill>
                </a:rPr>
                <a:t>Risk of underperformance </a:t>
              </a:r>
            </a:p>
            <a:p>
              <a:r>
                <a:rPr lang="en-US" sz="1030" b="1" dirty="0">
                  <a:solidFill>
                    <a:schemeClr val="bg1"/>
                  </a:solidFill>
                </a:rPr>
                <a:t>No guaranteed PMS will outperform benchmarks consistently.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6346F9F-243D-67AF-730E-99AB0E9349C7}"/>
              </a:ext>
            </a:extLst>
          </p:cNvPr>
          <p:cNvGrpSpPr/>
          <p:nvPr/>
        </p:nvGrpSpPr>
        <p:grpSpPr>
          <a:xfrm>
            <a:off x="6844" y="4491221"/>
            <a:ext cx="4030668" cy="595686"/>
            <a:chOff x="130621" y="3919580"/>
            <a:chExt cx="4720993" cy="645186"/>
          </a:xfrm>
        </p:grpSpPr>
        <p:pic>
          <p:nvPicPr>
            <p:cNvPr id="28" name="object 36">
              <a:extLst>
                <a:ext uri="{FF2B5EF4-FFF2-40B4-BE49-F238E27FC236}">
                  <a16:creationId xmlns:a16="http://schemas.microsoft.com/office/drawing/2014/main" id="{CA4C4ABD-E2BB-226C-CEC5-51F66E3CAD3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621" y="3919580"/>
              <a:ext cx="4644010" cy="645186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7F9D30B-49A8-46CF-197D-D20C425A44EE}"/>
                </a:ext>
              </a:extLst>
            </p:cNvPr>
            <p:cNvSpPr txBox="1"/>
            <p:nvPr/>
          </p:nvSpPr>
          <p:spPr>
            <a:xfrm>
              <a:off x="207604" y="3946237"/>
              <a:ext cx="4644010" cy="4433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30" b="1" dirty="0">
                  <a:solidFill>
                    <a:srgbClr val="FF0000"/>
                  </a:solidFill>
                </a:rPr>
                <a:t>Fee structure </a:t>
              </a:r>
            </a:p>
            <a:p>
              <a:r>
                <a:rPr lang="en-US" sz="1030" b="1" dirty="0">
                  <a:solidFill>
                    <a:schemeClr val="bg1"/>
                  </a:solidFill>
                </a:rPr>
                <a:t>High fees can significantly erode returns generated by PMS.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114380B-2494-6152-C8B1-7B98530BCB4C}"/>
              </a:ext>
            </a:extLst>
          </p:cNvPr>
          <p:cNvGrpSpPr/>
          <p:nvPr/>
        </p:nvGrpSpPr>
        <p:grpSpPr>
          <a:xfrm>
            <a:off x="6844" y="5093929"/>
            <a:ext cx="4030668" cy="595686"/>
            <a:chOff x="130621" y="3919580"/>
            <a:chExt cx="4720993" cy="645186"/>
          </a:xfrm>
        </p:grpSpPr>
        <p:pic>
          <p:nvPicPr>
            <p:cNvPr id="31" name="object 36">
              <a:extLst>
                <a:ext uri="{FF2B5EF4-FFF2-40B4-BE49-F238E27FC236}">
                  <a16:creationId xmlns:a16="http://schemas.microsoft.com/office/drawing/2014/main" id="{123DAB57-00BC-D996-388B-38BC0E21633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621" y="3919580"/>
              <a:ext cx="4644010" cy="645186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C10BE32-C45D-1A0D-7362-A084D5E3D88E}"/>
                </a:ext>
              </a:extLst>
            </p:cNvPr>
            <p:cNvSpPr txBox="1"/>
            <p:nvPr/>
          </p:nvSpPr>
          <p:spPr>
            <a:xfrm>
              <a:off x="207604" y="3946237"/>
              <a:ext cx="4644010" cy="6150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30" b="1" dirty="0">
                  <a:solidFill>
                    <a:srgbClr val="FF0000"/>
                  </a:solidFill>
                </a:rPr>
                <a:t>Lack of liquidity</a:t>
              </a:r>
            </a:p>
            <a:p>
              <a:r>
                <a:rPr lang="en-US" sz="1030" b="1" dirty="0">
                  <a:solidFill>
                    <a:schemeClr val="bg1"/>
                  </a:solidFill>
                </a:rPr>
                <a:t>Illiquid assets may delay selling or cause suboptimal pricing.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7DEFE2F-DA14-CB98-D57B-F2E4D4AAB321}"/>
              </a:ext>
            </a:extLst>
          </p:cNvPr>
          <p:cNvGrpSpPr/>
          <p:nvPr/>
        </p:nvGrpSpPr>
        <p:grpSpPr>
          <a:xfrm>
            <a:off x="5707" y="5696637"/>
            <a:ext cx="4030668" cy="595686"/>
            <a:chOff x="130621" y="3919580"/>
            <a:chExt cx="4720993" cy="645186"/>
          </a:xfrm>
        </p:grpSpPr>
        <p:pic>
          <p:nvPicPr>
            <p:cNvPr id="34" name="object 36">
              <a:extLst>
                <a:ext uri="{FF2B5EF4-FFF2-40B4-BE49-F238E27FC236}">
                  <a16:creationId xmlns:a16="http://schemas.microsoft.com/office/drawing/2014/main" id="{806B9DEF-9219-21BE-CA04-25F97A80FBC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621" y="3919580"/>
              <a:ext cx="4644010" cy="645186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621D0ED-06A2-6520-4D02-784AC971D07F}"/>
                </a:ext>
              </a:extLst>
            </p:cNvPr>
            <p:cNvSpPr txBox="1"/>
            <p:nvPr/>
          </p:nvSpPr>
          <p:spPr>
            <a:xfrm>
              <a:off x="207604" y="3946237"/>
              <a:ext cx="4644010" cy="6150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30" b="1" dirty="0">
                  <a:solidFill>
                    <a:srgbClr val="FF0000"/>
                  </a:solidFill>
                </a:rPr>
                <a:t>Concentration risk</a:t>
              </a:r>
            </a:p>
            <a:p>
              <a:r>
                <a:rPr lang="en-US" sz="1030" b="1" dirty="0">
                  <a:solidFill>
                    <a:schemeClr val="bg1"/>
                  </a:solidFill>
                </a:rPr>
                <a:t>Concentrated positions in stocks/sectors heighten potential downturn impact.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25C6E6A8-4039-359A-0BBF-3F3119EE8536}"/>
              </a:ext>
            </a:extLst>
          </p:cNvPr>
          <p:cNvSpPr txBox="1"/>
          <p:nvPr/>
        </p:nvSpPr>
        <p:spPr>
          <a:xfrm>
            <a:off x="75982" y="6349813"/>
            <a:ext cx="3879395" cy="477054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lvl="0" algn="ctr"/>
            <a:r>
              <a:rPr lang="en-US" sz="1250" b="1" i="1" dirty="0">
                <a:solidFill>
                  <a:schemeClr val="accent2"/>
                </a:solidFill>
              </a:rPr>
              <a:t>Shifts in regulations can impact PMS operations and strategies.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1AE279B-9F3B-1DAE-DCAA-E2DCED3868E0}"/>
              </a:ext>
            </a:extLst>
          </p:cNvPr>
          <p:cNvCxnSpPr/>
          <p:nvPr/>
        </p:nvCxnSpPr>
        <p:spPr>
          <a:xfrm>
            <a:off x="4114800" y="2819400"/>
            <a:ext cx="0" cy="4038600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93F4F8E-9E88-C2FF-5BD3-A31AF0985FBA}"/>
              </a:ext>
            </a:extLst>
          </p:cNvPr>
          <p:cNvGrpSpPr/>
          <p:nvPr/>
        </p:nvGrpSpPr>
        <p:grpSpPr>
          <a:xfrm>
            <a:off x="4252008" y="2928062"/>
            <a:ext cx="306705" cy="306705"/>
            <a:chOff x="92789" y="2128599"/>
            <a:chExt cx="306705" cy="306705"/>
          </a:xfrm>
        </p:grpSpPr>
        <p:sp>
          <p:nvSpPr>
            <p:cNvPr id="46" name="object 84">
              <a:extLst>
                <a:ext uri="{FF2B5EF4-FFF2-40B4-BE49-F238E27FC236}">
                  <a16:creationId xmlns:a16="http://schemas.microsoft.com/office/drawing/2014/main" id="{2DAED69C-F02B-AB20-47F9-2A68C47F69E1}"/>
                </a:ext>
              </a:extLst>
            </p:cNvPr>
            <p:cNvSpPr/>
            <p:nvPr/>
          </p:nvSpPr>
          <p:spPr>
            <a:xfrm>
              <a:off x="92789" y="2128599"/>
              <a:ext cx="306705" cy="306705"/>
            </a:xfrm>
            <a:custGeom>
              <a:avLst/>
              <a:gdLst/>
              <a:ahLst/>
              <a:cxnLst/>
              <a:rect l="l" t="t" r="r" b="b"/>
              <a:pathLst>
                <a:path w="306705" h="306705">
                  <a:moveTo>
                    <a:pt x="153162" y="0"/>
                  </a:moveTo>
                  <a:lnTo>
                    <a:pt x="104748" y="7808"/>
                  </a:lnTo>
                  <a:lnTo>
                    <a:pt x="62704" y="29553"/>
                  </a:lnTo>
                  <a:lnTo>
                    <a:pt x="29549" y="62709"/>
                  </a:lnTo>
                  <a:lnTo>
                    <a:pt x="7807" y="104753"/>
                  </a:lnTo>
                  <a:lnTo>
                    <a:pt x="0" y="153162"/>
                  </a:lnTo>
                  <a:lnTo>
                    <a:pt x="7807" y="201570"/>
                  </a:lnTo>
                  <a:lnTo>
                    <a:pt x="29549" y="243614"/>
                  </a:lnTo>
                  <a:lnTo>
                    <a:pt x="62704" y="276770"/>
                  </a:lnTo>
                  <a:lnTo>
                    <a:pt x="104748" y="298515"/>
                  </a:lnTo>
                  <a:lnTo>
                    <a:pt x="153162" y="306323"/>
                  </a:lnTo>
                  <a:lnTo>
                    <a:pt x="201575" y="298515"/>
                  </a:lnTo>
                  <a:lnTo>
                    <a:pt x="243619" y="276770"/>
                  </a:lnTo>
                  <a:lnTo>
                    <a:pt x="276774" y="243614"/>
                  </a:lnTo>
                  <a:lnTo>
                    <a:pt x="298516" y="201570"/>
                  </a:lnTo>
                  <a:lnTo>
                    <a:pt x="306323" y="153162"/>
                  </a:lnTo>
                  <a:lnTo>
                    <a:pt x="298516" y="104753"/>
                  </a:lnTo>
                  <a:lnTo>
                    <a:pt x="276774" y="62709"/>
                  </a:lnTo>
                  <a:lnTo>
                    <a:pt x="243619" y="29553"/>
                  </a:lnTo>
                  <a:lnTo>
                    <a:pt x="201575" y="7808"/>
                  </a:lnTo>
                  <a:lnTo>
                    <a:pt x="153162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7" name="object 86">
              <a:extLst>
                <a:ext uri="{FF2B5EF4-FFF2-40B4-BE49-F238E27FC236}">
                  <a16:creationId xmlns:a16="http://schemas.microsoft.com/office/drawing/2014/main" id="{ED60E172-1F11-B727-17C7-A9917A3C601B}"/>
                </a:ext>
              </a:extLst>
            </p:cNvPr>
            <p:cNvSpPr txBox="1"/>
            <p:nvPr/>
          </p:nvSpPr>
          <p:spPr>
            <a:xfrm>
              <a:off x="188038" y="2162253"/>
              <a:ext cx="116205" cy="22890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US" sz="1400" b="1" spc="-50" dirty="0">
                  <a:solidFill>
                    <a:srgbClr val="FFFFFF"/>
                  </a:solidFill>
                  <a:latin typeface="Calibri"/>
                  <a:cs typeface="Calibri"/>
                </a:rPr>
                <a:t>3</a:t>
              </a:r>
            </a:p>
          </p:txBody>
        </p:sp>
      </p:grpSp>
      <p:sp>
        <p:nvSpPr>
          <p:cNvPr id="48" name="object 82">
            <a:extLst>
              <a:ext uri="{FF2B5EF4-FFF2-40B4-BE49-F238E27FC236}">
                <a16:creationId xmlns:a16="http://schemas.microsoft.com/office/drawing/2014/main" id="{A72F7C59-8E2C-5B96-6E3A-6A0CF9026CBF}"/>
              </a:ext>
            </a:extLst>
          </p:cNvPr>
          <p:cNvSpPr txBox="1"/>
          <p:nvPr/>
        </p:nvSpPr>
        <p:spPr>
          <a:xfrm>
            <a:off x="4554863" y="2943126"/>
            <a:ext cx="2285997" cy="23660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450" b="1" spc="-10" dirty="0">
                <a:solidFill>
                  <a:srgbClr val="1F4E79"/>
                </a:solidFill>
                <a:latin typeface="Calibri"/>
                <a:cs typeface="Calibri"/>
              </a:rPr>
              <a:t>Potential Synergies </a:t>
            </a:r>
            <a:endParaRPr sz="1450" dirty="0">
              <a:latin typeface="Calibri"/>
              <a:cs typeface="Calibri"/>
            </a:endParaRPr>
          </a:p>
        </p:txBody>
      </p:sp>
      <p:graphicFrame>
        <p:nvGraphicFramePr>
          <p:cNvPr id="52" name="Diagram 51">
            <a:extLst>
              <a:ext uri="{FF2B5EF4-FFF2-40B4-BE49-F238E27FC236}">
                <a16:creationId xmlns:a16="http://schemas.microsoft.com/office/drawing/2014/main" id="{A2F1212F-52F9-2D93-FEBC-3C5A44E127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3777526"/>
              </p:ext>
            </p:extLst>
          </p:nvPr>
        </p:nvGraphicFramePr>
        <p:xfrm>
          <a:off x="4252008" y="3278463"/>
          <a:ext cx="3419072" cy="35484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E7A9FB3-FA21-CB1D-64AF-595862825E87}"/>
              </a:ext>
            </a:extLst>
          </p:cNvPr>
          <p:cNvCxnSpPr/>
          <p:nvPr/>
        </p:nvCxnSpPr>
        <p:spPr>
          <a:xfrm>
            <a:off x="7714298" y="2819400"/>
            <a:ext cx="0" cy="4038600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AEBF805-6F0A-7E96-F741-88921FEB5361}"/>
              </a:ext>
            </a:extLst>
          </p:cNvPr>
          <p:cNvGrpSpPr/>
          <p:nvPr/>
        </p:nvGrpSpPr>
        <p:grpSpPr>
          <a:xfrm>
            <a:off x="7914034" y="2891885"/>
            <a:ext cx="306705" cy="306705"/>
            <a:chOff x="92789" y="2128599"/>
            <a:chExt cx="306705" cy="306705"/>
          </a:xfrm>
        </p:grpSpPr>
        <p:sp>
          <p:nvSpPr>
            <p:cNvPr id="55" name="object 84">
              <a:extLst>
                <a:ext uri="{FF2B5EF4-FFF2-40B4-BE49-F238E27FC236}">
                  <a16:creationId xmlns:a16="http://schemas.microsoft.com/office/drawing/2014/main" id="{4594EC86-3DDC-6085-50BB-9989AC86C9D8}"/>
                </a:ext>
              </a:extLst>
            </p:cNvPr>
            <p:cNvSpPr/>
            <p:nvPr/>
          </p:nvSpPr>
          <p:spPr>
            <a:xfrm>
              <a:off x="92789" y="2128599"/>
              <a:ext cx="306705" cy="306705"/>
            </a:xfrm>
            <a:custGeom>
              <a:avLst/>
              <a:gdLst/>
              <a:ahLst/>
              <a:cxnLst/>
              <a:rect l="l" t="t" r="r" b="b"/>
              <a:pathLst>
                <a:path w="306705" h="306705">
                  <a:moveTo>
                    <a:pt x="153162" y="0"/>
                  </a:moveTo>
                  <a:lnTo>
                    <a:pt x="104748" y="7808"/>
                  </a:lnTo>
                  <a:lnTo>
                    <a:pt x="62704" y="29553"/>
                  </a:lnTo>
                  <a:lnTo>
                    <a:pt x="29549" y="62709"/>
                  </a:lnTo>
                  <a:lnTo>
                    <a:pt x="7807" y="104753"/>
                  </a:lnTo>
                  <a:lnTo>
                    <a:pt x="0" y="153162"/>
                  </a:lnTo>
                  <a:lnTo>
                    <a:pt x="7807" y="201570"/>
                  </a:lnTo>
                  <a:lnTo>
                    <a:pt x="29549" y="243614"/>
                  </a:lnTo>
                  <a:lnTo>
                    <a:pt x="62704" y="276770"/>
                  </a:lnTo>
                  <a:lnTo>
                    <a:pt x="104748" y="298515"/>
                  </a:lnTo>
                  <a:lnTo>
                    <a:pt x="153162" y="306323"/>
                  </a:lnTo>
                  <a:lnTo>
                    <a:pt x="201575" y="298515"/>
                  </a:lnTo>
                  <a:lnTo>
                    <a:pt x="243619" y="276770"/>
                  </a:lnTo>
                  <a:lnTo>
                    <a:pt x="276774" y="243614"/>
                  </a:lnTo>
                  <a:lnTo>
                    <a:pt x="298516" y="201570"/>
                  </a:lnTo>
                  <a:lnTo>
                    <a:pt x="306323" y="153162"/>
                  </a:lnTo>
                  <a:lnTo>
                    <a:pt x="298516" y="104753"/>
                  </a:lnTo>
                  <a:lnTo>
                    <a:pt x="276774" y="62709"/>
                  </a:lnTo>
                  <a:lnTo>
                    <a:pt x="243619" y="29553"/>
                  </a:lnTo>
                  <a:lnTo>
                    <a:pt x="201575" y="7808"/>
                  </a:lnTo>
                  <a:lnTo>
                    <a:pt x="153162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6" name="object 86">
              <a:extLst>
                <a:ext uri="{FF2B5EF4-FFF2-40B4-BE49-F238E27FC236}">
                  <a16:creationId xmlns:a16="http://schemas.microsoft.com/office/drawing/2014/main" id="{ABA27088-018B-F617-0F8C-C8D7853DFEB9}"/>
                </a:ext>
              </a:extLst>
            </p:cNvPr>
            <p:cNvSpPr txBox="1"/>
            <p:nvPr/>
          </p:nvSpPr>
          <p:spPr>
            <a:xfrm>
              <a:off x="188038" y="2162253"/>
              <a:ext cx="116205" cy="22890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US" sz="1400" b="1" spc="-50" dirty="0">
                  <a:solidFill>
                    <a:srgbClr val="FFFFFF"/>
                  </a:solidFill>
                  <a:latin typeface="Calibri"/>
                  <a:cs typeface="Calibri"/>
                </a:rPr>
                <a:t>4</a:t>
              </a:r>
            </a:p>
          </p:txBody>
        </p:sp>
      </p:grpSp>
      <p:sp>
        <p:nvSpPr>
          <p:cNvPr id="57" name="object 82">
            <a:extLst>
              <a:ext uri="{FF2B5EF4-FFF2-40B4-BE49-F238E27FC236}">
                <a16:creationId xmlns:a16="http://schemas.microsoft.com/office/drawing/2014/main" id="{A132FC3C-26D9-AE10-1810-5B3B0D7C6505}"/>
              </a:ext>
            </a:extLst>
          </p:cNvPr>
          <p:cNvSpPr txBox="1"/>
          <p:nvPr/>
        </p:nvSpPr>
        <p:spPr>
          <a:xfrm>
            <a:off x="8534400" y="2910857"/>
            <a:ext cx="2285997" cy="23660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450" b="1" spc="-10" dirty="0">
                <a:solidFill>
                  <a:srgbClr val="1F4E79"/>
                </a:solidFill>
                <a:latin typeface="Calibri"/>
                <a:cs typeface="Calibri"/>
              </a:rPr>
              <a:t>Additional Considerations</a:t>
            </a:r>
            <a:endParaRPr sz="1450" dirty="0">
              <a:latin typeface="Calibri"/>
              <a:cs typeface="Calibri"/>
            </a:endParaRPr>
          </a:p>
        </p:txBody>
      </p:sp>
      <p:pic>
        <p:nvPicPr>
          <p:cNvPr id="58" name="object 41">
            <a:extLst>
              <a:ext uri="{FF2B5EF4-FFF2-40B4-BE49-F238E27FC236}">
                <a16:creationId xmlns:a16="http://schemas.microsoft.com/office/drawing/2014/main" id="{4669932F-5429-1C60-A1CC-D20F0A75B071}"/>
              </a:ext>
            </a:extLst>
          </p:cNvPr>
          <p:cNvPicPr/>
          <p:nvPr/>
        </p:nvPicPr>
        <p:blipFill>
          <a:blip r:embed="rId9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PastelsSmooth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67326" y="3238915"/>
            <a:ext cx="4206900" cy="2105277"/>
          </a:xfrm>
          <a:prstGeom prst="rect">
            <a:avLst/>
          </a:prstGeom>
          <a:ln w="57150">
            <a:solidFill>
              <a:schemeClr val="bg2"/>
            </a:solidFill>
          </a:ln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FFB0C622-2513-8C54-37BF-5FAEC21C4B22}"/>
              </a:ext>
            </a:extLst>
          </p:cNvPr>
          <p:cNvSpPr txBox="1"/>
          <p:nvPr/>
        </p:nvSpPr>
        <p:spPr>
          <a:xfrm>
            <a:off x="7910545" y="3232244"/>
            <a:ext cx="42069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C000"/>
                </a:solidFill>
              </a:rPr>
              <a:t>Integration Plan</a:t>
            </a:r>
          </a:p>
          <a:p>
            <a:r>
              <a:rPr lang="en-US" sz="1200" dirty="0"/>
              <a:t> </a:t>
            </a:r>
            <a:r>
              <a:rPr lang="en-US" sz="1200" dirty="0">
                <a:solidFill>
                  <a:schemeClr val="bg1"/>
                </a:solidFill>
              </a:rPr>
              <a:t>Detailed roadmap outlining smooth integration of operations, technology, and personnel.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b="1" dirty="0">
                <a:solidFill>
                  <a:srgbClr val="FFC000"/>
                </a:solidFill>
              </a:rPr>
              <a:t>Regulatory Approvals</a:t>
            </a:r>
          </a:p>
          <a:p>
            <a:r>
              <a:rPr lang="en-US" sz="1200" dirty="0">
                <a:solidFill>
                  <a:schemeClr val="bg1"/>
                </a:solidFill>
              </a:rPr>
              <a:t> Proactive engagement with relevant authorities to ensure timely clearance.</a:t>
            </a:r>
          </a:p>
          <a:p>
            <a:endParaRPr lang="en-US" sz="1200" dirty="0"/>
          </a:p>
          <a:p>
            <a:r>
              <a:rPr lang="en-US" sz="1200" b="1" dirty="0">
                <a:solidFill>
                  <a:srgbClr val="FFC000"/>
                </a:solidFill>
              </a:rPr>
              <a:t>Valuation</a:t>
            </a:r>
          </a:p>
          <a:p>
            <a:r>
              <a:rPr lang="en-US" sz="1200" dirty="0">
                <a:solidFill>
                  <a:schemeClr val="bg1"/>
                </a:solidFill>
              </a:rPr>
              <a:t>Rigorous assessment considering market comparable, growth potential, and synergies.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71579A6-7B39-7CE9-D821-E9D4949C6EF3}"/>
              </a:ext>
            </a:extLst>
          </p:cNvPr>
          <p:cNvCxnSpPr>
            <a:cxnSpLocks/>
          </p:cNvCxnSpPr>
          <p:nvPr/>
        </p:nvCxnSpPr>
        <p:spPr>
          <a:xfrm flipH="1">
            <a:off x="7751165" y="5486400"/>
            <a:ext cx="4429955" cy="0"/>
          </a:xfrm>
          <a:prstGeom prst="line">
            <a:avLst/>
          </a:prstGeom>
          <a:ln w="12700">
            <a:prstDash val="dash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5881D78-52A6-5471-447D-4B2B07BD4F30}"/>
              </a:ext>
            </a:extLst>
          </p:cNvPr>
          <p:cNvGrpSpPr/>
          <p:nvPr/>
        </p:nvGrpSpPr>
        <p:grpSpPr>
          <a:xfrm>
            <a:off x="7818783" y="5521750"/>
            <a:ext cx="306705" cy="306705"/>
            <a:chOff x="92789" y="2128599"/>
            <a:chExt cx="306705" cy="306705"/>
          </a:xfrm>
        </p:grpSpPr>
        <p:sp>
          <p:nvSpPr>
            <p:cNvPr id="64" name="object 84">
              <a:extLst>
                <a:ext uri="{FF2B5EF4-FFF2-40B4-BE49-F238E27FC236}">
                  <a16:creationId xmlns:a16="http://schemas.microsoft.com/office/drawing/2014/main" id="{C48DB017-B858-3E68-50F2-A228A27A9745}"/>
                </a:ext>
              </a:extLst>
            </p:cNvPr>
            <p:cNvSpPr/>
            <p:nvPr/>
          </p:nvSpPr>
          <p:spPr>
            <a:xfrm>
              <a:off x="92789" y="2128599"/>
              <a:ext cx="306705" cy="306705"/>
            </a:xfrm>
            <a:custGeom>
              <a:avLst/>
              <a:gdLst/>
              <a:ahLst/>
              <a:cxnLst/>
              <a:rect l="l" t="t" r="r" b="b"/>
              <a:pathLst>
                <a:path w="306705" h="306705">
                  <a:moveTo>
                    <a:pt x="153162" y="0"/>
                  </a:moveTo>
                  <a:lnTo>
                    <a:pt x="104748" y="7808"/>
                  </a:lnTo>
                  <a:lnTo>
                    <a:pt x="62704" y="29553"/>
                  </a:lnTo>
                  <a:lnTo>
                    <a:pt x="29549" y="62709"/>
                  </a:lnTo>
                  <a:lnTo>
                    <a:pt x="7807" y="104753"/>
                  </a:lnTo>
                  <a:lnTo>
                    <a:pt x="0" y="153162"/>
                  </a:lnTo>
                  <a:lnTo>
                    <a:pt x="7807" y="201570"/>
                  </a:lnTo>
                  <a:lnTo>
                    <a:pt x="29549" y="243614"/>
                  </a:lnTo>
                  <a:lnTo>
                    <a:pt x="62704" y="276770"/>
                  </a:lnTo>
                  <a:lnTo>
                    <a:pt x="104748" y="298515"/>
                  </a:lnTo>
                  <a:lnTo>
                    <a:pt x="153162" y="306323"/>
                  </a:lnTo>
                  <a:lnTo>
                    <a:pt x="201575" y="298515"/>
                  </a:lnTo>
                  <a:lnTo>
                    <a:pt x="243619" y="276770"/>
                  </a:lnTo>
                  <a:lnTo>
                    <a:pt x="276774" y="243614"/>
                  </a:lnTo>
                  <a:lnTo>
                    <a:pt x="298516" y="201570"/>
                  </a:lnTo>
                  <a:lnTo>
                    <a:pt x="306323" y="153162"/>
                  </a:lnTo>
                  <a:lnTo>
                    <a:pt x="298516" y="104753"/>
                  </a:lnTo>
                  <a:lnTo>
                    <a:pt x="276774" y="62709"/>
                  </a:lnTo>
                  <a:lnTo>
                    <a:pt x="243619" y="29553"/>
                  </a:lnTo>
                  <a:lnTo>
                    <a:pt x="201575" y="7808"/>
                  </a:lnTo>
                  <a:lnTo>
                    <a:pt x="153162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5" name="object 86">
              <a:extLst>
                <a:ext uri="{FF2B5EF4-FFF2-40B4-BE49-F238E27FC236}">
                  <a16:creationId xmlns:a16="http://schemas.microsoft.com/office/drawing/2014/main" id="{0BC31661-8940-75A4-35F4-CD9E65C4218D}"/>
                </a:ext>
              </a:extLst>
            </p:cNvPr>
            <p:cNvSpPr txBox="1"/>
            <p:nvPr/>
          </p:nvSpPr>
          <p:spPr>
            <a:xfrm>
              <a:off x="188038" y="2162253"/>
              <a:ext cx="116205" cy="228909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lang="en-US" sz="1400" b="1" spc="-50" dirty="0">
                  <a:solidFill>
                    <a:srgbClr val="FFFFFF"/>
                  </a:solidFill>
                  <a:latin typeface="Calibri"/>
                  <a:cs typeface="Calibri"/>
                </a:rPr>
                <a:t>5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DEFF21A8-72EB-BFE3-1BBB-6C02097CF177}"/>
              </a:ext>
            </a:extLst>
          </p:cNvPr>
          <p:cNvSpPr txBox="1"/>
          <p:nvPr/>
        </p:nvSpPr>
        <p:spPr>
          <a:xfrm>
            <a:off x="7760929" y="5949703"/>
            <a:ext cx="4376897" cy="800219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Dot"/>
          </a:ln>
        </p:spPr>
        <p:txBody>
          <a:bodyPr wrap="square">
            <a:spAutoFit/>
          </a:bodyPr>
          <a:lstStyle/>
          <a:p>
            <a:pPr algn="ctr"/>
            <a:r>
              <a:rPr lang="en-US" sz="115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The acquisition of Marcellus by Nomura represents a compelling strategic move with significant potential for value creation. A thorough due diligence process and a well-articulated integration plan are crucial for realizing the full benefits of this synergistic combination.</a:t>
            </a:r>
          </a:p>
        </p:txBody>
      </p:sp>
      <p:sp>
        <p:nvSpPr>
          <p:cNvPr id="68" name="object 82">
            <a:extLst>
              <a:ext uri="{FF2B5EF4-FFF2-40B4-BE49-F238E27FC236}">
                <a16:creationId xmlns:a16="http://schemas.microsoft.com/office/drawing/2014/main" id="{D16082E4-5198-677D-AD19-680730A1B86E}"/>
              </a:ext>
            </a:extLst>
          </p:cNvPr>
          <p:cNvSpPr txBox="1"/>
          <p:nvPr/>
        </p:nvSpPr>
        <p:spPr>
          <a:xfrm>
            <a:off x="8458200" y="5561168"/>
            <a:ext cx="2285997" cy="23660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450" b="1" spc="-10" dirty="0">
                <a:solidFill>
                  <a:srgbClr val="1F4E79"/>
                </a:solidFill>
                <a:latin typeface="Calibri"/>
                <a:cs typeface="Calibri"/>
              </a:rPr>
              <a:t>Recommendation</a:t>
            </a:r>
            <a:endParaRPr sz="1450" dirty="0">
              <a:latin typeface="Calibri"/>
              <a:cs typeface="Calibri"/>
            </a:endParaRPr>
          </a:p>
        </p:txBody>
      </p:sp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AB679913-086A-CCBE-543F-0EC968BE7A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790467"/>
              </p:ext>
            </p:extLst>
          </p:nvPr>
        </p:nvGraphicFramePr>
        <p:xfrm>
          <a:off x="-12094" y="712557"/>
          <a:ext cx="6717696" cy="201168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119616">
                  <a:extLst>
                    <a:ext uri="{9D8B030D-6E8A-4147-A177-3AD203B41FA5}">
                      <a16:colId xmlns:a16="http://schemas.microsoft.com/office/drawing/2014/main" val="2332903506"/>
                    </a:ext>
                  </a:extLst>
                </a:gridCol>
                <a:gridCol w="1119616">
                  <a:extLst>
                    <a:ext uri="{9D8B030D-6E8A-4147-A177-3AD203B41FA5}">
                      <a16:colId xmlns:a16="http://schemas.microsoft.com/office/drawing/2014/main" val="4230647965"/>
                    </a:ext>
                  </a:extLst>
                </a:gridCol>
                <a:gridCol w="1119616">
                  <a:extLst>
                    <a:ext uri="{9D8B030D-6E8A-4147-A177-3AD203B41FA5}">
                      <a16:colId xmlns:a16="http://schemas.microsoft.com/office/drawing/2014/main" val="2112980677"/>
                    </a:ext>
                  </a:extLst>
                </a:gridCol>
                <a:gridCol w="1119616">
                  <a:extLst>
                    <a:ext uri="{9D8B030D-6E8A-4147-A177-3AD203B41FA5}">
                      <a16:colId xmlns:a16="http://schemas.microsoft.com/office/drawing/2014/main" val="1580694647"/>
                    </a:ext>
                  </a:extLst>
                </a:gridCol>
                <a:gridCol w="1119616">
                  <a:extLst>
                    <a:ext uri="{9D8B030D-6E8A-4147-A177-3AD203B41FA5}">
                      <a16:colId xmlns:a16="http://schemas.microsoft.com/office/drawing/2014/main" val="2751665239"/>
                    </a:ext>
                  </a:extLst>
                </a:gridCol>
                <a:gridCol w="1119616">
                  <a:extLst>
                    <a:ext uri="{9D8B030D-6E8A-4147-A177-3AD203B41FA5}">
                      <a16:colId xmlns:a16="http://schemas.microsoft.com/office/drawing/2014/main" val="30375769"/>
                    </a:ext>
                  </a:extLst>
                </a:gridCol>
              </a:tblGrid>
              <a:tr h="6286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JM Financials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GEOJIT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ICICI</a:t>
                      </a:r>
                    </a:p>
                    <a:p>
                      <a:pPr algn="ctr"/>
                      <a:r>
                        <a:rPr lang="en-US" dirty="0"/>
                        <a:t>Securities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Motilal </a:t>
                      </a:r>
                      <a:r>
                        <a:rPr lang="en-US" dirty="0" err="1"/>
                        <a:t>Oswal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6836875"/>
                  </a:ext>
                </a:extLst>
              </a:tr>
              <a:tr h="62861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EV/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EBITDA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7.28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3.95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8.53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6.49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6.56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9663819"/>
                  </a:ext>
                </a:extLst>
              </a:tr>
              <a:tr h="35920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P/E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17.41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10.59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13.86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10.17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13.01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8676753"/>
                  </a:ext>
                </a:extLst>
              </a:tr>
              <a:tr h="35920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EV/AUM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0.01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0.38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0.06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0.19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989449"/>
                  </a:ext>
                </a:extLst>
              </a:tr>
            </a:tbl>
          </a:graphicData>
        </a:graphic>
      </p:graphicFrame>
      <p:graphicFrame>
        <p:nvGraphicFramePr>
          <p:cNvPr id="87" name="Table 86">
            <a:extLst>
              <a:ext uri="{FF2B5EF4-FFF2-40B4-BE49-F238E27FC236}">
                <a16:creationId xmlns:a16="http://schemas.microsoft.com/office/drawing/2014/main" id="{F93EB317-9DFF-9277-05C1-C430DFC3E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403766"/>
              </p:ext>
            </p:extLst>
          </p:nvPr>
        </p:nvGraphicFramePr>
        <p:xfrm>
          <a:off x="6835239" y="590300"/>
          <a:ext cx="2348088" cy="1219200"/>
        </p:xfrm>
        <a:graphic>
          <a:graphicData uri="http://schemas.openxmlformats.org/drawingml/2006/table">
            <a:tbl>
              <a:tblPr firstRow="1" bandRow="1">
                <a:tableStyleId>{D113A9D2-9D6B-4929-AA2D-F23B5EE8CBE7}</a:tableStyleId>
              </a:tblPr>
              <a:tblGrid>
                <a:gridCol w="1174044">
                  <a:extLst>
                    <a:ext uri="{9D8B030D-6E8A-4147-A177-3AD203B41FA5}">
                      <a16:colId xmlns:a16="http://schemas.microsoft.com/office/drawing/2014/main" val="4242171574"/>
                    </a:ext>
                  </a:extLst>
                </a:gridCol>
                <a:gridCol w="1174044">
                  <a:extLst>
                    <a:ext uri="{9D8B030D-6E8A-4147-A177-3AD203B41FA5}">
                      <a16:colId xmlns:a16="http://schemas.microsoft.com/office/drawing/2014/main" val="4224128849"/>
                    </a:ext>
                  </a:extLst>
                </a:gridCol>
              </a:tblGrid>
              <a:tr h="300471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674645"/>
                  </a:ext>
                </a:extLst>
              </a:tr>
              <a:tr h="300471">
                <a:tc>
                  <a:txBody>
                    <a:bodyPr/>
                    <a:lstStyle/>
                    <a:p>
                      <a:r>
                        <a:rPr lang="en-US" sz="1400" b="1" dirty="0"/>
                        <a:t>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562257"/>
                  </a:ext>
                </a:extLst>
              </a:tr>
              <a:tr h="300471">
                <a:tc>
                  <a:txBody>
                    <a:bodyPr/>
                    <a:lstStyle/>
                    <a:p>
                      <a:r>
                        <a:rPr lang="en-US" sz="1400" b="1" dirty="0"/>
                        <a:t>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7.781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818624"/>
                  </a:ext>
                </a:extLst>
              </a:tr>
              <a:tr h="300471">
                <a:tc>
                  <a:txBody>
                    <a:bodyPr/>
                    <a:lstStyle/>
                    <a:p>
                      <a:r>
                        <a:rPr lang="en-US" sz="1400" b="1" dirty="0"/>
                        <a:t>AUM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82864.80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228668"/>
                  </a:ext>
                </a:extLst>
              </a:tr>
            </a:tbl>
          </a:graphicData>
        </a:graphic>
      </p:graphicFrame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0F874B3D-791F-C6BE-FB6D-ED74798B72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239038"/>
              </p:ext>
            </p:extLst>
          </p:nvPr>
        </p:nvGraphicFramePr>
        <p:xfrm>
          <a:off x="9372599" y="337483"/>
          <a:ext cx="2676882" cy="143256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338441">
                  <a:extLst>
                    <a:ext uri="{9D8B030D-6E8A-4147-A177-3AD203B41FA5}">
                      <a16:colId xmlns:a16="http://schemas.microsoft.com/office/drawing/2014/main" val="4242171574"/>
                    </a:ext>
                  </a:extLst>
                </a:gridCol>
                <a:gridCol w="1338441">
                  <a:extLst>
                    <a:ext uri="{9D8B030D-6E8A-4147-A177-3AD203B41FA5}">
                      <a16:colId xmlns:a16="http://schemas.microsoft.com/office/drawing/2014/main" val="4224128849"/>
                    </a:ext>
                  </a:extLst>
                </a:gridCol>
              </a:tblGrid>
              <a:tr h="278873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674645"/>
                  </a:ext>
                </a:extLst>
              </a:tr>
              <a:tr h="278873">
                <a:tc>
                  <a:txBody>
                    <a:bodyPr/>
                    <a:lstStyle/>
                    <a:p>
                      <a:r>
                        <a:rPr lang="en-US" sz="1400" b="1" dirty="0"/>
                        <a:t>EV(EBITDA)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328.70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562257"/>
                  </a:ext>
                </a:extLst>
              </a:tr>
              <a:tr h="278873">
                <a:tc>
                  <a:txBody>
                    <a:bodyPr/>
                    <a:lstStyle/>
                    <a:p>
                      <a:r>
                        <a:rPr lang="en-US" sz="1400" b="1" dirty="0"/>
                        <a:t>SHARE PRICE AS PER P/E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101.21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818624"/>
                  </a:ext>
                </a:extLst>
              </a:tr>
              <a:tr h="278873">
                <a:tc>
                  <a:txBody>
                    <a:bodyPr/>
                    <a:lstStyle/>
                    <a:p>
                      <a:r>
                        <a:rPr lang="en-US" sz="1400" b="1" dirty="0"/>
                        <a:t>EV (AUM)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15525.76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228668"/>
                  </a:ext>
                </a:extLst>
              </a:tr>
            </a:tbl>
          </a:graphicData>
        </a:graphic>
      </p:graphicFrame>
      <p:sp>
        <p:nvSpPr>
          <p:cNvPr id="89" name="TextBox 88">
            <a:extLst>
              <a:ext uri="{FF2B5EF4-FFF2-40B4-BE49-F238E27FC236}">
                <a16:creationId xmlns:a16="http://schemas.microsoft.com/office/drawing/2014/main" id="{1F2B95ED-4EC2-6E37-10F3-3548717BBCB0}"/>
              </a:ext>
            </a:extLst>
          </p:cNvPr>
          <p:cNvSpPr txBox="1"/>
          <p:nvPr/>
        </p:nvSpPr>
        <p:spPr>
          <a:xfrm>
            <a:off x="6792296" y="1870291"/>
            <a:ext cx="5282206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2"/>
                </a:solidFill>
              </a:rPr>
              <a:t>Intrinsic Valuation(Discounted Cash Flow)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B416B89C-E9E9-3C84-F832-E157C9190F1B}"/>
              </a:ext>
            </a:extLst>
          </p:cNvPr>
          <p:cNvSpPr/>
          <p:nvPr/>
        </p:nvSpPr>
        <p:spPr>
          <a:xfrm>
            <a:off x="6934200" y="2172250"/>
            <a:ext cx="1447800" cy="41854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Present Value as per DCF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2F979BF-E1C5-8FB8-EEB4-DA6E0F3868CB}"/>
              </a:ext>
            </a:extLst>
          </p:cNvPr>
          <p:cNvSpPr txBox="1"/>
          <p:nvPr/>
        </p:nvSpPr>
        <p:spPr>
          <a:xfrm>
            <a:off x="8191169" y="2100115"/>
            <a:ext cx="15382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1881</a:t>
            </a:r>
          </a:p>
          <a:p>
            <a:pPr algn="ctr"/>
            <a:r>
              <a:rPr lang="en-US" sz="1200" dirty="0"/>
              <a:t>(in INR mn)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DB44AB54-8F72-462F-E824-166A88340AA6}"/>
              </a:ext>
            </a:extLst>
          </p:cNvPr>
          <p:cNvSpPr/>
          <p:nvPr/>
        </p:nvSpPr>
        <p:spPr>
          <a:xfrm>
            <a:off x="9674376" y="2134284"/>
            <a:ext cx="1065763" cy="41854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Intrinsic Value /share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AA44D56-6457-BB4E-42E3-4F1FCA480CA4}"/>
              </a:ext>
            </a:extLst>
          </p:cNvPr>
          <p:cNvSpPr txBox="1"/>
          <p:nvPr/>
        </p:nvSpPr>
        <p:spPr>
          <a:xfrm>
            <a:off x="10972800" y="2073112"/>
            <a:ext cx="9027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370.93</a:t>
            </a:r>
          </a:p>
          <a:p>
            <a:pPr algn="ctr"/>
            <a:r>
              <a:rPr lang="en-US" sz="1200" dirty="0"/>
              <a:t>(in INR )</a:t>
            </a:r>
          </a:p>
        </p:txBody>
      </p:sp>
    </p:spTree>
    <p:extLst>
      <p:ext uri="{BB962C8B-B14F-4D97-AF65-F5344CB8AC3E}">
        <p14:creationId xmlns:p14="http://schemas.microsoft.com/office/powerpoint/2010/main" val="766031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83" name="Rectangle 1082">
            <a:extLst>
              <a:ext uri="{FF2B5EF4-FFF2-40B4-BE49-F238E27FC236}">
                <a16:creationId xmlns:a16="http://schemas.microsoft.com/office/drawing/2014/main" id="{D880886B-02ED-4317-9236-CB60C22CF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2DBF33-E5A9-426A-DB50-69409E16FFAD}"/>
              </a:ext>
            </a:extLst>
          </p:cNvPr>
          <p:cNvSpPr txBox="1"/>
          <p:nvPr/>
        </p:nvSpPr>
        <p:spPr>
          <a:xfrm>
            <a:off x="640080" y="4419600"/>
            <a:ext cx="10908792" cy="1203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1026" name="Picture 2" descr="Nomura India's Head of Investment Banking Utpal Oza steps down: Report |  Company News - Business Standard">
            <a:extLst>
              <a:ext uri="{FF2B5EF4-FFF2-40B4-BE49-F238E27FC236}">
                <a16:creationId xmlns:a16="http://schemas.microsoft.com/office/drawing/2014/main" id="{1054066E-2699-495E-8CC9-674E50EE75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43"/>
          <a:stretch/>
        </p:blipFill>
        <p:spPr bwMode="auto">
          <a:xfrm>
            <a:off x="6" y="-11"/>
            <a:ext cx="6095994" cy="4194796"/>
          </a:xfrm>
          <a:custGeom>
            <a:avLst/>
            <a:gdLst/>
            <a:ahLst/>
            <a:cxnLst/>
            <a:rect l="l" t="t" r="r" b="b"/>
            <a:pathLst>
              <a:path w="6002835" h="4194796">
                <a:moveTo>
                  <a:pt x="0" y="0"/>
                </a:moveTo>
                <a:lnTo>
                  <a:pt x="5999418" y="0"/>
                </a:lnTo>
                <a:lnTo>
                  <a:pt x="5996190" y="32760"/>
                </a:lnTo>
                <a:cubicBezTo>
                  <a:pt x="5998706" y="293110"/>
                  <a:pt x="5983874" y="553460"/>
                  <a:pt x="5997116" y="813682"/>
                </a:cubicBezTo>
                <a:cubicBezTo>
                  <a:pt x="6007314" y="1015047"/>
                  <a:pt x="6000824" y="1216284"/>
                  <a:pt x="5997116" y="1417522"/>
                </a:cubicBezTo>
                <a:cubicBezTo>
                  <a:pt x="5989967" y="1803471"/>
                  <a:pt x="6000824" y="2188911"/>
                  <a:pt x="5996190" y="2574351"/>
                </a:cubicBezTo>
                <a:cubicBezTo>
                  <a:pt x="5994204" y="2745205"/>
                  <a:pt x="5996454" y="2915805"/>
                  <a:pt x="6000824" y="3086660"/>
                </a:cubicBezTo>
                <a:cubicBezTo>
                  <a:pt x="6007180" y="3330611"/>
                  <a:pt x="5997382" y="3574689"/>
                  <a:pt x="5986656" y="3818514"/>
                </a:cubicBezTo>
                <a:cubicBezTo>
                  <a:pt x="5983054" y="3885559"/>
                  <a:pt x="5982107" y="3952684"/>
                  <a:pt x="5983808" y="4019746"/>
                </a:cubicBezTo>
                <a:lnTo>
                  <a:pt x="5993788" y="4173418"/>
                </a:lnTo>
                <a:lnTo>
                  <a:pt x="5955106" y="4175101"/>
                </a:lnTo>
                <a:cubicBezTo>
                  <a:pt x="5890100" y="4175133"/>
                  <a:pt x="5825078" y="4173227"/>
                  <a:pt x="5760087" y="4171956"/>
                </a:cubicBezTo>
                <a:cubicBezTo>
                  <a:pt x="5521345" y="4167509"/>
                  <a:pt x="5282477" y="4171956"/>
                  <a:pt x="5044242" y="4149213"/>
                </a:cubicBezTo>
                <a:cubicBezTo>
                  <a:pt x="4979506" y="4143051"/>
                  <a:pt x="4914326" y="4139111"/>
                  <a:pt x="4849272" y="4139890"/>
                </a:cubicBezTo>
                <a:cubicBezTo>
                  <a:pt x="4784218" y="4140668"/>
                  <a:pt x="4719291" y="4146163"/>
                  <a:pt x="4655063" y="4158869"/>
                </a:cubicBezTo>
                <a:cubicBezTo>
                  <a:pt x="4447578" y="4199146"/>
                  <a:pt x="4239457" y="4201688"/>
                  <a:pt x="4029811" y="4185424"/>
                </a:cubicBezTo>
                <a:cubicBezTo>
                  <a:pt x="3943792" y="4178690"/>
                  <a:pt x="3857774" y="4167509"/>
                  <a:pt x="3771375" y="4169669"/>
                </a:cubicBezTo>
                <a:cubicBezTo>
                  <a:pt x="3623225" y="4173608"/>
                  <a:pt x="3474948" y="4165603"/>
                  <a:pt x="3326672" y="4167636"/>
                </a:cubicBezTo>
                <a:cubicBezTo>
                  <a:pt x="3322669" y="4168208"/>
                  <a:pt x="3318578" y="4167674"/>
                  <a:pt x="3314855" y="4166111"/>
                </a:cubicBezTo>
                <a:cubicBezTo>
                  <a:pt x="3278008" y="4140827"/>
                  <a:pt x="3237604" y="4150610"/>
                  <a:pt x="3199487" y="4157217"/>
                </a:cubicBezTo>
                <a:cubicBezTo>
                  <a:pt x="3072810" y="4179198"/>
                  <a:pt x="2946260" y="4189998"/>
                  <a:pt x="2817550" y="4172972"/>
                </a:cubicBezTo>
                <a:cubicBezTo>
                  <a:pt x="2694647" y="4155146"/>
                  <a:pt x="2569990" y="4152923"/>
                  <a:pt x="2446541" y="4166365"/>
                </a:cubicBezTo>
                <a:cubicBezTo>
                  <a:pt x="2276791" y="4186186"/>
                  <a:pt x="2107677" y="4181993"/>
                  <a:pt x="1938308" y="4166365"/>
                </a:cubicBezTo>
                <a:cubicBezTo>
                  <a:pt x="1869570" y="4160013"/>
                  <a:pt x="1799815" y="4149213"/>
                  <a:pt x="1731712" y="4165095"/>
                </a:cubicBezTo>
                <a:cubicBezTo>
                  <a:pt x="1647854" y="4184535"/>
                  <a:pt x="1564250" y="4178182"/>
                  <a:pt x="1480137" y="4173862"/>
                </a:cubicBezTo>
                <a:cubicBezTo>
                  <a:pt x="1373663" y="4168271"/>
                  <a:pt x="1267442" y="4152135"/>
                  <a:pt x="1160586" y="4164841"/>
                </a:cubicBezTo>
                <a:cubicBezTo>
                  <a:pt x="1111161" y="4170685"/>
                  <a:pt x="1062116" y="4179961"/>
                  <a:pt x="1012055" y="4177547"/>
                </a:cubicBezTo>
                <a:cubicBezTo>
                  <a:pt x="873562" y="4171194"/>
                  <a:pt x="735196" y="4163697"/>
                  <a:pt x="596449" y="4164841"/>
                </a:cubicBezTo>
                <a:cubicBezTo>
                  <a:pt x="538383" y="4165222"/>
                  <a:pt x="480699" y="4167128"/>
                  <a:pt x="422887" y="4171321"/>
                </a:cubicBezTo>
                <a:cubicBezTo>
                  <a:pt x="315015" y="4179198"/>
                  <a:pt x="207524" y="4168525"/>
                  <a:pt x="100033" y="4164714"/>
                </a:cubicBezTo>
                <a:lnTo>
                  <a:pt x="0" y="416919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y Japan 1970s, Not USA 1970s, is better guide for what lies ahead for  India">
            <a:extLst>
              <a:ext uri="{FF2B5EF4-FFF2-40B4-BE49-F238E27FC236}">
                <a16:creationId xmlns:a16="http://schemas.microsoft.com/office/drawing/2014/main" id="{AF1144ED-C0AA-0C26-5774-547A9DE57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5" r="11598" b="-1"/>
          <a:stretch/>
        </p:blipFill>
        <p:spPr bwMode="auto">
          <a:xfrm>
            <a:off x="6019800" y="12"/>
            <a:ext cx="6172195" cy="4186171"/>
          </a:xfrm>
          <a:custGeom>
            <a:avLst/>
            <a:gdLst/>
            <a:ahLst/>
            <a:cxnLst/>
            <a:rect l="l" t="t" r="r" b="b"/>
            <a:pathLst>
              <a:path w="6009490" h="4186171">
                <a:moveTo>
                  <a:pt x="9049" y="0"/>
                </a:moveTo>
                <a:lnTo>
                  <a:pt x="6009490" y="0"/>
                </a:lnTo>
                <a:lnTo>
                  <a:pt x="6009490" y="4168273"/>
                </a:lnTo>
                <a:lnTo>
                  <a:pt x="5803951" y="4172925"/>
                </a:lnTo>
                <a:cubicBezTo>
                  <a:pt x="5729787" y="4171950"/>
                  <a:pt x="5655658" y="4168322"/>
                  <a:pt x="5581704" y="4162045"/>
                </a:cubicBezTo>
                <a:cubicBezTo>
                  <a:pt x="5474340" y="4154041"/>
                  <a:pt x="5366086" y="4142987"/>
                  <a:pt x="5259485" y="4163316"/>
                </a:cubicBezTo>
                <a:cubicBezTo>
                  <a:pt x="5142465" y="4185805"/>
                  <a:pt x="5025571" y="4185932"/>
                  <a:pt x="4907534" y="4180215"/>
                </a:cubicBezTo>
                <a:cubicBezTo>
                  <a:pt x="4806650" y="4175387"/>
                  <a:pt x="4706147" y="4149975"/>
                  <a:pt x="4604501" y="4176784"/>
                </a:cubicBezTo>
                <a:cubicBezTo>
                  <a:pt x="4594387" y="4178258"/>
                  <a:pt x="4584082" y="4177826"/>
                  <a:pt x="4574133" y="4175514"/>
                </a:cubicBezTo>
                <a:cubicBezTo>
                  <a:pt x="4462958" y="4160140"/>
                  <a:pt x="4351020" y="4172718"/>
                  <a:pt x="4239463" y="4168398"/>
                </a:cubicBezTo>
                <a:cubicBezTo>
                  <a:pt x="4188005" y="4166365"/>
                  <a:pt x="4135530" y="4167509"/>
                  <a:pt x="4084706" y="4162045"/>
                </a:cubicBezTo>
                <a:cubicBezTo>
                  <a:pt x="3968067" y="4149594"/>
                  <a:pt x="3851682" y="4142987"/>
                  <a:pt x="3736314" y="4172337"/>
                </a:cubicBezTo>
                <a:cubicBezTo>
                  <a:pt x="3702643" y="4180253"/>
                  <a:pt x="3668235" y="4184509"/>
                  <a:pt x="3633650" y="4185043"/>
                </a:cubicBezTo>
                <a:cubicBezTo>
                  <a:pt x="3520696" y="4189109"/>
                  <a:pt x="3408122" y="4181358"/>
                  <a:pt x="3295549" y="4175005"/>
                </a:cubicBezTo>
                <a:cubicBezTo>
                  <a:pt x="3217408" y="4170558"/>
                  <a:pt x="3139394" y="4160902"/>
                  <a:pt x="3061127" y="4169034"/>
                </a:cubicBezTo>
                <a:cubicBezTo>
                  <a:pt x="3015640" y="4173735"/>
                  <a:pt x="2969772" y="4173735"/>
                  <a:pt x="2924285" y="4169034"/>
                </a:cubicBezTo>
                <a:cubicBezTo>
                  <a:pt x="2840452" y="4159212"/>
                  <a:pt x="2755870" y="4157382"/>
                  <a:pt x="2671694" y="4163570"/>
                </a:cubicBezTo>
                <a:cubicBezTo>
                  <a:pt x="2546033" y="4174370"/>
                  <a:pt x="2420500" y="4183391"/>
                  <a:pt x="2294459" y="4166238"/>
                </a:cubicBezTo>
                <a:cubicBezTo>
                  <a:pt x="2222976" y="4155006"/>
                  <a:pt x="2150298" y="4153685"/>
                  <a:pt x="2078460" y="4162300"/>
                </a:cubicBezTo>
                <a:cubicBezTo>
                  <a:pt x="1907313" y="4186314"/>
                  <a:pt x="1735785" y="4178563"/>
                  <a:pt x="1564257" y="4168653"/>
                </a:cubicBezTo>
                <a:cubicBezTo>
                  <a:pt x="1449650" y="4161918"/>
                  <a:pt x="1334536" y="4149594"/>
                  <a:pt x="1220183" y="4165857"/>
                </a:cubicBezTo>
                <a:cubicBezTo>
                  <a:pt x="1074321" y="4186186"/>
                  <a:pt x="928331" y="4179452"/>
                  <a:pt x="782087" y="4173481"/>
                </a:cubicBezTo>
                <a:cubicBezTo>
                  <a:pt x="674723" y="4169034"/>
                  <a:pt x="567232" y="4155565"/>
                  <a:pt x="459614" y="4172210"/>
                </a:cubicBezTo>
                <a:cubicBezTo>
                  <a:pt x="448535" y="4173722"/>
                  <a:pt x="437265" y="4172591"/>
                  <a:pt x="426706" y="4168907"/>
                </a:cubicBezTo>
                <a:cubicBezTo>
                  <a:pt x="385869" y="4155464"/>
                  <a:pt x="342085" y="4153660"/>
                  <a:pt x="300283" y="4163697"/>
                </a:cubicBezTo>
                <a:cubicBezTo>
                  <a:pt x="223159" y="4180596"/>
                  <a:pt x="146162" y="4187965"/>
                  <a:pt x="67640" y="4172591"/>
                </a:cubicBezTo>
                <a:lnTo>
                  <a:pt x="14015" y="4169393"/>
                </a:lnTo>
                <a:lnTo>
                  <a:pt x="28554" y="3856095"/>
                </a:lnTo>
                <a:cubicBezTo>
                  <a:pt x="30458" y="3735660"/>
                  <a:pt x="27412" y="3615306"/>
                  <a:pt x="15626" y="3495237"/>
                </a:cubicBezTo>
                <a:cubicBezTo>
                  <a:pt x="-847" y="3348740"/>
                  <a:pt x="-4304" y="3201174"/>
                  <a:pt x="5296" y="3054118"/>
                </a:cubicBezTo>
                <a:cubicBezTo>
                  <a:pt x="11786" y="2969961"/>
                  <a:pt x="18539" y="2885804"/>
                  <a:pt x="22776" y="2801522"/>
                </a:cubicBezTo>
                <a:cubicBezTo>
                  <a:pt x="28180" y="2681630"/>
                  <a:pt x="25173" y="2561524"/>
                  <a:pt x="13771" y="2442014"/>
                </a:cubicBezTo>
                <a:cubicBezTo>
                  <a:pt x="4237" y="2350879"/>
                  <a:pt x="3177" y="2259120"/>
                  <a:pt x="10593" y="2167807"/>
                </a:cubicBezTo>
                <a:cubicBezTo>
                  <a:pt x="25690" y="2012336"/>
                  <a:pt x="9931" y="1856863"/>
                  <a:pt x="5032" y="1701516"/>
                </a:cubicBezTo>
                <a:cubicBezTo>
                  <a:pt x="-3577" y="1415742"/>
                  <a:pt x="20393" y="1130095"/>
                  <a:pt x="9666" y="844320"/>
                </a:cubicBezTo>
                <a:cubicBezTo>
                  <a:pt x="3841" y="702958"/>
                  <a:pt x="16420" y="561723"/>
                  <a:pt x="9666" y="420361"/>
                </a:cubicBezTo>
                <a:cubicBezTo>
                  <a:pt x="4105" y="319805"/>
                  <a:pt x="397" y="219250"/>
                  <a:pt x="4105" y="118568"/>
                </a:cubicBezTo>
                <a:cubicBezTo>
                  <a:pt x="5164" y="91109"/>
                  <a:pt x="5826" y="63523"/>
                  <a:pt x="9534" y="36446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5" name="sketch line">
            <a:extLst>
              <a:ext uri="{FF2B5EF4-FFF2-40B4-BE49-F238E27FC236}">
                <a16:creationId xmlns:a16="http://schemas.microsoft.com/office/drawing/2014/main" id="{28C31856-6ABF-41FD-B683-B06E5FFF9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8439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357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682</TotalTime>
  <Words>843</Words>
  <Application>Microsoft Office PowerPoint</Application>
  <PresentationFormat>Widescreen</PresentationFormat>
  <Paragraphs>192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Arial MT</vt:lpstr>
      <vt:lpstr>Calibri</vt:lpstr>
      <vt:lpstr>Inter</vt:lpstr>
      <vt:lpstr>Office Theme</vt:lpstr>
      <vt:lpstr>PowerPoint Presentation</vt:lpstr>
      <vt:lpstr>Industry Overview</vt:lpstr>
      <vt:lpstr>Company Overview</vt:lpstr>
      <vt:lpstr>Deal Overview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MAYANK SHARMA</dc:creator>
  <cp:lastModifiedBy>Mayank Sharma</cp:lastModifiedBy>
  <cp:revision>5</cp:revision>
  <dcterms:created xsi:type="dcterms:W3CDTF">2024-02-29T09:55:21Z</dcterms:created>
  <dcterms:modified xsi:type="dcterms:W3CDTF">2024-07-20T18:41:19Z</dcterms:modified>
</cp:coreProperties>
</file>