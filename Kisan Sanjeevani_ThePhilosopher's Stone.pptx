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1" r:id="rId2"/>
    <p:sldId id="256" r:id="rId3"/>
    <p:sldId id="262" r:id="rId4"/>
    <p:sldId id="259" r:id="rId5"/>
    <p:sldId id="257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8478"/>
    <a:srgbClr val="52B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7B5F21-B17D-4D65-AD2A-F9EDBA26571F}" v="50" dt="2024-07-27T21:53:44.3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80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Sharma" userId="4cba9c93c0a4f770" providerId="LiveId" clId="{B07B5F21-B17D-4D65-AD2A-F9EDBA26571F}"/>
    <pc:docChg chg="undo custSel modSld">
      <pc:chgData name="Mayank Sharma" userId="4cba9c93c0a4f770" providerId="LiveId" clId="{B07B5F21-B17D-4D65-AD2A-F9EDBA26571F}" dt="2024-07-27T21:53:44.354" v="61" actId="20577"/>
      <pc:docMkLst>
        <pc:docMk/>
      </pc:docMkLst>
      <pc:sldChg chg="addSp delSp modSp mod">
        <pc:chgData name="Mayank Sharma" userId="4cba9c93c0a4f770" providerId="LiveId" clId="{B07B5F21-B17D-4D65-AD2A-F9EDBA26571F}" dt="2024-07-27T21:53:44.354" v="61" actId="20577"/>
        <pc:sldMkLst>
          <pc:docMk/>
          <pc:sldMk cId="1261896504" sldId="262"/>
        </pc:sldMkLst>
        <pc:spChg chg="mod">
          <ac:chgData name="Mayank Sharma" userId="4cba9c93c0a4f770" providerId="LiveId" clId="{B07B5F21-B17D-4D65-AD2A-F9EDBA26571F}" dt="2024-07-27T21:46:32.861" v="10" actId="14100"/>
          <ac:spMkLst>
            <pc:docMk/>
            <pc:sldMk cId="1261896504" sldId="262"/>
            <ac:spMk id="8" creationId="{158E8D32-ED41-2693-7119-7CF097F4FB98}"/>
          </ac:spMkLst>
        </pc:spChg>
        <pc:spChg chg="mod">
          <ac:chgData name="Mayank Sharma" userId="4cba9c93c0a4f770" providerId="LiveId" clId="{B07B5F21-B17D-4D65-AD2A-F9EDBA26571F}" dt="2024-07-27T21:44:57.799" v="9" actId="20577"/>
          <ac:spMkLst>
            <pc:docMk/>
            <pc:sldMk cId="1261896504" sldId="262"/>
            <ac:spMk id="82" creationId="{D05ECE0C-1158-1428-7AB9-FA10BD3F253E}"/>
          </ac:spMkLst>
        </pc:spChg>
        <pc:grpChg chg="add del mod">
          <ac:chgData name="Mayank Sharma" userId="4cba9c93c0a4f770" providerId="LiveId" clId="{B07B5F21-B17D-4D65-AD2A-F9EDBA26571F}" dt="2024-07-27T21:53:37.364" v="57" actId="478"/>
          <ac:grpSpMkLst>
            <pc:docMk/>
            <pc:sldMk cId="1261896504" sldId="262"/>
            <ac:grpSpMk id="2248" creationId="{65A7F610-C588-FD25-F698-2E95C75DFBFD}"/>
          </ac:grpSpMkLst>
        </pc:grpChg>
        <pc:graphicFrameChg chg="mod">
          <ac:chgData name="Mayank Sharma" userId="4cba9c93c0a4f770" providerId="LiveId" clId="{B07B5F21-B17D-4D65-AD2A-F9EDBA26571F}" dt="2024-07-27T21:53:44.354" v="61" actId="20577"/>
          <ac:graphicFrameMkLst>
            <pc:docMk/>
            <pc:sldMk cId="1261896504" sldId="262"/>
            <ac:graphicFrameMk id="70" creationId="{B87E469E-3B43-6B42-EF1E-15DD8E08D12B}"/>
          </ac:graphicFrameMkLst>
        </pc:graphicFrameChg>
        <pc:graphicFrameChg chg="mod">
          <ac:chgData name="Mayank Sharma" userId="4cba9c93c0a4f770" providerId="LiveId" clId="{B07B5F21-B17D-4D65-AD2A-F9EDBA26571F}" dt="2024-07-27T21:48:31.279" v="11" actId="164"/>
          <ac:graphicFrameMkLst>
            <pc:docMk/>
            <pc:sldMk cId="1261896504" sldId="262"/>
            <ac:graphicFrameMk id="72" creationId="{E623B9F2-1F2B-23C2-1F62-6F42E5416958}"/>
          </ac:graphicFrameMkLst>
        </pc:graphicFrameChg>
        <pc:picChg chg="mod">
          <ac:chgData name="Mayank Sharma" userId="4cba9c93c0a4f770" providerId="LiveId" clId="{B07B5F21-B17D-4D65-AD2A-F9EDBA26571F}" dt="2024-07-27T21:48:31.279" v="11" actId="164"/>
          <ac:picMkLst>
            <pc:docMk/>
            <pc:sldMk cId="1261896504" sldId="262"/>
            <ac:picMk id="158" creationId="{7F3F69B5-D7B2-F9F0-CD45-3BB6D77B35DF}"/>
          </ac:picMkLst>
        </pc:picChg>
      </pc:sldChg>
    </pc:docChg>
  </pc:docChgLst>
</pc:chgInfo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06C65A-A72B-4D22-9D04-32952F062ADB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14B8E53-15C5-4101-B181-298CA47D486A}">
      <dgm:prSet custT="1"/>
      <dgm:spPr/>
      <dgm:t>
        <a:bodyPr/>
        <a:lstStyle/>
        <a:p>
          <a:r>
            <a:rPr lang="en-US" sz="1200"/>
            <a:t>Reduced Income due to unsold grains</a:t>
          </a:r>
        </a:p>
      </dgm:t>
    </dgm:pt>
    <dgm:pt modelId="{BD2BA405-20A4-4964-B84B-9CB12494E87A}" type="parTrans" cxnId="{415F4176-FD12-4FF1-B31E-81D00BC8C0A7}">
      <dgm:prSet/>
      <dgm:spPr/>
      <dgm:t>
        <a:bodyPr/>
        <a:lstStyle/>
        <a:p>
          <a:endParaRPr lang="en-US" sz="1200"/>
        </a:p>
      </dgm:t>
    </dgm:pt>
    <dgm:pt modelId="{ACD00BD6-01BA-403E-B707-05C15FE455AC}" type="sibTrans" cxnId="{415F4176-FD12-4FF1-B31E-81D00BC8C0A7}">
      <dgm:prSet/>
      <dgm:spPr/>
      <dgm:t>
        <a:bodyPr/>
        <a:lstStyle/>
        <a:p>
          <a:endParaRPr lang="en-US" sz="1200"/>
        </a:p>
      </dgm:t>
    </dgm:pt>
    <dgm:pt modelId="{4AD74A07-FB77-4095-AAEA-A1892A377493}">
      <dgm:prSet custT="1"/>
      <dgm:spPr/>
      <dgm:t>
        <a:bodyPr/>
        <a:lstStyle/>
        <a:p>
          <a:r>
            <a:rPr lang="en-US" sz="1200"/>
            <a:t>Unsold surplus triggers borrowing, creating debt trap </a:t>
          </a:r>
        </a:p>
      </dgm:t>
    </dgm:pt>
    <dgm:pt modelId="{36FA99F3-E4A1-4930-9F63-2EACE1F28A55}" type="parTrans" cxnId="{5F4B9CB2-5EF1-4323-A204-30983327BDC9}">
      <dgm:prSet/>
      <dgm:spPr/>
      <dgm:t>
        <a:bodyPr/>
        <a:lstStyle/>
        <a:p>
          <a:endParaRPr lang="en-US" sz="1200"/>
        </a:p>
      </dgm:t>
    </dgm:pt>
    <dgm:pt modelId="{ABB6050E-71E5-4FD9-BAB1-5435A043DF1C}" type="sibTrans" cxnId="{5F4B9CB2-5EF1-4323-A204-30983327BDC9}">
      <dgm:prSet/>
      <dgm:spPr/>
      <dgm:t>
        <a:bodyPr/>
        <a:lstStyle/>
        <a:p>
          <a:endParaRPr lang="en-US" sz="1200"/>
        </a:p>
      </dgm:t>
    </dgm:pt>
    <dgm:pt modelId="{338A3A58-E016-4147-A81A-042CBAB86B9F}">
      <dgm:prSet custT="1"/>
      <dgm:spPr/>
      <dgm:t>
        <a:bodyPr/>
        <a:lstStyle/>
        <a:p>
          <a:r>
            <a:rPr lang="en-US" sz="1200"/>
            <a:t>Lack of a suitable platform for selling spoiled grains</a:t>
          </a:r>
        </a:p>
      </dgm:t>
    </dgm:pt>
    <dgm:pt modelId="{20A8951A-CE6B-4F0C-8228-1A2BC502C3F3}" type="parTrans" cxnId="{64678B9E-00BF-444D-938A-492970C29532}">
      <dgm:prSet/>
      <dgm:spPr/>
      <dgm:t>
        <a:bodyPr/>
        <a:lstStyle/>
        <a:p>
          <a:endParaRPr lang="en-US" sz="1200"/>
        </a:p>
      </dgm:t>
    </dgm:pt>
    <dgm:pt modelId="{E21FB769-5188-4810-8D9A-ED940BC04B24}" type="sibTrans" cxnId="{64678B9E-00BF-444D-938A-492970C29532}">
      <dgm:prSet/>
      <dgm:spPr/>
      <dgm:t>
        <a:bodyPr/>
        <a:lstStyle/>
        <a:p>
          <a:endParaRPr lang="en-US" sz="1200"/>
        </a:p>
      </dgm:t>
    </dgm:pt>
    <dgm:pt modelId="{7F608D8E-5199-4660-B788-6C53625F17B8}">
      <dgm:prSet custT="1"/>
      <dgm:spPr/>
      <dgm:t>
        <a:bodyPr/>
        <a:lstStyle/>
        <a:p>
          <a:r>
            <a:rPr lang="en-US" sz="1200"/>
            <a:t>Stress and anxiety from inability to repay debt</a:t>
          </a:r>
        </a:p>
      </dgm:t>
    </dgm:pt>
    <dgm:pt modelId="{E7F9B828-F733-4BAA-A234-CF82CF8B67D5}" type="parTrans" cxnId="{4BE0AE9C-6E89-4830-A4A9-B548C0EE2B2F}">
      <dgm:prSet/>
      <dgm:spPr/>
      <dgm:t>
        <a:bodyPr/>
        <a:lstStyle/>
        <a:p>
          <a:endParaRPr lang="en-US" sz="1200"/>
        </a:p>
      </dgm:t>
    </dgm:pt>
    <dgm:pt modelId="{95E5C434-F432-48A3-B80C-D1FFF2B14ACE}" type="sibTrans" cxnId="{4BE0AE9C-6E89-4830-A4A9-B548C0EE2B2F}">
      <dgm:prSet/>
      <dgm:spPr/>
      <dgm:t>
        <a:bodyPr/>
        <a:lstStyle/>
        <a:p>
          <a:endParaRPr lang="en-US" sz="1200"/>
        </a:p>
      </dgm:t>
    </dgm:pt>
    <dgm:pt modelId="{DBECF875-4BA2-4A91-AA36-CDAC6F331E4E}" type="pres">
      <dgm:prSet presAssocID="{AD06C65A-A72B-4D22-9D04-32952F062ADB}" presName="linear" presStyleCnt="0">
        <dgm:presLayoutVars>
          <dgm:animLvl val="lvl"/>
          <dgm:resizeHandles val="exact"/>
        </dgm:presLayoutVars>
      </dgm:prSet>
      <dgm:spPr/>
    </dgm:pt>
    <dgm:pt modelId="{6798F45D-E956-4A09-95C8-CDA6538CA8BA}" type="pres">
      <dgm:prSet presAssocID="{514B8E53-15C5-4101-B181-298CA47D48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1C3469-DF2D-44B2-B60C-865345A30A0E}" type="pres">
      <dgm:prSet presAssocID="{ACD00BD6-01BA-403E-B707-05C15FE455AC}" presName="spacer" presStyleCnt="0"/>
      <dgm:spPr/>
    </dgm:pt>
    <dgm:pt modelId="{343EB2E1-2B4C-40E4-A784-6A165C174356}" type="pres">
      <dgm:prSet presAssocID="{4AD74A07-FB77-4095-AAEA-A1892A3774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CBBF9B-6B9E-4531-A7BF-922D79483238}" type="pres">
      <dgm:prSet presAssocID="{ABB6050E-71E5-4FD9-BAB1-5435A043DF1C}" presName="spacer" presStyleCnt="0"/>
      <dgm:spPr/>
    </dgm:pt>
    <dgm:pt modelId="{77FD575F-1BCC-40E8-890E-4EA40AE581B4}" type="pres">
      <dgm:prSet presAssocID="{338A3A58-E016-4147-A81A-042CBAB86B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6447C5-9612-4DD8-B93A-A8DBCC5DEB54}" type="pres">
      <dgm:prSet presAssocID="{E21FB769-5188-4810-8D9A-ED940BC04B24}" presName="spacer" presStyleCnt="0"/>
      <dgm:spPr/>
    </dgm:pt>
    <dgm:pt modelId="{6E7E81DA-871D-4E71-97B3-92B7DFCF1533}" type="pres">
      <dgm:prSet presAssocID="{7F608D8E-5199-4660-B788-6C53625F17B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AB0D11-B1B0-46E6-ABF6-9A248FB8DB44}" type="presOf" srcId="{338A3A58-E016-4147-A81A-042CBAB86B9F}" destId="{77FD575F-1BCC-40E8-890E-4EA40AE581B4}" srcOrd="0" destOrd="0" presId="urn:microsoft.com/office/officeart/2005/8/layout/vList2"/>
    <dgm:cxn modelId="{5A1A281A-C78D-460F-8637-826C66C3158A}" type="presOf" srcId="{514B8E53-15C5-4101-B181-298CA47D486A}" destId="{6798F45D-E956-4A09-95C8-CDA6538CA8BA}" srcOrd="0" destOrd="0" presId="urn:microsoft.com/office/officeart/2005/8/layout/vList2"/>
    <dgm:cxn modelId="{B393974E-3897-4581-8EF1-D713F31E50E7}" type="presOf" srcId="{AD06C65A-A72B-4D22-9D04-32952F062ADB}" destId="{DBECF875-4BA2-4A91-AA36-CDAC6F331E4E}" srcOrd="0" destOrd="0" presId="urn:microsoft.com/office/officeart/2005/8/layout/vList2"/>
    <dgm:cxn modelId="{415F4176-FD12-4FF1-B31E-81D00BC8C0A7}" srcId="{AD06C65A-A72B-4D22-9D04-32952F062ADB}" destId="{514B8E53-15C5-4101-B181-298CA47D486A}" srcOrd="0" destOrd="0" parTransId="{BD2BA405-20A4-4964-B84B-9CB12494E87A}" sibTransId="{ACD00BD6-01BA-403E-B707-05C15FE455AC}"/>
    <dgm:cxn modelId="{0A26E983-B542-46B2-8F4E-237EE3C268A0}" type="presOf" srcId="{4AD74A07-FB77-4095-AAEA-A1892A377493}" destId="{343EB2E1-2B4C-40E4-A784-6A165C174356}" srcOrd="0" destOrd="0" presId="urn:microsoft.com/office/officeart/2005/8/layout/vList2"/>
    <dgm:cxn modelId="{E2D6F58A-AFF1-418D-89A9-295C96630B61}" type="presOf" srcId="{7F608D8E-5199-4660-B788-6C53625F17B8}" destId="{6E7E81DA-871D-4E71-97B3-92B7DFCF1533}" srcOrd="0" destOrd="0" presId="urn:microsoft.com/office/officeart/2005/8/layout/vList2"/>
    <dgm:cxn modelId="{4BE0AE9C-6E89-4830-A4A9-B548C0EE2B2F}" srcId="{AD06C65A-A72B-4D22-9D04-32952F062ADB}" destId="{7F608D8E-5199-4660-B788-6C53625F17B8}" srcOrd="3" destOrd="0" parTransId="{E7F9B828-F733-4BAA-A234-CF82CF8B67D5}" sibTransId="{95E5C434-F432-48A3-B80C-D1FFF2B14ACE}"/>
    <dgm:cxn modelId="{64678B9E-00BF-444D-938A-492970C29532}" srcId="{AD06C65A-A72B-4D22-9D04-32952F062ADB}" destId="{338A3A58-E016-4147-A81A-042CBAB86B9F}" srcOrd="2" destOrd="0" parTransId="{20A8951A-CE6B-4F0C-8228-1A2BC502C3F3}" sibTransId="{E21FB769-5188-4810-8D9A-ED940BC04B24}"/>
    <dgm:cxn modelId="{5F4B9CB2-5EF1-4323-A204-30983327BDC9}" srcId="{AD06C65A-A72B-4D22-9D04-32952F062ADB}" destId="{4AD74A07-FB77-4095-AAEA-A1892A377493}" srcOrd="1" destOrd="0" parTransId="{36FA99F3-E4A1-4930-9F63-2EACE1F28A55}" sibTransId="{ABB6050E-71E5-4FD9-BAB1-5435A043DF1C}"/>
    <dgm:cxn modelId="{53F6C0CF-0E97-407C-A8CD-80CF907A2B69}" type="presParOf" srcId="{DBECF875-4BA2-4A91-AA36-CDAC6F331E4E}" destId="{6798F45D-E956-4A09-95C8-CDA6538CA8BA}" srcOrd="0" destOrd="0" presId="urn:microsoft.com/office/officeart/2005/8/layout/vList2"/>
    <dgm:cxn modelId="{3839746A-3629-4570-AD19-DF08B3A24D93}" type="presParOf" srcId="{DBECF875-4BA2-4A91-AA36-CDAC6F331E4E}" destId="{351C3469-DF2D-44B2-B60C-865345A30A0E}" srcOrd="1" destOrd="0" presId="urn:microsoft.com/office/officeart/2005/8/layout/vList2"/>
    <dgm:cxn modelId="{11C657F1-96D6-4CE2-9AC6-7DE589E4690E}" type="presParOf" srcId="{DBECF875-4BA2-4A91-AA36-CDAC6F331E4E}" destId="{343EB2E1-2B4C-40E4-A784-6A165C174356}" srcOrd="2" destOrd="0" presId="urn:microsoft.com/office/officeart/2005/8/layout/vList2"/>
    <dgm:cxn modelId="{0A09EA0E-9C1A-4981-8619-E3CCE488EFFE}" type="presParOf" srcId="{DBECF875-4BA2-4A91-AA36-CDAC6F331E4E}" destId="{8CCBBF9B-6B9E-4531-A7BF-922D79483238}" srcOrd="3" destOrd="0" presId="urn:microsoft.com/office/officeart/2005/8/layout/vList2"/>
    <dgm:cxn modelId="{81D78731-8311-4F40-9308-6E28ABC71F82}" type="presParOf" srcId="{DBECF875-4BA2-4A91-AA36-CDAC6F331E4E}" destId="{77FD575F-1BCC-40E8-890E-4EA40AE581B4}" srcOrd="4" destOrd="0" presId="urn:microsoft.com/office/officeart/2005/8/layout/vList2"/>
    <dgm:cxn modelId="{6FE3CDEA-3004-4EEA-9E40-169E05847529}" type="presParOf" srcId="{DBECF875-4BA2-4A91-AA36-CDAC6F331E4E}" destId="{476447C5-9612-4DD8-B93A-A8DBCC5DEB54}" srcOrd="5" destOrd="0" presId="urn:microsoft.com/office/officeart/2005/8/layout/vList2"/>
    <dgm:cxn modelId="{8CB32CB1-883B-48DD-B1ED-5DB1E52C2253}" type="presParOf" srcId="{DBECF875-4BA2-4A91-AA36-CDAC6F331E4E}" destId="{6E7E81DA-871D-4E71-97B3-92B7DFCF15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A35DE5-2E28-4C6D-A62C-0A4DE6E46BE2}" type="doc">
      <dgm:prSet loTypeId="urn:microsoft.com/office/officeart/2005/8/layout/hList6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B3D8BC-C48D-4375-991D-142F0D51C047}">
      <dgm:prSet/>
      <dgm:spPr/>
      <dgm:t>
        <a:bodyPr/>
        <a:lstStyle/>
        <a:p>
          <a:r>
            <a:rPr lang="en-US"/>
            <a:t>Struggles to secure competitive grain prices</a:t>
          </a:r>
          <a:br>
            <a:rPr lang="en-US"/>
          </a:br>
          <a:r>
            <a:rPr lang="en-US"/>
            <a:t>Lack of efficient marketplaces for grain procurement</a:t>
          </a:r>
        </a:p>
      </dgm:t>
    </dgm:pt>
    <dgm:pt modelId="{1B08FC15-EB0B-4299-91EA-494EB8A8642E}" type="parTrans" cxnId="{45646544-3108-43C7-A3AF-FF83E967D133}">
      <dgm:prSet/>
      <dgm:spPr/>
      <dgm:t>
        <a:bodyPr/>
        <a:lstStyle/>
        <a:p>
          <a:endParaRPr lang="en-US"/>
        </a:p>
      </dgm:t>
    </dgm:pt>
    <dgm:pt modelId="{549CEFFE-46D0-46A8-B344-8F0A8539C7FC}" type="sibTrans" cxnId="{45646544-3108-43C7-A3AF-FF83E967D133}">
      <dgm:prSet/>
      <dgm:spPr/>
      <dgm:t>
        <a:bodyPr/>
        <a:lstStyle/>
        <a:p>
          <a:endParaRPr lang="en-US"/>
        </a:p>
      </dgm:t>
    </dgm:pt>
    <dgm:pt modelId="{9C1BBF6D-6C80-4517-991B-DB90CF687E55}">
      <dgm:prSet/>
      <dgm:spPr/>
      <dgm:t>
        <a:bodyPr/>
        <a:lstStyle/>
        <a:p>
          <a:r>
            <a:rPr lang="en-US"/>
            <a:t>Spoiled grain supply is erratic</a:t>
          </a:r>
        </a:p>
      </dgm:t>
    </dgm:pt>
    <dgm:pt modelId="{557C03D6-5528-49A8-9465-FC233C092A30}" type="parTrans" cxnId="{00D92C19-F3D6-4C25-9AD2-7628C433CC59}">
      <dgm:prSet/>
      <dgm:spPr/>
      <dgm:t>
        <a:bodyPr/>
        <a:lstStyle/>
        <a:p>
          <a:endParaRPr lang="en-US"/>
        </a:p>
      </dgm:t>
    </dgm:pt>
    <dgm:pt modelId="{6A4D8D33-E00F-4F14-A816-E113D343800E}" type="sibTrans" cxnId="{00D92C19-F3D6-4C25-9AD2-7628C433CC59}">
      <dgm:prSet/>
      <dgm:spPr/>
      <dgm:t>
        <a:bodyPr/>
        <a:lstStyle/>
        <a:p>
          <a:endParaRPr lang="en-US"/>
        </a:p>
      </dgm:t>
    </dgm:pt>
    <dgm:pt modelId="{A72D6C4C-CF6B-4AEB-AB67-AD0E01090FC9}">
      <dgm:prSet/>
      <dgm:spPr/>
      <dgm:t>
        <a:bodyPr/>
        <a:lstStyle/>
        <a:p>
          <a:r>
            <a:rPr lang="en-US"/>
            <a:t>Challenges in aligning farmer production with industry demand</a:t>
          </a:r>
        </a:p>
      </dgm:t>
    </dgm:pt>
    <dgm:pt modelId="{5EA99143-932E-476D-B9C1-F4FC900727C3}" type="parTrans" cxnId="{35DD8D11-FC65-4011-9A19-F2DD62553810}">
      <dgm:prSet/>
      <dgm:spPr/>
      <dgm:t>
        <a:bodyPr/>
        <a:lstStyle/>
        <a:p>
          <a:endParaRPr lang="en-US"/>
        </a:p>
      </dgm:t>
    </dgm:pt>
    <dgm:pt modelId="{B9DF456B-AE53-457C-9FFE-7E215C7FA608}" type="sibTrans" cxnId="{35DD8D11-FC65-4011-9A19-F2DD62553810}">
      <dgm:prSet/>
      <dgm:spPr/>
      <dgm:t>
        <a:bodyPr/>
        <a:lstStyle/>
        <a:p>
          <a:endParaRPr lang="en-US"/>
        </a:p>
      </dgm:t>
    </dgm:pt>
    <dgm:pt modelId="{92154BD5-F757-4F3E-A1F3-247EA5002780}" type="pres">
      <dgm:prSet presAssocID="{4BA35DE5-2E28-4C6D-A62C-0A4DE6E46BE2}" presName="Name0" presStyleCnt="0">
        <dgm:presLayoutVars>
          <dgm:dir/>
          <dgm:resizeHandles val="exact"/>
        </dgm:presLayoutVars>
      </dgm:prSet>
      <dgm:spPr/>
    </dgm:pt>
    <dgm:pt modelId="{FB0F225A-9319-4DBF-A70A-813A2FEDEB82}" type="pres">
      <dgm:prSet presAssocID="{C4B3D8BC-C48D-4375-991D-142F0D51C047}" presName="node" presStyleLbl="node1" presStyleIdx="0" presStyleCnt="3">
        <dgm:presLayoutVars>
          <dgm:bulletEnabled val="1"/>
        </dgm:presLayoutVars>
      </dgm:prSet>
      <dgm:spPr/>
    </dgm:pt>
    <dgm:pt modelId="{480FC548-82D1-46D3-986B-79A5C2846E89}" type="pres">
      <dgm:prSet presAssocID="{549CEFFE-46D0-46A8-B344-8F0A8539C7FC}" presName="sibTrans" presStyleCnt="0"/>
      <dgm:spPr/>
    </dgm:pt>
    <dgm:pt modelId="{705FAED7-D084-450C-824E-A1F93A7CB56C}" type="pres">
      <dgm:prSet presAssocID="{9C1BBF6D-6C80-4517-991B-DB90CF687E55}" presName="node" presStyleLbl="node1" presStyleIdx="1" presStyleCnt="3">
        <dgm:presLayoutVars>
          <dgm:bulletEnabled val="1"/>
        </dgm:presLayoutVars>
      </dgm:prSet>
      <dgm:spPr/>
    </dgm:pt>
    <dgm:pt modelId="{FF1FE2CC-28E5-4A29-9A0A-51EF6CC6C5D0}" type="pres">
      <dgm:prSet presAssocID="{6A4D8D33-E00F-4F14-A816-E113D343800E}" presName="sibTrans" presStyleCnt="0"/>
      <dgm:spPr/>
    </dgm:pt>
    <dgm:pt modelId="{F27C8862-5B31-4161-998A-21E6C0DD22E3}" type="pres">
      <dgm:prSet presAssocID="{A72D6C4C-CF6B-4AEB-AB67-AD0E01090FC9}" presName="node" presStyleLbl="node1" presStyleIdx="2" presStyleCnt="3">
        <dgm:presLayoutVars>
          <dgm:bulletEnabled val="1"/>
        </dgm:presLayoutVars>
      </dgm:prSet>
      <dgm:spPr/>
    </dgm:pt>
  </dgm:ptLst>
  <dgm:cxnLst>
    <dgm:cxn modelId="{31D01901-34D1-496F-8D89-87A389FEB812}" type="presOf" srcId="{4BA35DE5-2E28-4C6D-A62C-0A4DE6E46BE2}" destId="{92154BD5-F757-4F3E-A1F3-247EA5002780}" srcOrd="0" destOrd="0" presId="urn:microsoft.com/office/officeart/2005/8/layout/hList6"/>
    <dgm:cxn modelId="{35DD8D11-FC65-4011-9A19-F2DD62553810}" srcId="{4BA35DE5-2E28-4C6D-A62C-0A4DE6E46BE2}" destId="{A72D6C4C-CF6B-4AEB-AB67-AD0E01090FC9}" srcOrd="2" destOrd="0" parTransId="{5EA99143-932E-476D-B9C1-F4FC900727C3}" sibTransId="{B9DF456B-AE53-457C-9FFE-7E215C7FA608}"/>
    <dgm:cxn modelId="{00D92C19-F3D6-4C25-9AD2-7628C433CC59}" srcId="{4BA35DE5-2E28-4C6D-A62C-0A4DE6E46BE2}" destId="{9C1BBF6D-6C80-4517-991B-DB90CF687E55}" srcOrd="1" destOrd="0" parTransId="{557C03D6-5528-49A8-9465-FC233C092A30}" sibTransId="{6A4D8D33-E00F-4F14-A816-E113D343800E}"/>
    <dgm:cxn modelId="{45646544-3108-43C7-A3AF-FF83E967D133}" srcId="{4BA35DE5-2E28-4C6D-A62C-0A4DE6E46BE2}" destId="{C4B3D8BC-C48D-4375-991D-142F0D51C047}" srcOrd="0" destOrd="0" parTransId="{1B08FC15-EB0B-4299-91EA-494EB8A8642E}" sibTransId="{549CEFFE-46D0-46A8-B344-8F0A8539C7FC}"/>
    <dgm:cxn modelId="{58343683-FA0B-4FBB-8303-737FC7254906}" type="presOf" srcId="{C4B3D8BC-C48D-4375-991D-142F0D51C047}" destId="{FB0F225A-9319-4DBF-A70A-813A2FEDEB82}" srcOrd="0" destOrd="0" presId="urn:microsoft.com/office/officeart/2005/8/layout/hList6"/>
    <dgm:cxn modelId="{D47E3AAC-01B1-4CD2-B8BE-C9E3EB6DD3C1}" type="presOf" srcId="{A72D6C4C-CF6B-4AEB-AB67-AD0E01090FC9}" destId="{F27C8862-5B31-4161-998A-21E6C0DD22E3}" srcOrd="0" destOrd="0" presId="urn:microsoft.com/office/officeart/2005/8/layout/hList6"/>
    <dgm:cxn modelId="{F8925DD0-B38F-4476-864A-EC1597FF57B5}" type="presOf" srcId="{9C1BBF6D-6C80-4517-991B-DB90CF687E55}" destId="{705FAED7-D084-450C-824E-A1F93A7CB56C}" srcOrd="0" destOrd="0" presId="urn:microsoft.com/office/officeart/2005/8/layout/hList6"/>
    <dgm:cxn modelId="{CECC7697-F2EC-4917-AE78-77FE8E4069BD}" type="presParOf" srcId="{92154BD5-F757-4F3E-A1F3-247EA5002780}" destId="{FB0F225A-9319-4DBF-A70A-813A2FEDEB82}" srcOrd="0" destOrd="0" presId="urn:microsoft.com/office/officeart/2005/8/layout/hList6"/>
    <dgm:cxn modelId="{A44E6AB1-6F5E-4393-B798-1CD3157098F4}" type="presParOf" srcId="{92154BD5-F757-4F3E-A1F3-247EA5002780}" destId="{480FC548-82D1-46D3-986B-79A5C2846E89}" srcOrd="1" destOrd="0" presId="urn:microsoft.com/office/officeart/2005/8/layout/hList6"/>
    <dgm:cxn modelId="{8721A8B0-FFFD-46CC-9462-7A64A18DCBB4}" type="presParOf" srcId="{92154BD5-F757-4F3E-A1F3-247EA5002780}" destId="{705FAED7-D084-450C-824E-A1F93A7CB56C}" srcOrd="2" destOrd="0" presId="urn:microsoft.com/office/officeart/2005/8/layout/hList6"/>
    <dgm:cxn modelId="{62A79F47-B133-40B3-848A-79504C56009D}" type="presParOf" srcId="{92154BD5-F757-4F3E-A1F3-247EA5002780}" destId="{FF1FE2CC-28E5-4A29-9A0A-51EF6CC6C5D0}" srcOrd="3" destOrd="0" presId="urn:microsoft.com/office/officeart/2005/8/layout/hList6"/>
    <dgm:cxn modelId="{69922939-67B6-49E2-B09B-CCFC0134901B}" type="presParOf" srcId="{92154BD5-F757-4F3E-A1F3-247EA5002780}" destId="{F27C8862-5B31-4161-998A-21E6C0DD22E3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58DC34-6DA4-4954-966D-7D88335F6C61}" type="doc">
      <dgm:prSet loTypeId="urn:microsoft.com/office/officeart/2005/8/layout/orgChart1" loCatId="hierarchy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9780169-1660-49BA-8D8A-2B2410B64FE3}">
      <dgm:prSet custT="1"/>
      <dgm:spPr/>
      <dgm:t>
        <a:bodyPr/>
        <a:lstStyle/>
        <a:p>
          <a:r>
            <a:rPr lang="en-US" sz="1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Farmer’s</a:t>
          </a:r>
        </a:p>
        <a:p>
          <a:r>
            <a:rPr lang="en-US" sz="1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income</a:t>
          </a:r>
        </a:p>
      </dgm:t>
    </dgm:pt>
    <dgm:pt modelId="{830E755D-A006-47AF-A603-2F83189D553A}" type="parTrans" cxnId="{1C3E67FC-4B14-4790-8C40-6F8ED819A4CD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62E32D-B281-4C60-99EF-120B1718F211}" type="sibTrans" cxnId="{1C3E67FC-4B14-4790-8C40-6F8ED819A4CD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3EA618E-D5DA-47DB-A99E-74A257ED8CDA}">
      <dgm:prSet custT="1"/>
      <dgm:spPr/>
      <dgm:t>
        <a:bodyPr/>
        <a:lstStyle/>
        <a:p>
          <a:r>
            <a:rPr lang="en-US" sz="1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Risks food security</a:t>
          </a:r>
        </a:p>
      </dgm:t>
    </dgm:pt>
    <dgm:pt modelId="{EF869CCC-82B2-4B53-92A5-8F9D18D0F673}" type="parTrans" cxnId="{51B317C5-4B43-4CEB-B189-C1250A241632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B8A5E6-E2E1-402C-A1B3-5F68E67577B7}" type="sibTrans" cxnId="{51B317C5-4B43-4CEB-B189-C1250A241632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E085B1-E480-4A92-906A-840C57850D54}">
      <dgm:prSet custT="1"/>
      <dgm:spPr/>
      <dgm:t>
        <a:bodyPr/>
        <a:lstStyle/>
        <a:p>
          <a:r>
            <a:rPr lang="en-US" sz="1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Distorts the </a:t>
          </a:r>
        </a:p>
        <a:p>
          <a:r>
            <a:rPr lang="en-US" sz="11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market</a:t>
          </a:r>
        </a:p>
      </dgm:t>
    </dgm:pt>
    <dgm:pt modelId="{5E3A4BD0-33FE-4517-9CC3-4418F0E631F3}" type="parTrans" cxnId="{C1AB1AB5-5285-43E3-B633-BC0BAA77ACDD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2984472-0C3F-4155-8D13-BCC885BBCCB3}" type="sibTrans" cxnId="{C1AB1AB5-5285-43E3-B633-BC0BAA77ACDD}">
      <dgm:prSet/>
      <dgm:spPr/>
      <dgm:t>
        <a:bodyPr/>
        <a:lstStyle/>
        <a:p>
          <a:endParaRPr lang="en-US" sz="11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DF6F26-A4E7-482F-9773-78186C3A623C}" type="pres">
      <dgm:prSet presAssocID="{7758DC34-6DA4-4954-966D-7D88335F6C6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BCDF4F8-B422-46C6-9493-EF4C1D1B47A3}" type="pres">
      <dgm:prSet presAssocID="{39780169-1660-49BA-8D8A-2B2410B64FE3}" presName="hierRoot1" presStyleCnt="0">
        <dgm:presLayoutVars>
          <dgm:hierBranch val="init"/>
        </dgm:presLayoutVars>
      </dgm:prSet>
      <dgm:spPr/>
    </dgm:pt>
    <dgm:pt modelId="{7E2BD368-A98F-43A8-8CB6-AB3C0CEF1CA4}" type="pres">
      <dgm:prSet presAssocID="{39780169-1660-49BA-8D8A-2B2410B64FE3}" presName="rootComposite1" presStyleCnt="0"/>
      <dgm:spPr/>
    </dgm:pt>
    <dgm:pt modelId="{27B1FD71-2564-4746-8F40-5953BBF9D2C0}" type="pres">
      <dgm:prSet presAssocID="{39780169-1660-49BA-8D8A-2B2410B64FE3}" presName="rootText1" presStyleLbl="node0" presStyleIdx="0" presStyleCnt="3">
        <dgm:presLayoutVars>
          <dgm:chPref val="3"/>
        </dgm:presLayoutVars>
      </dgm:prSet>
      <dgm:spPr/>
    </dgm:pt>
    <dgm:pt modelId="{E27C8E5F-1E88-486C-923E-8AC74D634B5C}" type="pres">
      <dgm:prSet presAssocID="{39780169-1660-49BA-8D8A-2B2410B64FE3}" presName="rootConnector1" presStyleLbl="node1" presStyleIdx="0" presStyleCnt="0"/>
      <dgm:spPr/>
    </dgm:pt>
    <dgm:pt modelId="{8EB7BBD2-0466-43A1-9919-09436C34DF42}" type="pres">
      <dgm:prSet presAssocID="{39780169-1660-49BA-8D8A-2B2410B64FE3}" presName="hierChild2" presStyleCnt="0"/>
      <dgm:spPr/>
    </dgm:pt>
    <dgm:pt modelId="{775BD031-483B-4AB2-A4FF-86D129B0BC90}" type="pres">
      <dgm:prSet presAssocID="{39780169-1660-49BA-8D8A-2B2410B64FE3}" presName="hierChild3" presStyleCnt="0"/>
      <dgm:spPr/>
    </dgm:pt>
    <dgm:pt modelId="{BF753C7D-C067-4225-982A-EDA793F25605}" type="pres">
      <dgm:prSet presAssocID="{D3EA618E-D5DA-47DB-A99E-74A257ED8CDA}" presName="hierRoot1" presStyleCnt="0">
        <dgm:presLayoutVars>
          <dgm:hierBranch val="init"/>
        </dgm:presLayoutVars>
      </dgm:prSet>
      <dgm:spPr/>
    </dgm:pt>
    <dgm:pt modelId="{2F423107-9650-46B2-A0DE-9E2CDE18ACAD}" type="pres">
      <dgm:prSet presAssocID="{D3EA618E-D5DA-47DB-A99E-74A257ED8CDA}" presName="rootComposite1" presStyleCnt="0"/>
      <dgm:spPr/>
    </dgm:pt>
    <dgm:pt modelId="{5FF1F127-F006-4E10-9597-979D3022FC4C}" type="pres">
      <dgm:prSet presAssocID="{D3EA618E-D5DA-47DB-A99E-74A257ED8CDA}" presName="rootText1" presStyleLbl="node0" presStyleIdx="1" presStyleCnt="3">
        <dgm:presLayoutVars>
          <dgm:chPref val="3"/>
        </dgm:presLayoutVars>
      </dgm:prSet>
      <dgm:spPr/>
    </dgm:pt>
    <dgm:pt modelId="{B9A44035-FDFA-44AA-AED0-1D686E35F364}" type="pres">
      <dgm:prSet presAssocID="{D3EA618E-D5DA-47DB-A99E-74A257ED8CDA}" presName="rootConnector1" presStyleLbl="node1" presStyleIdx="0" presStyleCnt="0"/>
      <dgm:spPr/>
    </dgm:pt>
    <dgm:pt modelId="{2066EEC8-610E-427B-9C9F-B88F66E5FA79}" type="pres">
      <dgm:prSet presAssocID="{D3EA618E-D5DA-47DB-A99E-74A257ED8CDA}" presName="hierChild2" presStyleCnt="0"/>
      <dgm:spPr/>
    </dgm:pt>
    <dgm:pt modelId="{2DD203A6-4C7F-48A3-82E1-45FBCCC6AB25}" type="pres">
      <dgm:prSet presAssocID="{D3EA618E-D5DA-47DB-A99E-74A257ED8CDA}" presName="hierChild3" presStyleCnt="0"/>
      <dgm:spPr/>
    </dgm:pt>
    <dgm:pt modelId="{D5A32C17-DD9B-4F26-8531-6C89E4C3C1F1}" type="pres">
      <dgm:prSet presAssocID="{FBE085B1-E480-4A92-906A-840C57850D54}" presName="hierRoot1" presStyleCnt="0">
        <dgm:presLayoutVars>
          <dgm:hierBranch val="init"/>
        </dgm:presLayoutVars>
      </dgm:prSet>
      <dgm:spPr/>
    </dgm:pt>
    <dgm:pt modelId="{C8A888EB-F61E-49FD-BCE7-383DEE08F137}" type="pres">
      <dgm:prSet presAssocID="{FBE085B1-E480-4A92-906A-840C57850D54}" presName="rootComposite1" presStyleCnt="0"/>
      <dgm:spPr/>
    </dgm:pt>
    <dgm:pt modelId="{8031DBEF-C192-4FD7-8683-0542E56FA190}" type="pres">
      <dgm:prSet presAssocID="{FBE085B1-E480-4A92-906A-840C57850D54}" presName="rootText1" presStyleLbl="node0" presStyleIdx="2" presStyleCnt="3">
        <dgm:presLayoutVars>
          <dgm:chPref val="3"/>
        </dgm:presLayoutVars>
      </dgm:prSet>
      <dgm:spPr/>
    </dgm:pt>
    <dgm:pt modelId="{8962564E-89E2-44AE-B904-B0DEBAFE3E7C}" type="pres">
      <dgm:prSet presAssocID="{FBE085B1-E480-4A92-906A-840C57850D54}" presName="rootConnector1" presStyleLbl="node1" presStyleIdx="0" presStyleCnt="0"/>
      <dgm:spPr/>
    </dgm:pt>
    <dgm:pt modelId="{55E06041-81EC-41D6-883E-DF0370903B20}" type="pres">
      <dgm:prSet presAssocID="{FBE085B1-E480-4A92-906A-840C57850D54}" presName="hierChild2" presStyleCnt="0"/>
      <dgm:spPr/>
    </dgm:pt>
    <dgm:pt modelId="{7BDE728B-B291-42E9-A007-AFA6EEB881C3}" type="pres">
      <dgm:prSet presAssocID="{FBE085B1-E480-4A92-906A-840C57850D54}" presName="hierChild3" presStyleCnt="0"/>
      <dgm:spPr/>
    </dgm:pt>
  </dgm:ptLst>
  <dgm:cxnLst>
    <dgm:cxn modelId="{585C3E09-8901-4932-8DB6-809CE5B2FFB0}" type="presOf" srcId="{39780169-1660-49BA-8D8A-2B2410B64FE3}" destId="{27B1FD71-2564-4746-8F40-5953BBF9D2C0}" srcOrd="0" destOrd="0" presId="urn:microsoft.com/office/officeart/2005/8/layout/orgChart1"/>
    <dgm:cxn modelId="{AEFF8B62-8096-4533-AD7A-B02D0DA55469}" type="presOf" srcId="{FBE085B1-E480-4A92-906A-840C57850D54}" destId="{8031DBEF-C192-4FD7-8683-0542E56FA190}" srcOrd="0" destOrd="0" presId="urn:microsoft.com/office/officeart/2005/8/layout/orgChart1"/>
    <dgm:cxn modelId="{1A171F67-4440-4EFD-BFDF-646640C8BEB5}" type="presOf" srcId="{FBE085B1-E480-4A92-906A-840C57850D54}" destId="{8962564E-89E2-44AE-B904-B0DEBAFE3E7C}" srcOrd="1" destOrd="0" presId="urn:microsoft.com/office/officeart/2005/8/layout/orgChart1"/>
    <dgm:cxn modelId="{F3E91654-2399-4B45-9F64-7DB6A4E802AF}" type="presOf" srcId="{D3EA618E-D5DA-47DB-A99E-74A257ED8CDA}" destId="{5FF1F127-F006-4E10-9597-979D3022FC4C}" srcOrd="0" destOrd="0" presId="urn:microsoft.com/office/officeart/2005/8/layout/orgChart1"/>
    <dgm:cxn modelId="{8E1544AC-EC78-4A2D-BBA7-E4A73E5D43C7}" type="presOf" srcId="{7758DC34-6DA4-4954-966D-7D88335F6C61}" destId="{ABDF6F26-A4E7-482F-9773-78186C3A623C}" srcOrd="0" destOrd="0" presId="urn:microsoft.com/office/officeart/2005/8/layout/orgChart1"/>
    <dgm:cxn modelId="{C1AB1AB5-5285-43E3-B633-BC0BAA77ACDD}" srcId="{7758DC34-6DA4-4954-966D-7D88335F6C61}" destId="{FBE085B1-E480-4A92-906A-840C57850D54}" srcOrd="2" destOrd="0" parTransId="{5E3A4BD0-33FE-4517-9CC3-4418F0E631F3}" sibTransId="{32984472-0C3F-4155-8D13-BCC885BBCCB3}"/>
    <dgm:cxn modelId="{457698B6-F36D-476E-B976-16D0EEC18348}" type="presOf" srcId="{D3EA618E-D5DA-47DB-A99E-74A257ED8CDA}" destId="{B9A44035-FDFA-44AA-AED0-1D686E35F364}" srcOrd="1" destOrd="0" presId="urn:microsoft.com/office/officeart/2005/8/layout/orgChart1"/>
    <dgm:cxn modelId="{51B317C5-4B43-4CEB-B189-C1250A241632}" srcId="{7758DC34-6DA4-4954-966D-7D88335F6C61}" destId="{D3EA618E-D5DA-47DB-A99E-74A257ED8CDA}" srcOrd="1" destOrd="0" parTransId="{EF869CCC-82B2-4B53-92A5-8F9D18D0F673}" sibTransId="{7DB8A5E6-E2E1-402C-A1B3-5F68E67577B7}"/>
    <dgm:cxn modelId="{2598AECB-E32B-4789-9341-0734139282A1}" type="presOf" srcId="{39780169-1660-49BA-8D8A-2B2410B64FE3}" destId="{E27C8E5F-1E88-486C-923E-8AC74D634B5C}" srcOrd="1" destOrd="0" presId="urn:microsoft.com/office/officeart/2005/8/layout/orgChart1"/>
    <dgm:cxn modelId="{1C3E67FC-4B14-4790-8C40-6F8ED819A4CD}" srcId="{7758DC34-6DA4-4954-966D-7D88335F6C61}" destId="{39780169-1660-49BA-8D8A-2B2410B64FE3}" srcOrd="0" destOrd="0" parTransId="{830E755D-A006-47AF-A603-2F83189D553A}" sibTransId="{AA62E32D-B281-4C60-99EF-120B1718F211}"/>
    <dgm:cxn modelId="{895973AA-A69D-468A-9E3D-6E512D59009F}" type="presParOf" srcId="{ABDF6F26-A4E7-482F-9773-78186C3A623C}" destId="{ABCDF4F8-B422-46C6-9493-EF4C1D1B47A3}" srcOrd="0" destOrd="0" presId="urn:microsoft.com/office/officeart/2005/8/layout/orgChart1"/>
    <dgm:cxn modelId="{0F96DCF2-06F3-4E08-9267-A8DE9D49C684}" type="presParOf" srcId="{ABCDF4F8-B422-46C6-9493-EF4C1D1B47A3}" destId="{7E2BD368-A98F-43A8-8CB6-AB3C0CEF1CA4}" srcOrd="0" destOrd="0" presId="urn:microsoft.com/office/officeart/2005/8/layout/orgChart1"/>
    <dgm:cxn modelId="{42A0646B-AC3D-413A-A459-4B60AE9A978D}" type="presParOf" srcId="{7E2BD368-A98F-43A8-8CB6-AB3C0CEF1CA4}" destId="{27B1FD71-2564-4746-8F40-5953BBF9D2C0}" srcOrd="0" destOrd="0" presId="urn:microsoft.com/office/officeart/2005/8/layout/orgChart1"/>
    <dgm:cxn modelId="{72B5AB64-996F-4FCE-B846-79EAD9CCEC37}" type="presParOf" srcId="{7E2BD368-A98F-43A8-8CB6-AB3C0CEF1CA4}" destId="{E27C8E5F-1E88-486C-923E-8AC74D634B5C}" srcOrd="1" destOrd="0" presId="urn:microsoft.com/office/officeart/2005/8/layout/orgChart1"/>
    <dgm:cxn modelId="{ED0F8B93-477F-43FA-89E6-D61E493D6A52}" type="presParOf" srcId="{ABCDF4F8-B422-46C6-9493-EF4C1D1B47A3}" destId="{8EB7BBD2-0466-43A1-9919-09436C34DF42}" srcOrd="1" destOrd="0" presId="urn:microsoft.com/office/officeart/2005/8/layout/orgChart1"/>
    <dgm:cxn modelId="{4B038D1A-AF13-4742-9BAF-D0A66FFC4B82}" type="presParOf" srcId="{ABCDF4F8-B422-46C6-9493-EF4C1D1B47A3}" destId="{775BD031-483B-4AB2-A4FF-86D129B0BC90}" srcOrd="2" destOrd="0" presId="urn:microsoft.com/office/officeart/2005/8/layout/orgChart1"/>
    <dgm:cxn modelId="{425A9885-1F89-47CD-AF2B-9E72478E6221}" type="presParOf" srcId="{ABDF6F26-A4E7-482F-9773-78186C3A623C}" destId="{BF753C7D-C067-4225-982A-EDA793F25605}" srcOrd="1" destOrd="0" presId="urn:microsoft.com/office/officeart/2005/8/layout/orgChart1"/>
    <dgm:cxn modelId="{3A33C5C4-EB3F-4B5B-B855-3575C5F8D2F7}" type="presParOf" srcId="{BF753C7D-C067-4225-982A-EDA793F25605}" destId="{2F423107-9650-46B2-A0DE-9E2CDE18ACAD}" srcOrd="0" destOrd="0" presId="urn:microsoft.com/office/officeart/2005/8/layout/orgChart1"/>
    <dgm:cxn modelId="{B77F3C1E-3DA1-44C4-A303-616B02B195F7}" type="presParOf" srcId="{2F423107-9650-46B2-A0DE-9E2CDE18ACAD}" destId="{5FF1F127-F006-4E10-9597-979D3022FC4C}" srcOrd="0" destOrd="0" presId="urn:microsoft.com/office/officeart/2005/8/layout/orgChart1"/>
    <dgm:cxn modelId="{10C84AC6-E53B-4B25-A83D-B9FCEC1EAA72}" type="presParOf" srcId="{2F423107-9650-46B2-A0DE-9E2CDE18ACAD}" destId="{B9A44035-FDFA-44AA-AED0-1D686E35F364}" srcOrd="1" destOrd="0" presId="urn:microsoft.com/office/officeart/2005/8/layout/orgChart1"/>
    <dgm:cxn modelId="{33D1A312-EAA6-4923-839A-75ACBD8B78DF}" type="presParOf" srcId="{BF753C7D-C067-4225-982A-EDA793F25605}" destId="{2066EEC8-610E-427B-9C9F-B88F66E5FA79}" srcOrd="1" destOrd="0" presId="urn:microsoft.com/office/officeart/2005/8/layout/orgChart1"/>
    <dgm:cxn modelId="{1BAF2A6E-AF9F-415F-8D17-C40D0CBFF630}" type="presParOf" srcId="{BF753C7D-C067-4225-982A-EDA793F25605}" destId="{2DD203A6-4C7F-48A3-82E1-45FBCCC6AB25}" srcOrd="2" destOrd="0" presId="urn:microsoft.com/office/officeart/2005/8/layout/orgChart1"/>
    <dgm:cxn modelId="{242CB032-4620-421C-B9CD-A8178C9713B2}" type="presParOf" srcId="{ABDF6F26-A4E7-482F-9773-78186C3A623C}" destId="{D5A32C17-DD9B-4F26-8531-6C89E4C3C1F1}" srcOrd="2" destOrd="0" presId="urn:microsoft.com/office/officeart/2005/8/layout/orgChart1"/>
    <dgm:cxn modelId="{89A687EB-1E3F-4585-BE5D-1A7EF54AF6A8}" type="presParOf" srcId="{D5A32C17-DD9B-4F26-8531-6C89E4C3C1F1}" destId="{C8A888EB-F61E-49FD-BCE7-383DEE08F137}" srcOrd="0" destOrd="0" presId="urn:microsoft.com/office/officeart/2005/8/layout/orgChart1"/>
    <dgm:cxn modelId="{9F897DC2-CD7F-422A-8431-A0D67F7E6897}" type="presParOf" srcId="{C8A888EB-F61E-49FD-BCE7-383DEE08F137}" destId="{8031DBEF-C192-4FD7-8683-0542E56FA190}" srcOrd="0" destOrd="0" presId="urn:microsoft.com/office/officeart/2005/8/layout/orgChart1"/>
    <dgm:cxn modelId="{94D49DF7-EC35-40B1-AAF2-CA6787A22E45}" type="presParOf" srcId="{C8A888EB-F61E-49FD-BCE7-383DEE08F137}" destId="{8962564E-89E2-44AE-B904-B0DEBAFE3E7C}" srcOrd="1" destOrd="0" presId="urn:microsoft.com/office/officeart/2005/8/layout/orgChart1"/>
    <dgm:cxn modelId="{B5CD8355-30EE-4B58-9E78-28D1BB914F25}" type="presParOf" srcId="{D5A32C17-DD9B-4F26-8531-6C89E4C3C1F1}" destId="{55E06041-81EC-41D6-883E-DF0370903B20}" srcOrd="1" destOrd="0" presId="urn:microsoft.com/office/officeart/2005/8/layout/orgChart1"/>
    <dgm:cxn modelId="{8403A1BB-2800-4BD4-8DB6-FBDEDCD59A48}" type="presParOf" srcId="{D5A32C17-DD9B-4F26-8531-6C89E4C3C1F1}" destId="{7BDE728B-B291-42E9-A007-AFA6EEB881C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C37430-69D9-4FA9-A573-B1B7C8BC131A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8EB71229-330E-470F-B27F-F6B5B23FEA3A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Primary Segments</a:t>
          </a:r>
        </a:p>
      </dgm:t>
    </dgm:pt>
    <dgm:pt modelId="{4FE15D16-F6D5-46CD-9888-DEC76E30C817}" type="parTrans" cxnId="{F691C476-812F-43C5-8061-9C931DF997BA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8BDEFC7-3924-498A-AFBB-994F02603523}" type="sibTrans" cxnId="{F691C476-812F-43C5-8061-9C931DF997BA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97A867-2A5F-4BE8-A40C-3C47AC9131DE}">
      <dgm:prSet/>
      <dgm:spPr/>
      <dgm:t>
        <a:bodyPr/>
        <a:lstStyle/>
        <a:p>
          <a:pPr algn="just"/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Farmers and mandi middlemen with spoiled grains</a:t>
          </a:r>
        </a:p>
      </dgm:t>
    </dgm:pt>
    <dgm:pt modelId="{B2B2A435-4786-4B84-B955-1D9B5DF77D40}" type="parTrans" cxnId="{E2F2FA6A-2557-4869-BBE4-CC70183E3947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79C185-56E0-4369-AF9F-537CB45B9B19}" type="sibTrans" cxnId="{E2F2FA6A-2557-4869-BBE4-CC70183E3947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B5B545-D667-40AB-8B08-79DF39071497}">
      <dgm:prSet/>
      <dgm:spPr/>
      <dgm:t>
        <a:bodyPr/>
        <a:lstStyle/>
        <a:p>
          <a:pPr algn="just"/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Distilleries, breweries, and biofuel producers requiring raw materials</a:t>
          </a:r>
        </a:p>
      </dgm:t>
    </dgm:pt>
    <dgm:pt modelId="{4344F062-799B-462B-99CD-113836EF0879}" type="parTrans" cxnId="{A015004C-5A51-49FE-9F3F-2EAD98C30AEC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D96B4B-0D88-49FE-B7C2-E7F620E7B2AB}" type="sibTrans" cxnId="{A015004C-5A51-49FE-9F3F-2EAD98C30AEC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263450-8ADE-44A5-8D5B-81002706F9B6}">
      <dgm:prSet/>
      <dgm:spPr/>
      <dgm:t>
        <a:bodyPr/>
        <a:lstStyle/>
        <a:p>
          <a:r>
            <a: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Secondary Segments</a:t>
          </a:r>
        </a:p>
      </dgm:t>
    </dgm:pt>
    <dgm:pt modelId="{15FC9447-18BE-4AF3-ABD9-BA0A008469F0}" type="parTrans" cxnId="{69129471-11CA-4917-9A17-BCC44E578086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009D93E-79E3-4504-807E-BF00B56CA489}" type="sibTrans" cxnId="{69129471-11CA-4917-9A17-BCC44E578086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58CDCCF-58D0-44F3-B9AA-0D984A11F0D9}">
      <dgm:prSet/>
      <dgm:spPr/>
      <dgm:t>
        <a:bodyPr/>
        <a:lstStyle/>
        <a:p>
          <a:pPr algn="just"/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Agricultural cooperatives</a:t>
          </a:r>
        </a:p>
      </dgm:t>
    </dgm:pt>
    <dgm:pt modelId="{3AA7E784-AA19-42FA-865A-407BC93CA8F1}" type="parTrans" cxnId="{FC366D25-5ADC-4ED5-85AE-05F9B30D179E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D49A5A6-23B8-4C66-9EA2-28B257A2DFFE}" type="sibTrans" cxnId="{FC366D25-5ADC-4ED5-85AE-05F9B30D179E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345B59-A2E9-47D6-9C87-2EE0B3B3FE33}">
      <dgm:prSet/>
      <dgm:spPr/>
      <dgm:t>
        <a:bodyPr/>
        <a:lstStyle/>
        <a:p>
          <a:pPr algn="just"/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Government bodies and NGOs focused on sustainability and agriculture</a:t>
          </a:r>
        </a:p>
      </dgm:t>
    </dgm:pt>
    <dgm:pt modelId="{4AB702BB-B575-4020-B814-7EFEF185BC86}" type="parTrans" cxnId="{A036211A-8391-4A57-ABAE-25970C2B7C31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636C65D-D814-4B19-964D-ED423976B80D}" type="sibTrans" cxnId="{A036211A-8391-4A57-ABAE-25970C2B7C31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6345A12-D9FF-4D00-8418-5D16F1668E1A}" type="pres">
      <dgm:prSet presAssocID="{21C37430-69D9-4FA9-A573-B1B7C8BC131A}" presName="linear" presStyleCnt="0">
        <dgm:presLayoutVars>
          <dgm:animLvl val="lvl"/>
          <dgm:resizeHandles val="exact"/>
        </dgm:presLayoutVars>
      </dgm:prSet>
      <dgm:spPr/>
    </dgm:pt>
    <dgm:pt modelId="{DF0EAB4A-7D98-4423-B7B4-E9F072676E1D}" type="pres">
      <dgm:prSet presAssocID="{8EB71229-330E-470F-B27F-F6B5B23FEA3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F0D9F47-1941-4D06-9C3D-60D9C29B48A6}" type="pres">
      <dgm:prSet presAssocID="{8EB71229-330E-470F-B27F-F6B5B23FEA3A}" presName="childText" presStyleLbl="revTx" presStyleIdx="0" presStyleCnt="2">
        <dgm:presLayoutVars>
          <dgm:bulletEnabled val="1"/>
        </dgm:presLayoutVars>
      </dgm:prSet>
      <dgm:spPr/>
    </dgm:pt>
    <dgm:pt modelId="{DB7F1D6F-112B-45E0-AFFB-18AC2E977F2B}" type="pres">
      <dgm:prSet presAssocID="{7B263450-8ADE-44A5-8D5B-81002706F9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07060EE-DDB6-457D-B483-540F787A6409}" type="pres">
      <dgm:prSet presAssocID="{7B263450-8ADE-44A5-8D5B-81002706F9B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036211A-8391-4A57-ABAE-25970C2B7C31}" srcId="{7B263450-8ADE-44A5-8D5B-81002706F9B6}" destId="{CD345B59-A2E9-47D6-9C87-2EE0B3B3FE33}" srcOrd="1" destOrd="0" parTransId="{4AB702BB-B575-4020-B814-7EFEF185BC86}" sibTransId="{B636C65D-D814-4B19-964D-ED423976B80D}"/>
    <dgm:cxn modelId="{FC366D25-5ADC-4ED5-85AE-05F9B30D179E}" srcId="{7B263450-8ADE-44A5-8D5B-81002706F9B6}" destId="{E58CDCCF-58D0-44F3-B9AA-0D984A11F0D9}" srcOrd="0" destOrd="0" parTransId="{3AA7E784-AA19-42FA-865A-407BC93CA8F1}" sibTransId="{3D49A5A6-23B8-4C66-9EA2-28B257A2DFFE}"/>
    <dgm:cxn modelId="{D0166244-4804-4AF6-B148-16DA1FB03D6F}" type="presOf" srcId="{E58CDCCF-58D0-44F3-B9AA-0D984A11F0D9}" destId="{C07060EE-DDB6-457D-B483-540F787A6409}" srcOrd="0" destOrd="0" presId="urn:microsoft.com/office/officeart/2005/8/layout/vList2"/>
    <dgm:cxn modelId="{F5B61C66-F144-43E2-93B0-7F09F20CA372}" type="presOf" srcId="{7B263450-8ADE-44A5-8D5B-81002706F9B6}" destId="{DB7F1D6F-112B-45E0-AFFB-18AC2E977F2B}" srcOrd="0" destOrd="0" presId="urn:microsoft.com/office/officeart/2005/8/layout/vList2"/>
    <dgm:cxn modelId="{E2F2FA6A-2557-4869-BBE4-CC70183E3947}" srcId="{8EB71229-330E-470F-B27F-F6B5B23FEA3A}" destId="{D897A867-2A5F-4BE8-A40C-3C47AC9131DE}" srcOrd="0" destOrd="0" parTransId="{B2B2A435-4786-4B84-B955-1D9B5DF77D40}" sibTransId="{5579C185-56E0-4369-AF9F-537CB45B9B19}"/>
    <dgm:cxn modelId="{A015004C-5A51-49FE-9F3F-2EAD98C30AEC}" srcId="{8EB71229-330E-470F-B27F-F6B5B23FEA3A}" destId="{35B5B545-D667-40AB-8B08-79DF39071497}" srcOrd="1" destOrd="0" parTransId="{4344F062-799B-462B-99CD-113836EF0879}" sibTransId="{1AD96B4B-0D88-49FE-B7C2-E7F620E7B2AB}"/>
    <dgm:cxn modelId="{69129471-11CA-4917-9A17-BCC44E578086}" srcId="{21C37430-69D9-4FA9-A573-B1B7C8BC131A}" destId="{7B263450-8ADE-44A5-8D5B-81002706F9B6}" srcOrd="1" destOrd="0" parTransId="{15FC9447-18BE-4AF3-ABD9-BA0A008469F0}" sibTransId="{2009D93E-79E3-4504-807E-BF00B56CA489}"/>
    <dgm:cxn modelId="{F691C476-812F-43C5-8061-9C931DF997BA}" srcId="{21C37430-69D9-4FA9-A573-B1B7C8BC131A}" destId="{8EB71229-330E-470F-B27F-F6B5B23FEA3A}" srcOrd="0" destOrd="0" parTransId="{4FE15D16-F6D5-46CD-9888-DEC76E30C817}" sibTransId="{98BDEFC7-3924-498A-AFBB-994F02603523}"/>
    <dgm:cxn modelId="{BBABD196-CB3C-418A-AA57-30D12EF89196}" type="presOf" srcId="{D897A867-2A5F-4BE8-A40C-3C47AC9131DE}" destId="{7F0D9F47-1941-4D06-9C3D-60D9C29B48A6}" srcOrd="0" destOrd="0" presId="urn:microsoft.com/office/officeart/2005/8/layout/vList2"/>
    <dgm:cxn modelId="{54C303B0-E1BE-4845-B3F1-571C0F7A5B5B}" type="presOf" srcId="{8EB71229-330E-470F-B27F-F6B5B23FEA3A}" destId="{DF0EAB4A-7D98-4423-B7B4-E9F072676E1D}" srcOrd="0" destOrd="0" presId="urn:microsoft.com/office/officeart/2005/8/layout/vList2"/>
    <dgm:cxn modelId="{8DA7D3D9-49EA-4FAC-810E-6102427FDD66}" type="presOf" srcId="{21C37430-69D9-4FA9-A573-B1B7C8BC131A}" destId="{F6345A12-D9FF-4D00-8418-5D16F1668E1A}" srcOrd="0" destOrd="0" presId="urn:microsoft.com/office/officeart/2005/8/layout/vList2"/>
    <dgm:cxn modelId="{4F71A3DE-F7A1-4A3E-AFCA-732DC741E68B}" type="presOf" srcId="{35B5B545-D667-40AB-8B08-79DF39071497}" destId="{7F0D9F47-1941-4D06-9C3D-60D9C29B48A6}" srcOrd="0" destOrd="1" presId="urn:microsoft.com/office/officeart/2005/8/layout/vList2"/>
    <dgm:cxn modelId="{86479EEE-30B2-4C8E-9234-140438E769E7}" type="presOf" srcId="{CD345B59-A2E9-47D6-9C87-2EE0B3B3FE33}" destId="{C07060EE-DDB6-457D-B483-540F787A6409}" srcOrd="0" destOrd="1" presId="urn:microsoft.com/office/officeart/2005/8/layout/vList2"/>
    <dgm:cxn modelId="{2D5B4218-F42E-4883-95F3-D27C55CBFDC3}" type="presParOf" srcId="{F6345A12-D9FF-4D00-8418-5D16F1668E1A}" destId="{DF0EAB4A-7D98-4423-B7B4-E9F072676E1D}" srcOrd="0" destOrd="0" presId="urn:microsoft.com/office/officeart/2005/8/layout/vList2"/>
    <dgm:cxn modelId="{946AEA09-9DAD-410E-BEF3-A052E49F457B}" type="presParOf" srcId="{F6345A12-D9FF-4D00-8418-5D16F1668E1A}" destId="{7F0D9F47-1941-4D06-9C3D-60D9C29B48A6}" srcOrd="1" destOrd="0" presId="urn:microsoft.com/office/officeart/2005/8/layout/vList2"/>
    <dgm:cxn modelId="{1922BD37-B0CE-49F2-B7D0-F2E4E3140D14}" type="presParOf" srcId="{F6345A12-D9FF-4D00-8418-5D16F1668E1A}" destId="{DB7F1D6F-112B-45E0-AFFB-18AC2E977F2B}" srcOrd="2" destOrd="0" presId="urn:microsoft.com/office/officeart/2005/8/layout/vList2"/>
    <dgm:cxn modelId="{437A3328-72B6-4AD6-8106-AE2322C0A070}" type="presParOf" srcId="{F6345A12-D9FF-4D00-8418-5D16F1668E1A}" destId="{C07060EE-DDB6-457D-B483-540F787A6409}" srcOrd="3" destOrd="0" presId="urn:microsoft.com/office/officeart/2005/8/layout/vList2"/>
  </dgm:cxnLst>
  <dgm:bg>
    <a:noFill/>
  </dgm:bg>
  <dgm:whole>
    <a:ln w="19050"/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B30757-7AF3-4004-988E-F184303D16A3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6D0CB95-2D10-41D8-8D74-537BA9FC66D1}">
      <dgm:prSet custT="1"/>
      <dgm:spPr/>
      <dgm:t>
        <a:bodyPr/>
        <a:lstStyle/>
        <a:p>
          <a:pPr algn="ctr"/>
          <a:r>
            <a: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Marketplace for Sourcing Grains for Ethanol Production</a:t>
          </a:r>
        </a:p>
      </dgm:t>
    </dgm:pt>
    <dgm:pt modelId="{A0D9AF9D-B538-44B7-9C50-17DF37A50238}" type="parTrans" cxnId="{510C8910-51FE-4DC9-AEC1-1BAB6A36BC6B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A629F1D-56D1-46AB-9C1B-B9E9189BC980}" type="sibTrans" cxnId="{510C8910-51FE-4DC9-AEC1-1BAB6A36BC6B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17F3460-B467-494C-AC88-93A1AD482162}">
      <dgm:prSet custT="1"/>
      <dgm:spPr/>
      <dgm:t>
        <a:bodyPr/>
        <a:lstStyle/>
        <a:p>
          <a:pPr algn="ctr"/>
          <a:r>
            <a:rPr lang="en-US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Quality Assurance for Grain Procurement</a:t>
          </a:r>
        </a:p>
      </dgm:t>
    </dgm:pt>
    <dgm:pt modelId="{A372C661-E315-4085-8F91-07B2A0B056D4}" type="parTrans" cxnId="{09962798-8F6A-4C17-8A05-6CDB1D046BDE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602DE5-0D51-40BF-A201-F820835C4B44}" type="sibTrans" cxnId="{09962798-8F6A-4C17-8A05-6CDB1D046BDE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D6BCB4-04B4-402C-B300-AD434444ADD8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Consistent Sourcing for Industrial Needs</a:t>
          </a:r>
        </a:p>
      </dgm:t>
    </dgm:pt>
    <dgm:pt modelId="{4D46D49E-BB2A-4C74-B73C-FDCC19539A9A}" type="parTrans" cxnId="{68E337F5-274D-4505-A914-5107C722FD10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FA7F4D5-5F9D-4BC2-B7D0-1B61531A09EA}" type="sibTrans" cxnId="{68E337F5-274D-4505-A914-5107C722FD10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1D36B9D-4BE5-424E-90EA-7DB9C675C369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Network of Transport Service Provider</a:t>
          </a:r>
        </a:p>
      </dgm:t>
    </dgm:pt>
    <dgm:pt modelId="{C3E0472E-97EC-4EF3-86D2-C61313391AC0}" type="parTrans" cxnId="{BE286A82-580E-4AA1-B5D7-812197AD50B9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E5488D6-A91D-4A38-A003-131F7A7F359D}" type="sibTrans" cxnId="{BE286A82-580E-4AA1-B5D7-812197AD50B9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BA4A2B-E5FC-4190-844F-B4978883528F}" type="pres">
      <dgm:prSet presAssocID="{AAB30757-7AF3-4004-988E-F184303D16A3}" presName="linear" presStyleCnt="0">
        <dgm:presLayoutVars>
          <dgm:dir/>
          <dgm:animLvl val="lvl"/>
          <dgm:resizeHandles val="exact"/>
        </dgm:presLayoutVars>
      </dgm:prSet>
      <dgm:spPr/>
    </dgm:pt>
    <dgm:pt modelId="{742798DE-A40E-46A9-B401-BA8FB272670F}" type="pres">
      <dgm:prSet presAssocID="{26D0CB95-2D10-41D8-8D74-537BA9FC66D1}" presName="parentLin" presStyleCnt="0"/>
      <dgm:spPr/>
    </dgm:pt>
    <dgm:pt modelId="{82FBF1DB-89E5-48AB-8180-CB52DDBF5A64}" type="pres">
      <dgm:prSet presAssocID="{26D0CB95-2D10-41D8-8D74-537BA9FC66D1}" presName="parentLeftMargin" presStyleLbl="node1" presStyleIdx="0" presStyleCnt="4"/>
      <dgm:spPr/>
    </dgm:pt>
    <dgm:pt modelId="{773BF6C5-1BF5-4A4F-B135-DAE032EE4E24}" type="pres">
      <dgm:prSet presAssocID="{26D0CB95-2D10-41D8-8D74-537BA9FC66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A7FB4E-9F84-44F9-A492-E982549929E3}" type="pres">
      <dgm:prSet presAssocID="{26D0CB95-2D10-41D8-8D74-537BA9FC66D1}" presName="negativeSpace" presStyleCnt="0"/>
      <dgm:spPr/>
    </dgm:pt>
    <dgm:pt modelId="{9757D24C-2E32-44FC-8D11-BF7968FD38B8}" type="pres">
      <dgm:prSet presAssocID="{26D0CB95-2D10-41D8-8D74-537BA9FC66D1}" presName="childText" presStyleLbl="conFgAcc1" presStyleIdx="0" presStyleCnt="4">
        <dgm:presLayoutVars>
          <dgm:bulletEnabled val="1"/>
        </dgm:presLayoutVars>
      </dgm:prSet>
      <dgm:spPr/>
    </dgm:pt>
    <dgm:pt modelId="{52FFD9D0-D5BB-4A64-92F8-D580F6F812B1}" type="pres">
      <dgm:prSet presAssocID="{2A629F1D-56D1-46AB-9C1B-B9E9189BC980}" presName="spaceBetweenRectangles" presStyleCnt="0"/>
      <dgm:spPr/>
    </dgm:pt>
    <dgm:pt modelId="{C9471ABB-CEC8-4A57-96AF-FA8D29D57850}" type="pres">
      <dgm:prSet presAssocID="{E17F3460-B467-494C-AC88-93A1AD482162}" presName="parentLin" presStyleCnt="0"/>
      <dgm:spPr/>
    </dgm:pt>
    <dgm:pt modelId="{9CEC3E66-339F-4D4B-B0C5-88954644C788}" type="pres">
      <dgm:prSet presAssocID="{E17F3460-B467-494C-AC88-93A1AD482162}" presName="parentLeftMargin" presStyleLbl="node1" presStyleIdx="0" presStyleCnt="4"/>
      <dgm:spPr/>
    </dgm:pt>
    <dgm:pt modelId="{F9919D9B-7FE0-41FF-B8C9-5FC906880873}" type="pres">
      <dgm:prSet presAssocID="{E17F3460-B467-494C-AC88-93A1AD48216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29868B5-ACB3-4CED-BF14-8179CB89F02C}" type="pres">
      <dgm:prSet presAssocID="{E17F3460-B467-494C-AC88-93A1AD482162}" presName="negativeSpace" presStyleCnt="0"/>
      <dgm:spPr/>
    </dgm:pt>
    <dgm:pt modelId="{F5720F5E-6901-4DF0-AE6D-4483C110AEBD}" type="pres">
      <dgm:prSet presAssocID="{E17F3460-B467-494C-AC88-93A1AD482162}" presName="childText" presStyleLbl="conFgAcc1" presStyleIdx="1" presStyleCnt="4">
        <dgm:presLayoutVars>
          <dgm:bulletEnabled val="1"/>
        </dgm:presLayoutVars>
      </dgm:prSet>
      <dgm:spPr/>
    </dgm:pt>
    <dgm:pt modelId="{6B4B4EFA-140E-46DF-A561-9E035523FE4C}" type="pres">
      <dgm:prSet presAssocID="{8A602DE5-0D51-40BF-A201-F820835C4B44}" presName="spaceBetweenRectangles" presStyleCnt="0"/>
      <dgm:spPr/>
    </dgm:pt>
    <dgm:pt modelId="{9CF699A8-C1D1-41DE-9CFA-3A180C63043A}" type="pres">
      <dgm:prSet presAssocID="{49D6BCB4-04B4-402C-B300-AD434444ADD8}" presName="parentLin" presStyleCnt="0"/>
      <dgm:spPr/>
    </dgm:pt>
    <dgm:pt modelId="{82C58544-42E6-4EDC-8B9C-BEC761AC401F}" type="pres">
      <dgm:prSet presAssocID="{49D6BCB4-04B4-402C-B300-AD434444ADD8}" presName="parentLeftMargin" presStyleLbl="node1" presStyleIdx="1" presStyleCnt="4"/>
      <dgm:spPr/>
    </dgm:pt>
    <dgm:pt modelId="{B80FDF74-FB5D-4A3D-841A-1E339E42D9E8}" type="pres">
      <dgm:prSet presAssocID="{49D6BCB4-04B4-402C-B300-AD434444ADD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3B1179-0EC7-4F00-A204-053816C576A6}" type="pres">
      <dgm:prSet presAssocID="{49D6BCB4-04B4-402C-B300-AD434444ADD8}" presName="negativeSpace" presStyleCnt="0"/>
      <dgm:spPr/>
    </dgm:pt>
    <dgm:pt modelId="{FE6BF707-6086-4456-97C6-25DD959ECB39}" type="pres">
      <dgm:prSet presAssocID="{49D6BCB4-04B4-402C-B300-AD434444ADD8}" presName="childText" presStyleLbl="conFgAcc1" presStyleIdx="2" presStyleCnt="4">
        <dgm:presLayoutVars>
          <dgm:bulletEnabled val="1"/>
        </dgm:presLayoutVars>
      </dgm:prSet>
      <dgm:spPr/>
    </dgm:pt>
    <dgm:pt modelId="{CB6877B5-11D4-49E6-8D11-7CD36FDC2E6C}" type="pres">
      <dgm:prSet presAssocID="{4FA7F4D5-5F9D-4BC2-B7D0-1B61531A09EA}" presName="spaceBetweenRectangles" presStyleCnt="0"/>
      <dgm:spPr/>
    </dgm:pt>
    <dgm:pt modelId="{0A285F1D-3C80-4C59-9090-2587171F5889}" type="pres">
      <dgm:prSet presAssocID="{01D36B9D-4BE5-424E-90EA-7DB9C675C369}" presName="parentLin" presStyleCnt="0"/>
      <dgm:spPr/>
    </dgm:pt>
    <dgm:pt modelId="{9E3373DB-691A-4654-AB21-A77D0723ED45}" type="pres">
      <dgm:prSet presAssocID="{01D36B9D-4BE5-424E-90EA-7DB9C675C369}" presName="parentLeftMargin" presStyleLbl="node1" presStyleIdx="2" presStyleCnt="4"/>
      <dgm:spPr/>
    </dgm:pt>
    <dgm:pt modelId="{3D8095E3-A590-4685-8544-0022CC106E8D}" type="pres">
      <dgm:prSet presAssocID="{01D36B9D-4BE5-424E-90EA-7DB9C675C36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0BDB9E4-7990-47FE-A890-3ED88E9DA66D}" type="pres">
      <dgm:prSet presAssocID="{01D36B9D-4BE5-424E-90EA-7DB9C675C369}" presName="negativeSpace" presStyleCnt="0"/>
      <dgm:spPr/>
    </dgm:pt>
    <dgm:pt modelId="{30FE1A79-70AB-4A85-83C9-15E5ADEBE9C4}" type="pres">
      <dgm:prSet presAssocID="{01D36B9D-4BE5-424E-90EA-7DB9C675C36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1313E09-8357-446C-B93E-3B6FB073D175}" type="presOf" srcId="{E17F3460-B467-494C-AC88-93A1AD482162}" destId="{9CEC3E66-339F-4D4B-B0C5-88954644C788}" srcOrd="0" destOrd="0" presId="urn:microsoft.com/office/officeart/2005/8/layout/list1"/>
    <dgm:cxn modelId="{510C8910-51FE-4DC9-AEC1-1BAB6A36BC6B}" srcId="{AAB30757-7AF3-4004-988E-F184303D16A3}" destId="{26D0CB95-2D10-41D8-8D74-537BA9FC66D1}" srcOrd="0" destOrd="0" parTransId="{A0D9AF9D-B538-44B7-9C50-17DF37A50238}" sibTransId="{2A629F1D-56D1-46AB-9C1B-B9E9189BC980}"/>
    <dgm:cxn modelId="{A9E3FC22-AD09-4489-B103-DCE5CACD54F2}" type="presOf" srcId="{26D0CB95-2D10-41D8-8D74-537BA9FC66D1}" destId="{82FBF1DB-89E5-48AB-8180-CB52DDBF5A64}" srcOrd="0" destOrd="0" presId="urn:microsoft.com/office/officeart/2005/8/layout/list1"/>
    <dgm:cxn modelId="{329FE55F-A7E0-4907-84F7-DF140B0BEEED}" type="presOf" srcId="{01D36B9D-4BE5-424E-90EA-7DB9C675C369}" destId="{9E3373DB-691A-4654-AB21-A77D0723ED45}" srcOrd="0" destOrd="0" presId="urn:microsoft.com/office/officeart/2005/8/layout/list1"/>
    <dgm:cxn modelId="{DBAB2A4D-193A-43A4-85AE-F43849F179A2}" type="presOf" srcId="{49D6BCB4-04B4-402C-B300-AD434444ADD8}" destId="{B80FDF74-FB5D-4A3D-841A-1E339E42D9E8}" srcOrd="1" destOrd="0" presId="urn:microsoft.com/office/officeart/2005/8/layout/list1"/>
    <dgm:cxn modelId="{160D6E73-D215-4FB9-B76E-346A1EDD737E}" type="presOf" srcId="{49D6BCB4-04B4-402C-B300-AD434444ADD8}" destId="{82C58544-42E6-4EDC-8B9C-BEC761AC401F}" srcOrd="0" destOrd="0" presId="urn:microsoft.com/office/officeart/2005/8/layout/list1"/>
    <dgm:cxn modelId="{BE286A82-580E-4AA1-B5D7-812197AD50B9}" srcId="{AAB30757-7AF3-4004-988E-F184303D16A3}" destId="{01D36B9D-4BE5-424E-90EA-7DB9C675C369}" srcOrd="3" destOrd="0" parTransId="{C3E0472E-97EC-4EF3-86D2-C61313391AC0}" sibTransId="{BE5488D6-A91D-4A38-A003-131F7A7F359D}"/>
    <dgm:cxn modelId="{8F2F5A95-ADC5-4A8E-B38C-EFCCEF8C495A}" type="presOf" srcId="{AAB30757-7AF3-4004-988E-F184303D16A3}" destId="{F8BA4A2B-E5FC-4190-844F-B4978883528F}" srcOrd="0" destOrd="0" presId="urn:microsoft.com/office/officeart/2005/8/layout/list1"/>
    <dgm:cxn modelId="{09962798-8F6A-4C17-8A05-6CDB1D046BDE}" srcId="{AAB30757-7AF3-4004-988E-F184303D16A3}" destId="{E17F3460-B467-494C-AC88-93A1AD482162}" srcOrd="1" destOrd="0" parTransId="{A372C661-E315-4085-8F91-07B2A0B056D4}" sibTransId="{8A602DE5-0D51-40BF-A201-F820835C4B44}"/>
    <dgm:cxn modelId="{000729AB-977D-4C23-92B6-BFDC970D56D7}" type="presOf" srcId="{01D36B9D-4BE5-424E-90EA-7DB9C675C369}" destId="{3D8095E3-A590-4685-8544-0022CC106E8D}" srcOrd="1" destOrd="0" presId="urn:microsoft.com/office/officeart/2005/8/layout/list1"/>
    <dgm:cxn modelId="{802D4BB1-01A7-4BCC-B2FB-FFBFBDE7E4F0}" type="presOf" srcId="{E17F3460-B467-494C-AC88-93A1AD482162}" destId="{F9919D9B-7FE0-41FF-B8C9-5FC906880873}" srcOrd="1" destOrd="0" presId="urn:microsoft.com/office/officeart/2005/8/layout/list1"/>
    <dgm:cxn modelId="{68E337F5-274D-4505-A914-5107C722FD10}" srcId="{AAB30757-7AF3-4004-988E-F184303D16A3}" destId="{49D6BCB4-04B4-402C-B300-AD434444ADD8}" srcOrd="2" destOrd="0" parTransId="{4D46D49E-BB2A-4C74-B73C-FDCC19539A9A}" sibTransId="{4FA7F4D5-5F9D-4BC2-B7D0-1B61531A09EA}"/>
    <dgm:cxn modelId="{B8D102F6-911B-407C-AEFA-32293FAA97D4}" type="presOf" srcId="{26D0CB95-2D10-41D8-8D74-537BA9FC66D1}" destId="{773BF6C5-1BF5-4A4F-B135-DAE032EE4E24}" srcOrd="1" destOrd="0" presId="urn:microsoft.com/office/officeart/2005/8/layout/list1"/>
    <dgm:cxn modelId="{BAE78141-3473-4DE6-9602-C04C91CDA79D}" type="presParOf" srcId="{F8BA4A2B-E5FC-4190-844F-B4978883528F}" destId="{742798DE-A40E-46A9-B401-BA8FB272670F}" srcOrd="0" destOrd="0" presId="urn:microsoft.com/office/officeart/2005/8/layout/list1"/>
    <dgm:cxn modelId="{996614C3-ADB9-46AC-8D08-13C58FC5749B}" type="presParOf" srcId="{742798DE-A40E-46A9-B401-BA8FB272670F}" destId="{82FBF1DB-89E5-48AB-8180-CB52DDBF5A64}" srcOrd="0" destOrd="0" presId="urn:microsoft.com/office/officeart/2005/8/layout/list1"/>
    <dgm:cxn modelId="{CA9A452D-FAD4-4367-9BD8-38EDC810CBD5}" type="presParOf" srcId="{742798DE-A40E-46A9-B401-BA8FB272670F}" destId="{773BF6C5-1BF5-4A4F-B135-DAE032EE4E24}" srcOrd="1" destOrd="0" presId="urn:microsoft.com/office/officeart/2005/8/layout/list1"/>
    <dgm:cxn modelId="{D604C108-692C-4CE8-9B6A-743EA2858D87}" type="presParOf" srcId="{F8BA4A2B-E5FC-4190-844F-B4978883528F}" destId="{ACA7FB4E-9F84-44F9-A492-E982549929E3}" srcOrd="1" destOrd="0" presId="urn:microsoft.com/office/officeart/2005/8/layout/list1"/>
    <dgm:cxn modelId="{E8B0DDF0-8CB9-4D7C-AADA-9757C853166F}" type="presParOf" srcId="{F8BA4A2B-E5FC-4190-844F-B4978883528F}" destId="{9757D24C-2E32-44FC-8D11-BF7968FD38B8}" srcOrd="2" destOrd="0" presId="urn:microsoft.com/office/officeart/2005/8/layout/list1"/>
    <dgm:cxn modelId="{44C62EB6-7628-4BE7-B643-73A1605178FA}" type="presParOf" srcId="{F8BA4A2B-E5FC-4190-844F-B4978883528F}" destId="{52FFD9D0-D5BB-4A64-92F8-D580F6F812B1}" srcOrd="3" destOrd="0" presId="urn:microsoft.com/office/officeart/2005/8/layout/list1"/>
    <dgm:cxn modelId="{6D31F733-3B56-4623-B811-0A7B9988919A}" type="presParOf" srcId="{F8BA4A2B-E5FC-4190-844F-B4978883528F}" destId="{C9471ABB-CEC8-4A57-96AF-FA8D29D57850}" srcOrd="4" destOrd="0" presId="urn:microsoft.com/office/officeart/2005/8/layout/list1"/>
    <dgm:cxn modelId="{7665FB77-1805-439B-98EB-9143FA65C41A}" type="presParOf" srcId="{C9471ABB-CEC8-4A57-96AF-FA8D29D57850}" destId="{9CEC3E66-339F-4D4B-B0C5-88954644C788}" srcOrd="0" destOrd="0" presId="urn:microsoft.com/office/officeart/2005/8/layout/list1"/>
    <dgm:cxn modelId="{8B7F72A8-96EB-47B2-85E8-D1F2CF49F866}" type="presParOf" srcId="{C9471ABB-CEC8-4A57-96AF-FA8D29D57850}" destId="{F9919D9B-7FE0-41FF-B8C9-5FC906880873}" srcOrd="1" destOrd="0" presId="urn:microsoft.com/office/officeart/2005/8/layout/list1"/>
    <dgm:cxn modelId="{A0CC4112-04E6-445C-9AAA-6BFA79ED87A7}" type="presParOf" srcId="{F8BA4A2B-E5FC-4190-844F-B4978883528F}" destId="{029868B5-ACB3-4CED-BF14-8179CB89F02C}" srcOrd="5" destOrd="0" presId="urn:microsoft.com/office/officeart/2005/8/layout/list1"/>
    <dgm:cxn modelId="{DA6425FE-5C25-470F-80E8-059A8EA15762}" type="presParOf" srcId="{F8BA4A2B-E5FC-4190-844F-B4978883528F}" destId="{F5720F5E-6901-4DF0-AE6D-4483C110AEBD}" srcOrd="6" destOrd="0" presId="urn:microsoft.com/office/officeart/2005/8/layout/list1"/>
    <dgm:cxn modelId="{39B84C36-5DE4-4A91-90A3-C45F2F74B82E}" type="presParOf" srcId="{F8BA4A2B-E5FC-4190-844F-B4978883528F}" destId="{6B4B4EFA-140E-46DF-A561-9E035523FE4C}" srcOrd="7" destOrd="0" presId="urn:microsoft.com/office/officeart/2005/8/layout/list1"/>
    <dgm:cxn modelId="{A5C37CCA-5B02-47CD-9393-57BEE35E3F9A}" type="presParOf" srcId="{F8BA4A2B-E5FC-4190-844F-B4978883528F}" destId="{9CF699A8-C1D1-41DE-9CFA-3A180C63043A}" srcOrd="8" destOrd="0" presId="urn:microsoft.com/office/officeart/2005/8/layout/list1"/>
    <dgm:cxn modelId="{16EDF4BA-8857-4FB1-B9BC-8928D893EE93}" type="presParOf" srcId="{9CF699A8-C1D1-41DE-9CFA-3A180C63043A}" destId="{82C58544-42E6-4EDC-8B9C-BEC761AC401F}" srcOrd="0" destOrd="0" presId="urn:microsoft.com/office/officeart/2005/8/layout/list1"/>
    <dgm:cxn modelId="{D9698049-1D56-490A-B773-F95C280720D8}" type="presParOf" srcId="{9CF699A8-C1D1-41DE-9CFA-3A180C63043A}" destId="{B80FDF74-FB5D-4A3D-841A-1E339E42D9E8}" srcOrd="1" destOrd="0" presId="urn:microsoft.com/office/officeart/2005/8/layout/list1"/>
    <dgm:cxn modelId="{06BB16FD-833E-4A5F-B9AD-DA88400C9DD8}" type="presParOf" srcId="{F8BA4A2B-E5FC-4190-844F-B4978883528F}" destId="{AF3B1179-0EC7-4F00-A204-053816C576A6}" srcOrd="9" destOrd="0" presId="urn:microsoft.com/office/officeart/2005/8/layout/list1"/>
    <dgm:cxn modelId="{B3E9E949-E54B-46ED-8F19-B90EAB2D4A62}" type="presParOf" srcId="{F8BA4A2B-E5FC-4190-844F-B4978883528F}" destId="{FE6BF707-6086-4456-97C6-25DD959ECB39}" srcOrd="10" destOrd="0" presId="urn:microsoft.com/office/officeart/2005/8/layout/list1"/>
    <dgm:cxn modelId="{A4577215-5DAC-469C-B3FF-AB1323A47FDE}" type="presParOf" srcId="{F8BA4A2B-E5FC-4190-844F-B4978883528F}" destId="{CB6877B5-11D4-49E6-8D11-7CD36FDC2E6C}" srcOrd="11" destOrd="0" presId="urn:microsoft.com/office/officeart/2005/8/layout/list1"/>
    <dgm:cxn modelId="{83917393-9F8B-4CA2-9809-9A3C61FFB8A5}" type="presParOf" srcId="{F8BA4A2B-E5FC-4190-844F-B4978883528F}" destId="{0A285F1D-3C80-4C59-9090-2587171F5889}" srcOrd="12" destOrd="0" presId="urn:microsoft.com/office/officeart/2005/8/layout/list1"/>
    <dgm:cxn modelId="{04F7F0DA-929B-4D46-992A-A1F176DA1763}" type="presParOf" srcId="{0A285F1D-3C80-4C59-9090-2587171F5889}" destId="{9E3373DB-691A-4654-AB21-A77D0723ED45}" srcOrd="0" destOrd="0" presId="urn:microsoft.com/office/officeart/2005/8/layout/list1"/>
    <dgm:cxn modelId="{82E98C2B-EA40-444B-8C2B-5CC780F413F1}" type="presParOf" srcId="{0A285F1D-3C80-4C59-9090-2587171F5889}" destId="{3D8095E3-A590-4685-8544-0022CC106E8D}" srcOrd="1" destOrd="0" presId="urn:microsoft.com/office/officeart/2005/8/layout/list1"/>
    <dgm:cxn modelId="{3B74D29C-36CD-405E-82E2-ACE1508FFE8D}" type="presParOf" srcId="{F8BA4A2B-E5FC-4190-844F-B4978883528F}" destId="{50BDB9E4-7990-47FE-A890-3ED88E9DA66D}" srcOrd="13" destOrd="0" presId="urn:microsoft.com/office/officeart/2005/8/layout/list1"/>
    <dgm:cxn modelId="{20B6FDBD-329C-4F21-A6C4-6DBFB9D0C3A3}" type="presParOf" srcId="{F8BA4A2B-E5FC-4190-844F-B4978883528F}" destId="{30FE1A79-70AB-4A85-83C9-15E5ADEBE9C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220D8FC-53DD-4AC2-8365-8BED566C1CA2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A5A9DB-3335-40F4-9D41-73A743A193D7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Marketplace for Spoiled Grains sale</a:t>
          </a:r>
        </a:p>
      </dgm:t>
    </dgm:pt>
    <dgm:pt modelId="{B2F4C2D3-DBDA-41E3-88AA-0A750877CC0F}" type="parTrans" cxnId="{B868C0FA-C1F0-44B3-A173-BF93275E5B67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43D15D-DCB1-443F-99B9-CE0A948664BC}" type="sibTrans" cxnId="{B868C0FA-C1F0-44B3-A173-BF93275E5B67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C1E4093-5E50-4C4D-956E-65C72A0432D2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Unwavering Payment Assurance for Farmers</a:t>
          </a:r>
        </a:p>
      </dgm:t>
    </dgm:pt>
    <dgm:pt modelId="{9209330A-0332-4493-AFF6-7C2247EDDBF9}" type="parTrans" cxnId="{D6580C63-A056-4307-9B7D-92DC5A15B81A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1CC167-333A-4CB1-9102-EA21B7D0994C}" type="sibTrans" cxnId="{D6580C63-A056-4307-9B7D-92DC5A15B81A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C28FF07-F545-4B83-9903-34E902D5241B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Multilingual Capabilities for Effortless Navigation</a:t>
          </a:r>
        </a:p>
      </dgm:t>
    </dgm:pt>
    <dgm:pt modelId="{0F26FD0F-AA3E-46B0-ACFE-5BE44C3D6656}" type="parTrans" cxnId="{92E07FC1-1FE7-48A6-8DDF-73507E5B8031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9774B69-380B-4989-954C-4D6306655048}" type="sibTrans" cxnId="{92E07FC1-1FE7-48A6-8DDF-73507E5B8031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074FD9-6265-452D-B113-2BD68B3D485C}">
      <dgm:prSet custT="1"/>
      <dgm:spPr/>
      <dgm:t>
        <a:bodyPr/>
        <a:lstStyle/>
        <a:p>
          <a:pPr algn="ctr"/>
          <a:r>
            <a:rPr lang="en-US" sz="1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Voice and Text-Based Communication Options</a:t>
          </a:r>
        </a:p>
      </dgm:t>
    </dgm:pt>
    <dgm:pt modelId="{4A94BC73-AB74-4002-AB8F-076EC9B8173D}" type="parTrans" cxnId="{E704C239-9BB3-4265-887B-0ED5AD1D20B7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DA1864-7835-4149-B90C-ADE29AADE719}" type="sibTrans" cxnId="{E704C239-9BB3-4265-887B-0ED5AD1D20B7}">
      <dgm:prSet/>
      <dgm:spPr/>
      <dgm:t>
        <a:bodyPr/>
        <a:lstStyle/>
        <a:p>
          <a:pPr algn="ctr"/>
          <a:endParaRPr lang="en-US" sz="10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11431F-1331-448A-AEA8-6177576FFD49}" type="pres">
      <dgm:prSet presAssocID="{4220D8FC-53DD-4AC2-8365-8BED566C1CA2}" presName="linear" presStyleCnt="0">
        <dgm:presLayoutVars>
          <dgm:dir val="rev"/>
          <dgm:animLvl val="lvl"/>
          <dgm:resizeHandles val="exact"/>
        </dgm:presLayoutVars>
      </dgm:prSet>
      <dgm:spPr/>
    </dgm:pt>
    <dgm:pt modelId="{1679E11E-2961-418A-ABE4-52B733AE80FB}" type="pres">
      <dgm:prSet presAssocID="{35A5A9DB-3335-40F4-9D41-73A743A193D7}" presName="parentLin" presStyleCnt="0"/>
      <dgm:spPr/>
    </dgm:pt>
    <dgm:pt modelId="{F146CD2D-D46D-4144-B4BC-63B1BCD2466E}" type="pres">
      <dgm:prSet presAssocID="{35A5A9DB-3335-40F4-9D41-73A743A193D7}" presName="parentLeftMargin" presStyleLbl="node1" presStyleIdx="0" presStyleCnt="4"/>
      <dgm:spPr/>
    </dgm:pt>
    <dgm:pt modelId="{4B13F39D-08AF-4CCA-A2D2-AA9C94451FE3}" type="pres">
      <dgm:prSet presAssocID="{35A5A9DB-3335-40F4-9D41-73A743A193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6AAFAD5-3F2D-4424-8B7D-5D0F0972A43C}" type="pres">
      <dgm:prSet presAssocID="{35A5A9DB-3335-40F4-9D41-73A743A193D7}" presName="negativeSpace" presStyleCnt="0"/>
      <dgm:spPr/>
    </dgm:pt>
    <dgm:pt modelId="{E061E0C9-C290-47F3-BBF1-8BCA4C953781}" type="pres">
      <dgm:prSet presAssocID="{35A5A9DB-3335-40F4-9D41-73A743A193D7}" presName="childText" presStyleLbl="conFgAcc1" presStyleIdx="0" presStyleCnt="4">
        <dgm:presLayoutVars>
          <dgm:bulletEnabled val="1"/>
        </dgm:presLayoutVars>
      </dgm:prSet>
      <dgm:spPr/>
    </dgm:pt>
    <dgm:pt modelId="{40653331-F628-499B-825D-7DE7380462D8}" type="pres">
      <dgm:prSet presAssocID="{E843D15D-DCB1-443F-99B9-CE0A948664BC}" presName="spaceBetweenRectangles" presStyleCnt="0"/>
      <dgm:spPr/>
    </dgm:pt>
    <dgm:pt modelId="{0E251BAD-BB2E-431A-83AE-44B056F19FAF}" type="pres">
      <dgm:prSet presAssocID="{7C1E4093-5E50-4C4D-956E-65C72A0432D2}" presName="parentLin" presStyleCnt="0"/>
      <dgm:spPr/>
    </dgm:pt>
    <dgm:pt modelId="{DD22CC61-09F0-4DB1-8899-60FBC1BB8F19}" type="pres">
      <dgm:prSet presAssocID="{7C1E4093-5E50-4C4D-956E-65C72A0432D2}" presName="parentLeftMargin" presStyleLbl="node1" presStyleIdx="0" presStyleCnt="4"/>
      <dgm:spPr/>
    </dgm:pt>
    <dgm:pt modelId="{F1473BFC-9DC2-4A64-9A4E-3A65CBEB1D88}" type="pres">
      <dgm:prSet presAssocID="{7C1E4093-5E50-4C4D-956E-65C72A0432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FB4FEC1-E1C0-41A7-A348-97DADF6BFFE2}" type="pres">
      <dgm:prSet presAssocID="{7C1E4093-5E50-4C4D-956E-65C72A0432D2}" presName="negativeSpace" presStyleCnt="0"/>
      <dgm:spPr/>
    </dgm:pt>
    <dgm:pt modelId="{2ABCD895-C093-42A7-A98F-A872F22F69A3}" type="pres">
      <dgm:prSet presAssocID="{7C1E4093-5E50-4C4D-956E-65C72A0432D2}" presName="childText" presStyleLbl="conFgAcc1" presStyleIdx="1" presStyleCnt="4">
        <dgm:presLayoutVars>
          <dgm:bulletEnabled val="1"/>
        </dgm:presLayoutVars>
      </dgm:prSet>
      <dgm:spPr/>
    </dgm:pt>
    <dgm:pt modelId="{7F09DFD4-1BC6-4D38-AAD0-C189ACCF4C16}" type="pres">
      <dgm:prSet presAssocID="{761CC167-333A-4CB1-9102-EA21B7D0994C}" presName="spaceBetweenRectangles" presStyleCnt="0"/>
      <dgm:spPr/>
    </dgm:pt>
    <dgm:pt modelId="{6D4ED343-F8E8-4B11-9C28-7C8027475337}" type="pres">
      <dgm:prSet presAssocID="{DC28FF07-F545-4B83-9903-34E902D5241B}" presName="parentLin" presStyleCnt="0"/>
      <dgm:spPr/>
    </dgm:pt>
    <dgm:pt modelId="{FC30117B-B0C6-41E7-BB9F-88DB241BFB13}" type="pres">
      <dgm:prSet presAssocID="{DC28FF07-F545-4B83-9903-34E902D5241B}" presName="parentLeftMargin" presStyleLbl="node1" presStyleIdx="1" presStyleCnt="4"/>
      <dgm:spPr/>
    </dgm:pt>
    <dgm:pt modelId="{36BEF5A2-FC79-4A02-B7E0-0B069AD25241}" type="pres">
      <dgm:prSet presAssocID="{DC28FF07-F545-4B83-9903-34E902D524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A89718-7AE8-4496-BB25-81BB7D062A78}" type="pres">
      <dgm:prSet presAssocID="{DC28FF07-F545-4B83-9903-34E902D5241B}" presName="negativeSpace" presStyleCnt="0"/>
      <dgm:spPr/>
    </dgm:pt>
    <dgm:pt modelId="{D08FE7F1-3048-4107-A9D6-010C9DCCBB83}" type="pres">
      <dgm:prSet presAssocID="{DC28FF07-F545-4B83-9903-34E902D5241B}" presName="childText" presStyleLbl="conFgAcc1" presStyleIdx="2" presStyleCnt="4">
        <dgm:presLayoutVars>
          <dgm:bulletEnabled val="1"/>
        </dgm:presLayoutVars>
      </dgm:prSet>
      <dgm:spPr/>
    </dgm:pt>
    <dgm:pt modelId="{D9F69F0B-420A-4BEE-B00A-AC21A10D2054}" type="pres">
      <dgm:prSet presAssocID="{99774B69-380B-4989-954C-4D6306655048}" presName="spaceBetweenRectangles" presStyleCnt="0"/>
      <dgm:spPr/>
    </dgm:pt>
    <dgm:pt modelId="{47295378-E95E-4C44-99DE-247FE5A5633E}" type="pres">
      <dgm:prSet presAssocID="{F2074FD9-6265-452D-B113-2BD68B3D485C}" presName="parentLin" presStyleCnt="0"/>
      <dgm:spPr/>
    </dgm:pt>
    <dgm:pt modelId="{1725530B-D632-46EC-A682-FC416A5573DF}" type="pres">
      <dgm:prSet presAssocID="{F2074FD9-6265-452D-B113-2BD68B3D485C}" presName="parentLeftMargin" presStyleLbl="node1" presStyleIdx="2" presStyleCnt="4"/>
      <dgm:spPr/>
    </dgm:pt>
    <dgm:pt modelId="{456ACEA7-5E34-4CAB-ABC8-EA933A71D8F4}" type="pres">
      <dgm:prSet presAssocID="{F2074FD9-6265-452D-B113-2BD68B3D485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709A2EE-7546-4CDF-8B0F-2FC6A6E629C0}" type="pres">
      <dgm:prSet presAssocID="{F2074FD9-6265-452D-B113-2BD68B3D485C}" presName="negativeSpace" presStyleCnt="0"/>
      <dgm:spPr/>
    </dgm:pt>
    <dgm:pt modelId="{0F403E3A-2629-4A1C-A8AE-7B633698065A}" type="pres">
      <dgm:prSet presAssocID="{F2074FD9-6265-452D-B113-2BD68B3D485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BFD7C17-640D-4AF4-ACD4-C2EF1D8E7599}" type="presOf" srcId="{35A5A9DB-3335-40F4-9D41-73A743A193D7}" destId="{4B13F39D-08AF-4CCA-A2D2-AA9C94451FE3}" srcOrd="1" destOrd="0" presId="urn:microsoft.com/office/officeart/2005/8/layout/list1"/>
    <dgm:cxn modelId="{7430D11D-78B5-4842-8ED2-61892B402F8F}" type="presOf" srcId="{DC28FF07-F545-4B83-9903-34E902D5241B}" destId="{36BEF5A2-FC79-4A02-B7E0-0B069AD25241}" srcOrd="1" destOrd="0" presId="urn:microsoft.com/office/officeart/2005/8/layout/list1"/>
    <dgm:cxn modelId="{3B9F0D22-24CC-4D0C-AE88-DAE26580FCFF}" type="presOf" srcId="{7C1E4093-5E50-4C4D-956E-65C72A0432D2}" destId="{DD22CC61-09F0-4DB1-8899-60FBC1BB8F19}" srcOrd="0" destOrd="0" presId="urn:microsoft.com/office/officeart/2005/8/layout/list1"/>
    <dgm:cxn modelId="{E704C239-9BB3-4265-887B-0ED5AD1D20B7}" srcId="{4220D8FC-53DD-4AC2-8365-8BED566C1CA2}" destId="{F2074FD9-6265-452D-B113-2BD68B3D485C}" srcOrd="3" destOrd="0" parTransId="{4A94BC73-AB74-4002-AB8F-076EC9B8173D}" sibTransId="{2DDA1864-7835-4149-B90C-ADE29AADE719}"/>
    <dgm:cxn modelId="{D6580C63-A056-4307-9B7D-92DC5A15B81A}" srcId="{4220D8FC-53DD-4AC2-8365-8BED566C1CA2}" destId="{7C1E4093-5E50-4C4D-956E-65C72A0432D2}" srcOrd="1" destOrd="0" parTransId="{9209330A-0332-4493-AFF6-7C2247EDDBF9}" sibTransId="{761CC167-333A-4CB1-9102-EA21B7D0994C}"/>
    <dgm:cxn modelId="{BB63706D-6734-4B76-8EC0-0F21C6B90E4B}" type="presOf" srcId="{7C1E4093-5E50-4C4D-956E-65C72A0432D2}" destId="{F1473BFC-9DC2-4A64-9A4E-3A65CBEB1D88}" srcOrd="1" destOrd="0" presId="urn:microsoft.com/office/officeart/2005/8/layout/list1"/>
    <dgm:cxn modelId="{710D3C7C-6C97-4532-82AF-74A21526BFD0}" type="presOf" srcId="{35A5A9DB-3335-40F4-9D41-73A743A193D7}" destId="{F146CD2D-D46D-4144-B4BC-63B1BCD2466E}" srcOrd="0" destOrd="0" presId="urn:microsoft.com/office/officeart/2005/8/layout/list1"/>
    <dgm:cxn modelId="{94BD4281-441D-4210-9BDC-D901E494572E}" type="presOf" srcId="{F2074FD9-6265-452D-B113-2BD68B3D485C}" destId="{456ACEA7-5E34-4CAB-ABC8-EA933A71D8F4}" srcOrd="1" destOrd="0" presId="urn:microsoft.com/office/officeart/2005/8/layout/list1"/>
    <dgm:cxn modelId="{B9384D9E-78DF-4283-8490-FCF19B48A887}" type="presOf" srcId="{4220D8FC-53DD-4AC2-8365-8BED566C1CA2}" destId="{7711431F-1331-448A-AEA8-6177576FFD49}" srcOrd="0" destOrd="0" presId="urn:microsoft.com/office/officeart/2005/8/layout/list1"/>
    <dgm:cxn modelId="{92E07FC1-1FE7-48A6-8DDF-73507E5B8031}" srcId="{4220D8FC-53DD-4AC2-8365-8BED566C1CA2}" destId="{DC28FF07-F545-4B83-9903-34E902D5241B}" srcOrd="2" destOrd="0" parTransId="{0F26FD0F-AA3E-46B0-ACFE-5BE44C3D6656}" sibTransId="{99774B69-380B-4989-954C-4D6306655048}"/>
    <dgm:cxn modelId="{D52DDBE3-382E-48CB-B9F2-93D59C3DE784}" type="presOf" srcId="{F2074FD9-6265-452D-B113-2BD68B3D485C}" destId="{1725530B-D632-46EC-A682-FC416A5573DF}" srcOrd="0" destOrd="0" presId="urn:microsoft.com/office/officeart/2005/8/layout/list1"/>
    <dgm:cxn modelId="{9D6795EE-4630-45AE-94DB-98654CD583F7}" type="presOf" srcId="{DC28FF07-F545-4B83-9903-34E902D5241B}" destId="{FC30117B-B0C6-41E7-BB9F-88DB241BFB13}" srcOrd="0" destOrd="0" presId="urn:microsoft.com/office/officeart/2005/8/layout/list1"/>
    <dgm:cxn modelId="{B868C0FA-C1F0-44B3-A173-BF93275E5B67}" srcId="{4220D8FC-53DD-4AC2-8365-8BED566C1CA2}" destId="{35A5A9DB-3335-40F4-9D41-73A743A193D7}" srcOrd="0" destOrd="0" parTransId="{B2F4C2D3-DBDA-41E3-88AA-0A750877CC0F}" sibTransId="{E843D15D-DCB1-443F-99B9-CE0A948664BC}"/>
    <dgm:cxn modelId="{BB9C8F0B-5B8F-4E06-8E43-CA7B9DEEF5B3}" type="presParOf" srcId="{7711431F-1331-448A-AEA8-6177576FFD49}" destId="{1679E11E-2961-418A-ABE4-52B733AE80FB}" srcOrd="0" destOrd="0" presId="urn:microsoft.com/office/officeart/2005/8/layout/list1"/>
    <dgm:cxn modelId="{FD1956A7-53B6-4C6A-A5FC-F84705FD000D}" type="presParOf" srcId="{1679E11E-2961-418A-ABE4-52B733AE80FB}" destId="{F146CD2D-D46D-4144-B4BC-63B1BCD2466E}" srcOrd="0" destOrd="0" presId="urn:microsoft.com/office/officeart/2005/8/layout/list1"/>
    <dgm:cxn modelId="{C76825B2-D6B9-486D-89C9-3F9100A29BA6}" type="presParOf" srcId="{1679E11E-2961-418A-ABE4-52B733AE80FB}" destId="{4B13F39D-08AF-4CCA-A2D2-AA9C94451FE3}" srcOrd="1" destOrd="0" presId="urn:microsoft.com/office/officeart/2005/8/layout/list1"/>
    <dgm:cxn modelId="{2E06F9FE-1024-4676-A3FA-651707DD1F74}" type="presParOf" srcId="{7711431F-1331-448A-AEA8-6177576FFD49}" destId="{F6AAFAD5-3F2D-4424-8B7D-5D0F0972A43C}" srcOrd="1" destOrd="0" presId="urn:microsoft.com/office/officeart/2005/8/layout/list1"/>
    <dgm:cxn modelId="{8E3BF1B1-CB12-49BD-9BA7-4BB0E03E782B}" type="presParOf" srcId="{7711431F-1331-448A-AEA8-6177576FFD49}" destId="{E061E0C9-C290-47F3-BBF1-8BCA4C953781}" srcOrd="2" destOrd="0" presId="urn:microsoft.com/office/officeart/2005/8/layout/list1"/>
    <dgm:cxn modelId="{8B9B09D7-0D93-4869-B686-E8D7CD847402}" type="presParOf" srcId="{7711431F-1331-448A-AEA8-6177576FFD49}" destId="{40653331-F628-499B-825D-7DE7380462D8}" srcOrd="3" destOrd="0" presId="urn:microsoft.com/office/officeart/2005/8/layout/list1"/>
    <dgm:cxn modelId="{53E2FD16-D3A4-4D47-A07B-7653983804A9}" type="presParOf" srcId="{7711431F-1331-448A-AEA8-6177576FFD49}" destId="{0E251BAD-BB2E-431A-83AE-44B056F19FAF}" srcOrd="4" destOrd="0" presId="urn:microsoft.com/office/officeart/2005/8/layout/list1"/>
    <dgm:cxn modelId="{79561514-407B-457B-8318-3336B681453E}" type="presParOf" srcId="{0E251BAD-BB2E-431A-83AE-44B056F19FAF}" destId="{DD22CC61-09F0-4DB1-8899-60FBC1BB8F19}" srcOrd="0" destOrd="0" presId="urn:microsoft.com/office/officeart/2005/8/layout/list1"/>
    <dgm:cxn modelId="{1E289C90-6B6D-4492-8FB2-1CE14A807FD6}" type="presParOf" srcId="{0E251BAD-BB2E-431A-83AE-44B056F19FAF}" destId="{F1473BFC-9DC2-4A64-9A4E-3A65CBEB1D88}" srcOrd="1" destOrd="0" presId="urn:microsoft.com/office/officeart/2005/8/layout/list1"/>
    <dgm:cxn modelId="{C07A1A93-6FBF-4A04-AC96-A36AAA9EFFA5}" type="presParOf" srcId="{7711431F-1331-448A-AEA8-6177576FFD49}" destId="{0FB4FEC1-E1C0-41A7-A348-97DADF6BFFE2}" srcOrd="5" destOrd="0" presId="urn:microsoft.com/office/officeart/2005/8/layout/list1"/>
    <dgm:cxn modelId="{3C8AB566-A75B-4C7E-8CA0-905128A9B102}" type="presParOf" srcId="{7711431F-1331-448A-AEA8-6177576FFD49}" destId="{2ABCD895-C093-42A7-A98F-A872F22F69A3}" srcOrd="6" destOrd="0" presId="urn:microsoft.com/office/officeart/2005/8/layout/list1"/>
    <dgm:cxn modelId="{0AC5D014-8D1C-4278-8D94-794733BFC12D}" type="presParOf" srcId="{7711431F-1331-448A-AEA8-6177576FFD49}" destId="{7F09DFD4-1BC6-4D38-AAD0-C189ACCF4C16}" srcOrd="7" destOrd="0" presId="urn:microsoft.com/office/officeart/2005/8/layout/list1"/>
    <dgm:cxn modelId="{9F32A438-10D2-4121-9232-075C3EFDE2B3}" type="presParOf" srcId="{7711431F-1331-448A-AEA8-6177576FFD49}" destId="{6D4ED343-F8E8-4B11-9C28-7C8027475337}" srcOrd="8" destOrd="0" presId="urn:microsoft.com/office/officeart/2005/8/layout/list1"/>
    <dgm:cxn modelId="{8F859D30-D8E4-4E25-AFA5-E54F640299BB}" type="presParOf" srcId="{6D4ED343-F8E8-4B11-9C28-7C8027475337}" destId="{FC30117B-B0C6-41E7-BB9F-88DB241BFB13}" srcOrd="0" destOrd="0" presId="urn:microsoft.com/office/officeart/2005/8/layout/list1"/>
    <dgm:cxn modelId="{E89B9F2A-AED9-438A-BE7D-BDACD52387A8}" type="presParOf" srcId="{6D4ED343-F8E8-4B11-9C28-7C8027475337}" destId="{36BEF5A2-FC79-4A02-B7E0-0B069AD25241}" srcOrd="1" destOrd="0" presId="urn:microsoft.com/office/officeart/2005/8/layout/list1"/>
    <dgm:cxn modelId="{0F99D66C-006A-453A-8C4C-0B7C27127BE3}" type="presParOf" srcId="{7711431F-1331-448A-AEA8-6177576FFD49}" destId="{5DA89718-7AE8-4496-BB25-81BB7D062A78}" srcOrd="9" destOrd="0" presId="urn:microsoft.com/office/officeart/2005/8/layout/list1"/>
    <dgm:cxn modelId="{265985F8-F22C-44D5-910B-4EC4DE82D493}" type="presParOf" srcId="{7711431F-1331-448A-AEA8-6177576FFD49}" destId="{D08FE7F1-3048-4107-A9D6-010C9DCCBB83}" srcOrd="10" destOrd="0" presId="urn:microsoft.com/office/officeart/2005/8/layout/list1"/>
    <dgm:cxn modelId="{F8B28CF5-FC06-4325-A974-5C344839FD49}" type="presParOf" srcId="{7711431F-1331-448A-AEA8-6177576FFD49}" destId="{D9F69F0B-420A-4BEE-B00A-AC21A10D2054}" srcOrd="11" destOrd="0" presId="urn:microsoft.com/office/officeart/2005/8/layout/list1"/>
    <dgm:cxn modelId="{9B56D668-F2BE-410D-85BD-7FA305EC30C6}" type="presParOf" srcId="{7711431F-1331-448A-AEA8-6177576FFD49}" destId="{47295378-E95E-4C44-99DE-247FE5A5633E}" srcOrd="12" destOrd="0" presId="urn:microsoft.com/office/officeart/2005/8/layout/list1"/>
    <dgm:cxn modelId="{C5721F65-A55B-420F-8E94-36468E0B2882}" type="presParOf" srcId="{47295378-E95E-4C44-99DE-247FE5A5633E}" destId="{1725530B-D632-46EC-A682-FC416A5573DF}" srcOrd="0" destOrd="0" presId="urn:microsoft.com/office/officeart/2005/8/layout/list1"/>
    <dgm:cxn modelId="{DE15BD0B-5798-40D1-A743-45821BE088DA}" type="presParOf" srcId="{47295378-E95E-4C44-99DE-247FE5A5633E}" destId="{456ACEA7-5E34-4CAB-ABC8-EA933A71D8F4}" srcOrd="1" destOrd="0" presId="urn:microsoft.com/office/officeart/2005/8/layout/list1"/>
    <dgm:cxn modelId="{A5EA9901-7E84-415F-9E4C-A5EEB8A18BF4}" type="presParOf" srcId="{7711431F-1331-448A-AEA8-6177576FFD49}" destId="{B709A2EE-7546-4CDF-8B0F-2FC6A6E629C0}" srcOrd="13" destOrd="0" presId="urn:microsoft.com/office/officeart/2005/8/layout/list1"/>
    <dgm:cxn modelId="{8B6CF3B3-7D28-435F-9F8A-D4A993D7D6BD}" type="presParOf" srcId="{7711431F-1331-448A-AEA8-6177576FFD49}" destId="{0F403E3A-2629-4A1C-A8AE-7B633698065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B578E7-41CF-4462-822F-55909D3C4190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318DD0-63E7-4CFE-85B7-166ECA5F55A5}">
      <dgm:prSet/>
      <dgm:spPr/>
      <dgm:t>
        <a:bodyPr/>
        <a:lstStyle/>
        <a:p>
          <a:r>
            <a:rPr lang="en-US" b="1"/>
            <a:t>Transaction fees</a:t>
          </a:r>
        </a:p>
      </dgm:t>
    </dgm:pt>
    <dgm:pt modelId="{B5289972-FB15-4484-B8A8-2D1D5129BC9C}" type="parTrans" cxnId="{38CB5D41-2858-41C8-B54D-FEC8E919ED0A}">
      <dgm:prSet/>
      <dgm:spPr/>
      <dgm:t>
        <a:bodyPr/>
        <a:lstStyle/>
        <a:p>
          <a:endParaRPr lang="en-US"/>
        </a:p>
      </dgm:t>
    </dgm:pt>
    <dgm:pt modelId="{249F6F9B-E5D2-456D-894B-E064377D2012}" type="sibTrans" cxnId="{38CB5D41-2858-41C8-B54D-FEC8E919ED0A}">
      <dgm:prSet/>
      <dgm:spPr/>
      <dgm:t>
        <a:bodyPr/>
        <a:lstStyle/>
        <a:p>
          <a:endParaRPr lang="en-US"/>
        </a:p>
      </dgm:t>
    </dgm:pt>
    <dgm:pt modelId="{8266FBA0-BEFC-444E-9769-26EE505184A4}">
      <dgm:prSet/>
      <dgm:spPr/>
      <dgm:t>
        <a:bodyPr/>
        <a:lstStyle/>
        <a:p>
          <a:r>
            <a:rPr lang="en-US"/>
            <a:t>⁠</a:t>
          </a:r>
          <a:r>
            <a:rPr lang="en-US" b="1"/>
            <a:t>Ad Revenue</a:t>
          </a:r>
        </a:p>
      </dgm:t>
    </dgm:pt>
    <dgm:pt modelId="{8BBFF8B7-C293-4512-A5DF-27841C71D86C}" type="parTrans" cxnId="{56928331-3CE9-496B-9E70-ECEC14EF4028}">
      <dgm:prSet/>
      <dgm:spPr/>
      <dgm:t>
        <a:bodyPr/>
        <a:lstStyle/>
        <a:p>
          <a:endParaRPr lang="en-US"/>
        </a:p>
      </dgm:t>
    </dgm:pt>
    <dgm:pt modelId="{CAD4269D-5400-4838-935B-685E06A4E95C}" type="sibTrans" cxnId="{56928331-3CE9-496B-9E70-ECEC14EF4028}">
      <dgm:prSet/>
      <dgm:spPr/>
      <dgm:t>
        <a:bodyPr/>
        <a:lstStyle/>
        <a:p>
          <a:endParaRPr lang="en-US"/>
        </a:p>
      </dgm:t>
    </dgm:pt>
    <dgm:pt modelId="{04A12F22-61FC-47D2-B68A-81A6A5B8D6B9}">
      <dgm:prSet/>
      <dgm:spPr/>
      <dgm:t>
        <a:bodyPr/>
        <a:lstStyle/>
        <a:p>
          <a:r>
            <a:rPr lang="en-US" b="1"/>
            <a:t>Platform Fee</a:t>
          </a:r>
        </a:p>
      </dgm:t>
    </dgm:pt>
    <dgm:pt modelId="{2BB25E17-404E-45CB-A956-0C85550DA179}" type="parTrans" cxnId="{EDF7AA47-4A87-46E1-89DD-11B69C39CBF6}">
      <dgm:prSet/>
      <dgm:spPr/>
      <dgm:t>
        <a:bodyPr/>
        <a:lstStyle/>
        <a:p>
          <a:endParaRPr lang="en-US"/>
        </a:p>
      </dgm:t>
    </dgm:pt>
    <dgm:pt modelId="{989B683B-D4B1-49D4-A246-495421206E38}" type="sibTrans" cxnId="{EDF7AA47-4A87-46E1-89DD-11B69C39CBF6}">
      <dgm:prSet/>
      <dgm:spPr/>
      <dgm:t>
        <a:bodyPr/>
        <a:lstStyle/>
        <a:p>
          <a:endParaRPr lang="en-US"/>
        </a:p>
      </dgm:t>
    </dgm:pt>
    <dgm:pt modelId="{F482BEF6-8515-4A32-B0F2-C79B77101A91}">
      <dgm:prSet/>
      <dgm:spPr/>
      <dgm:t>
        <a:bodyPr/>
        <a:lstStyle/>
        <a:p>
          <a:r>
            <a:rPr lang="en-US"/>
            <a:t>⁠Subscription fees</a:t>
          </a:r>
        </a:p>
      </dgm:t>
    </dgm:pt>
    <dgm:pt modelId="{51AFF482-3A7B-4A65-A46D-A0D53450B0DC}" type="parTrans" cxnId="{D49ADFAF-BD7E-458E-8F80-2B6758008A5E}">
      <dgm:prSet/>
      <dgm:spPr/>
      <dgm:t>
        <a:bodyPr/>
        <a:lstStyle/>
        <a:p>
          <a:endParaRPr lang="en-US"/>
        </a:p>
      </dgm:t>
    </dgm:pt>
    <dgm:pt modelId="{5EF7AC40-C77D-495E-B261-21C92E29374D}" type="sibTrans" cxnId="{D49ADFAF-BD7E-458E-8F80-2B6758008A5E}">
      <dgm:prSet/>
      <dgm:spPr/>
      <dgm:t>
        <a:bodyPr/>
        <a:lstStyle/>
        <a:p>
          <a:endParaRPr lang="en-US"/>
        </a:p>
      </dgm:t>
    </dgm:pt>
    <dgm:pt modelId="{1D20E121-7633-4DA1-8DDF-75E073794480}">
      <dgm:prSet/>
      <dgm:spPr/>
      <dgm:t>
        <a:bodyPr/>
        <a:lstStyle/>
        <a:p>
          <a:r>
            <a:rPr lang="en-US"/>
            <a:t>Charged from both buyer and seller</a:t>
          </a:r>
        </a:p>
      </dgm:t>
    </dgm:pt>
    <dgm:pt modelId="{E23465E4-0242-4EF6-B966-365BC00085CB}" type="parTrans" cxnId="{12837CEB-5E1A-4215-9022-EC1629FDDE01}">
      <dgm:prSet/>
      <dgm:spPr/>
      <dgm:t>
        <a:bodyPr/>
        <a:lstStyle/>
        <a:p>
          <a:endParaRPr lang="en-US"/>
        </a:p>
      </dgm:t>
    </dgm:pt>
    <dgm:pt modelId="{244E043A-A7DD-4F7D-BDC0-3A097D396FF8}" type="sibTrans" cxnId="{12837CEB-5E1A-4215-9022-EC1629FDDE01}">
      <dgm:prSet/>
      <dgm:spPr/>
      <dgm:t>
        <a:bodyPr/>
        <a:lstStyle/>
        <a:p>
          <a:endParaRPr lang="en-US"/>
        </a:p>
      </dgm:t>
    </dgm:pt>
    <dgm:pt modelId="{69C8E54D-0D70-40EF-ADFC-3E6944AB2B99}">
      <dgm:prSet/>
      <dgm:spPr/>
      <dgm:t>
        <a:bodyPr/>
        <a:lstStyle/>
        <a:p>
          <a:r>
            <a:rPr lang="en-US"/>
            <a:t>Income from website and app ads</a:t>
          </a:r>
        </a:p>
      </dgm:t>
    </dgm:pt>
    <dgm:pt modelId="{EABF068C-0E0F-4FEE-9A34-D72EA91F5D39}" type="parTrans" cxnId="{BACA8D51-0F5B-4640-BFFF-A88BC0D37B08}">
      <dgm:prSet/>
      <dgm:spPr/>
      <dgm:t>
        <a:bodyPr/>
        <a:lstStyle/>
        <a:p>
          <a:endParaRPr lang="en-US"/>
        </a:p>
      </dgm:t>
    </dgm:pt>
    <dgm:pt modelId="{ADA486E9-3ACA-43A7-AA65-784563269443}" type="sibTrans" cxnId="{BACA8D51-0F5B-4640-BFFF-A88BC0D37B08}">
      <dgm:prSet/>
      <dgm:spPr/>
      <dgm:t>
        <a:bodyPr/>
        <a:lstStyle/>
        <a:p>
          <a:endParaRPr lang="en-US"/>
        </a:p>
      </dgm:t>
    </dgm:pt>
    <dgm:pt modelId="{58217D4A-88CE-45CB-BC21-98B1DF75977F}">
      <dgm:prSet/>
      <dgm:spPr/>
      <dgm:t>
        <a:bodyPr/>
        <a:lstStyle/>
        <a:p>
          <a:r>
            <a:rPr lang="en-US" dirty="0"/>
            <a:t> for the Breweries and Distilleries</a:t>
          </a:r>
        </a:p>
      </dgm:t>
    </dgm:pt>
    <dgm:pt modelId="{785FBD57-BFC6-416F-8543-D10DF3828ECB}" type="parTrans" cxnId="{670EABCB-C8EF-4AF5-8E9B-43D7142AC123}">
      <dgm:prSet/>
      <dgm:spPr/>
      <dgm:t>
        <a:bodyPr/>
        <a:lstStyle/>
        <a:p>
          <a:endParaRPr lang="en-US"/>
        </a:p>
      </dgm:t>
    </dgm:pt>
    <dgm:pt modelId="{9E989994-DC25-4EAB-B47B-4C6D5FA9F393}" type="sibTrans" cxnId="{670EABCB-C8EF-4AF5-8E9B-43D7142AC123}">
      <dgm:prSet/>
      <dgm:spPr/>
      <dgm:t>
        <a:bodyPr/>
        <a:lstStyle/>
        <a:p>
          <a:endParaRPr lang="en-US"/>
        </a:p>
      </dgm:t>
    </dgm:pt>
    <dgm:pt modelId="{07950223-30F6-40B4-A526-E62E4915C9A4}">
      <dgm:prSet/>
      <dgm:spPr/>
      <dgm:t>
        <a:bodyPr/>
        <a:lstStyle/>
        <a:p>
          <a:r>
            <a:rPr lang="en-US"/>
            <a:t>for Transportation service providers</a:t>
          </a:r>
        </a:p>
      </dgm:t>
    </dgm:pt>
    <dgm:pt modelId="{BF3A7BAB-2051-42A4-B4C9-E932B8CB3FF8}" type="parTrans" cxnId="{1F91A5D3-CC96-4581-9767-86D1F783CB22}">
      <dgm:prSet/>
      <dgm:spPr/>
      <dgm:t>
        <a:bodyPr/>
        <a:lstStyle/>
        <a:p>
          <a:endParaRPr lang="en-US"/>
        </a:p>
      </dgm:t>
    </dgm:pt>
    <dgm:pt modelId="{4CD569E0-10A0-4FDE-9570-57D4D536D7BF}" type="sibTrans" cxnId="{1F91A5D3-CC96-4581-9767-86D1F783CB22}">
      <dgm:prSet/>
      <dgm:spPr/>
      <dgm:t>
        <a:bodyPr/>
        <a:lstStyle/>
        <a:p>
          <a:endParaRPr lang="en-US"/>
        </a:p>
      </dgm:t>
    </dgm:pt>
    <dgm:pt modelId="{3F85B93E-A8AD-44E9-882E-0A38D951D0A1}" type="pres">
      <dgm:prSet presAssocID="{38B578E7-41CF-4462-822F-55909D3C4190}" presName="Name0" presStyleCnt="0">
        <dgm:presLayoutVars>
          <dgm:dir/>
          <dgm:resizeHandles val="exact"/>
        </dgm:presLayoutVars>
      </dgm:prSet>
      <dgm:spPr/>
    </dgm:pt>
    <dgm:pt modelId="{727B011A-2946-404C-8BC6-DB247F2AFA26}" type="pres">
      <dgm:prSet presAssocID="{46318DD0-63E7-4CFE-85B7-166ECA5F55A5}" presName="composite" presStyleCnt="0"/>
      <dgm:spPr/>
    </dgm:pt>
    <dgm:pt modelId="{48166E27-9F2A-4B62-8BD7-09C6BE871459}" type="pres">
      <dgm:prSet presAssocID="{46318DD0-63E7-4CFE-85B7-166ECA5F55A5}" presName="rect1" presStyleLbl="trAlignAcc1" presStyleIdx="0" presStyleCnt="4">
        <dgm:presLayoutVars>
          <dgm:bulletEnabled val="1"/>
        </dgm:presLayoutVars>
      </dgm:prSet>
      <dgm:spPr/>
    </dgm:pt>
    <dgm:pt modelId="{5FAFD57E-F99E-4F75-918A-085C3E6D9303}" type="pres">
      <dgm:prSet presAssocID="{46318DD0-63E7-4CFE-85B7-166ECA5F55A5}" presName="rect2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Takeaway with solid fill"/>
        </a:ext>
      </dgm:extLst>
    </dgm:pt>
    <dgm:pt modelId="{1334D20A-F0E1-4499-BCD1-4B69E4418DB4}" type="pres">
      <dgm:prSet presAssocID="{249F6F9B-E5D2-456D-894B-E064377D2012}" presName="sibTrans" presStyleCnt="0"/>
      <dgm:spPr/>
    </dgm:pt>
    <dgm:pt modelId="{223DE9F2-4DE0-4904-9346-A01044222081}" type="pres">
      <dgm:prSet presAssocID="{8266FBA0-BEFC-444E-9769-26EE505184A4}" presName="composite" presStyleCnt="0"/>
      <dgm:spPr/>
    </dgm:pt>
    <dgm:pt modelId="{8B279E08-4B63-47C2-93ED-D571168F68F2}" type="pres">
      <dgm:prSet presAssocID="{8266FBA0-BEFC-444E-9769-26EE505184A4}" presName="rect1" presStyleLbl="trAlignAcc1" presStyleIdx="1" presStyleCnt="4">
        <dgm:presLayoutVars>
          <dgm:bulletEnabled val="1"/>
        </dgm:presLayoutVars>
      </dgm:prSet>
      <dgm:spPr/>
    </dgm:pt>
    <dgm:pt modelId="{775867CC-E897-4DCA-BD9C-884A6E1EBF17}" type="pres">
      <dgm:prSet presAssocID="{8266FBA0-BEFC-444E-9769-26EE505184A4}" presName="rect2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Target Audience with solid fill"/>
        </a:ext>
      </dgm:extLst>
    </dgm:pt>
    <dgm:pt modelId="{74F38956-721D-4FF3-A35C-AF2F91736B07}" type="pres">
      <dgm:prSet presAssocID="{CAD4269D-5400-4838-935B-685E06A4E95C}" presName="sibTrans" presStyleCnt="0"/>
      <dgm:spPr/>
    </dgm:pt>
    <dgm:pt modelId="{4D792665-B4C3-4400-AD86-64232808587B}" type="pres">
      <dgm:prSet presAssocID="{04A12F22-61FC-47D2-B68A-81A6A5B8D6B9}" presName="composite" presStyleCnt="0"/>
      <dgm:spPr/>
    </dgm:pt>
    <dgm:pt modelId="{454C98AB-8936-4121-938B-B227926D40FF}" type="pres">
      <dgm:prSet presAssocID="{04A12F22-61FC-47D2-B68A-81A6A5B8D6B9}" presName="rect1" presStyleLbl="trAlignAcc1" presStyleIdx="2" presStyleCnt="4">
        <dgm:presLayoutVars>
          <dgm:bulletEnabled val="1"/>
        </dgm:presLayoutVars>
      </dgm:prSet>
      <dgm:spPr/>
    </dgm:pt>
    <dgm:pt modelId="{1D7EAB42-1695-4F02-A180-2EF9BF446FF6}" type="pres">
      <dgm:prSet presAssocID="{04A12F22-61FC-47D2-B68A-81A6A5B8D6B9}" presName="rect2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mart Phone with solid fill"/>
        </a:ext>
      </dgm:extLst>
    </dgm:pt>
    <dgm:pt modelId="{D910CED6-FA70-4D2B-A75E-E6F268734228}" type="pres">
      <dgm:prSet presAssocID="{989B683B-D4B1-49D4-A246-495421206E38}" presName="sibTrans" presStyleCnt="0"/>
      <dgm:spPr/>
    </dgm:pt>
    <dgm:pt modelId="{F53389D4-AE8C-4FCD-9E10-77BC98355E22}" type="pres">
      <dgm:prSet presAssocID="{F482BEF6-8515-4A32-B0F2-C79B77101A91}" presName="composite" presStyleCnt="0"/>
      <dgm:spPr/>
    </dgm:pt>
    <dgm:pt modelId="{487CA176-8D4C-4DC9-9586-2CF489074A2F}" type="pres">
      <dgm:prSet presAssocID="{F482BEF6-8515-4A32-B0F2-C79B77101A91}" presName="rect1" presStyleLbl="trAlignAcc1" presStyleIdx="3" presStyleCnt="4">
        <dgm:presLayoutVars>
          <dgm:bulletEnabled val="1"/>
        </dgm:presLayoutVars>
      </dgm:prSet>
      <dgm:spPr/>
    </dgm:pt>
    <dgm:pt modelId="{E36B1C10-79B7-4182-B55F-8542D4B8F509}" type="pres">
      <dgm:prSet presAssocID="{F482BEF6-8515-4A32-B0F2-C79B77101A91}" presName="rect2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 with solid fill"/>
        </a:ext>
      </dgm:extLst>
    </dgm:pt>
  </dgm:ptLst>
  <dgm:cxnLst>
    <dgm:cxn modelId="{B1CAB201-83EA-41AC-8256-D65889360721}" type="presOf" srcId="{38B578E7-41CF-4462-822F-55909D3C4190}" destId="{3F85B93E-A8AD-44E9-882E-0A38D951D0A1}" srcOrd="0" destOrd="0" presId="urn:microsoft.com/office/officeart/2008/layout/PictureStrips"/>
    <dgm:cxn modelId="{1E83F413-A1A1-458E-B09B-2DFE41F5DD38}" type="presOf" srcId="{8266FBA0-BEFC-444E-9769-26EE505184A4}" destId="{8B279E08-4B63-47C2-93ED-D571168F68F2}" srcOrd="0" destOrd="0" presId="urn:microsoft.com/office/officeart/2008/layout/PictureStrips"/>
    <dgm:cxn modelId="{5D092024-AD70-4DED-AECA-268F3157A48E}" type="presOf" srcId="{04A12F22-61FC-47D2-B68A-81A6A5B8D6B9}" destId="{454C98AB-8936-4121-938B-B227926D40FF}" srcOrd="0" destOrd="0" presId="urn:microsoft.com/office/officeart/2008/layout/PictureStrips"/>
    <dgm:cxn modelId="{56928331-3CE9-496B-9E70-ECEC14EF4028}" srcId="{38B578E7-41CF-4462-822F-55909D3C4190}" destId="{8266FBA0-BEFC-444E-9769-26EE505184A4}" srcOrd="1" destOrd="0" parTransId="{8BBFF8B7-C293-4512-A5DF-27841C71D86C}" sibTransId="{CAD4269D-5400-4838-935B-685E06A4E95C}"/>
    <dgm:cxn modelId="{1D37663F-FF80-413C-AAC6-B78F318564C0}" type="presOf" srcId="{07950223-30F6-40B4-A526-E62E4915C9A4}" destId="{487CA176-8D4C-4DC9-9586-2CF489074A2F}" srcOrd="0" destOrd="1" presId="urn:microsoft.com/office/officeart/2008/layout/PictureStrips"/>
    <dgm:cxn modelId="{38CB5D41-2858-41C8-B54D-FEC8E919ED0A}" srcId="{38B578E7-41CF-4462-822F-55909D3C4190}" destId="{46318DD0-63E7-4CFE-85B7-166ECA5F55A5}" srcOrd="0" destOrd="0" parTransId="{B5289972-FB15-4484-B8A8-2D1D5129BC9C}" sibTransId="{249F6F9B-E5D2-456D-894B-E064377D2012}"/>
    <dgm:cxn modelId="{5340D443-424E-4CCC-BD65-9B799408CD75}" type="presOf" srcId="{69C8E54D-0D70-40EF-ADFC-3E6944AB2B99}" destId="{8B279E08-4B63-47C2-93ED-D571168F68F2}" srcOrd="0" destOrd="1" presId="urn:microsoft.com/office/officeart/2008/layout/PictureStrips"/>
    <dgm:cxn modelId="{EDF7AA47-4A87-46E1-89DD-11B69C39CBF6}" srcId="{38B578E7-41CF-4462-822F-55909D3C4190}" destId="{04A12F22-61FC-47D2-B68A-81A6A5B8D6B9}" srcOrd="2" destOrd="0" parTransId="{2BB25E17-404E-45CB-A956-0C85550DA179}" sibTransId="{989B683B-D4B1-49D4-A246-495421206E38}"/>
    <dgm:cxn modelId="{BACA8D51-0F5B-4640-BFFF-A88BC0D37B08}" srcId="{8266FBA0-BEFC-444E-9769-26EE505184A4}" destId="{69C8E54D-0D70-40EF-ADFC-3E6944AB2B99}" srcOrd="0" destOrd="0" parTransId="{EABF068C-0E0F-4FEE-9A34-D72EA91F5D39}" sibTransId="{ADA486E9-3ACA-43A7-AA65-784563269443}"/>
    <dgm:cxn modelId="{63BDD6A4-F2A6-47CC-B503-442C3F3F92F4}" type="presOf" srcId="{58217D4A-88CE-45CB-BC21-98B1DF75977F}" destId="{454C98AB-8936-4121-938B-B227926D40FF}" srcOrd="0" destOrd="1" presId="urn:microsoft.com/office/officeart/2008/layout/PictureStrips"/>
    <dgm:cxn modelId="{D49ADFAF-BD7E-458E-8F80-2B6758008A5E}" srcId="{38B578E7-41CF-4462-822F-55909D3C4190}" destId="{F482BEF6-8515-4A32-B0F2-C79B77101A91}" srcOrd="3" destOrd="0" parTransId="{51AFF482-3A7B-4A65-A46D-A0D53450B0DC}" sibTransId="{5EF7AC40-C77D-495E-B261-21C92E29374D}"/>
    <dgm:cxn modelId="{B9A913C8-5A35-4EFE-B149-4130B455CE48}" type="presOf" srcId="{1D20E121-7633-4DA1-8DDF-75E073794480}" destId="{48166E27-9F2A-4B62-8BD7-09C6BE871459}" srcOrd="0" destOrd="1" presId="urn:microsoft.com/office/officeart/2008/layout/PictureStrips"/>
    <dgm:cxn modelId="{670EABCB-C8EF-4AF5-8E9B-43D7142AC123}" srcId="{04A12F22-61FC-47D2-B68A-81A6A5B8D6B9}" destId="{58217D4A-88CE-45CB-BC21-98B1DF75977F}" srcOrd="0" destOrd="0" parTransId="{785FBD57-BFC6-416F-8543-D10DF3828ECB}" sibTransId="{9E989994-DC25-4EAB-B47B-4C6D5FA9F393}"/>
    <dgm:cxn modelId="{1F91A5D3-CC96-4581-9767-86D1F783CB22}" srcId="{F482BEF6-8515-4A32-B0F2-C79B77101A91}" destId="{07950223-30F6-40B4-A526-E62E4915C9A4}" srcOrd="0" destOrd="0" parTransId="{BF3A7BAB-2051-42A4-B4C9-E932B8CB3FF8}" sibTransId="{4CD569E0-10A0-4FDE-9570-57D4D536D7BF}"/>
    <dgm:cxn modelId="{12837CEB-5E1A-4215-9022-EC1629FDDE01}" srcId="{46318DD0-63E7-4CFE-85B7-166ECA5F55A5}" destId="{1D20E121-7633-4DA1-8DDF-75E073794480}" srcOrd="0" destOrd="0" parTransId="{E23465E4-0242-4EF6-B966-365BC00085CB}" sibTransId="{244E043A-A7DD-4F7D-BDC0-3A097D396FF8}"/>
    <dgm:cxn modelId="{88C016F7-0A73-4838-989F-2F651E3AD9A7}" type="presOf" srcId="{46318DD0-63E7-4CFE-85B7-166ECA5F55A5}" destId="{48166E27-9F2A-4B62-8BD7-09C6BE871459}" srcOrd="0" destOrd="0" presId="urn:microsoft.com/office/officeart/2008/layout/PictureStrips"/>
    <dgm:cxn modelId="{CC31EAFB-3AC9-4A3B-895F-559DE7D81D27}" type="presOf" srcId="{F482BEF6-8515-4A32-B0F2-C79B77101A91}" destId="{487CA176-8D4C-4DC9-9586-2CF489074A2F}" srcOrd="0" destOrd="0" presId="urn:microsoft.com/office/officeart/2008/layout/PictureStrips"/>
    <dgm:cxn modelId="{D5A83555-817B-4FC6-9856-794460171BA8}" type="presParOf" srcId="{3F85B93E-A8AD-44E9-882E-0A38D951D0A1}" destId="{727B011A-2946-404C-8BC6-DB247F2AFA26}" srcOrd="0" destOrd="0" presId="urn:microsoft.com/office/officeart/2008/layout/PictureStrips"/>
    <dgm:cxn modelId="{FEFB5324-0408-4123-85BE-4CBAC005746A}" type="presParOf" srcId="{727B011A-2946-404C-8BC6-DB247F2AFA26}" destId="{48166E27-9F2A-4B62-8BD7-09C6BE871459}" srcOrd="0" destOrd="0" presId="urn:microsoft.com/office/officeart/2008/layout/PictureStrips"/>
    <dgm:cxn modelId="{9D8B9CA7-3E4D-40B7-89D1-55DD55AF870F}" type="presParOf" srcId="{727B011A-2946-404C-8BC6-DB247F2AFA26}" destId="{5FAFD57E-F99E-4F75-918A-085C3E6D9303}" srcOrd="1" destOrd="0" presId="urn:microsoft.com/office/officeart/2008/layout/PictureStrips"/>
    <dgm:cxn modelId="{47097149-DB98-444E-AB17-41482FABA718}" type="presParOf" srcId="{3F85B93E-A8AD-44E9-882E-0A38D951D0A1}" destId="{1334D20A-F0E1-4499-BCD1-4B69E4418DB4}" srcOrd="1" destOrd="0" presId="urn:microsoft.com/office/officeart/2008/layout/PictureStrips"/>
    <dgm:cxn modelId="{0956635D-CD2C-45E1-8BFA-568819468BD1}" type="presParOf" srcId="{3F85B93E-A8AD-44E9-882E-0A38D951D0A1}" destId="{223DE9F2-4DE0-4904-9346-A01044222081}" srcOrd="2" destOrd="0" presId="urn:microsoft.com/office/officeart/2008/layout/PictureStrips"/>
    <dgm:cxn modelId="{7B30F138-AF15-4C79-BFE4-1F648DD028D4}" type="presParOf" srcId="{223DE9F2-4DE0-4904-9346-A01044222081}" destId="{8B279E08-4B63-47C2-93ED-D571168F68F2}" srcOrd="0" destOrd="0" presId="urn:microsoft.com/office/officeart/2008/layout/PictureStrips"/>
    <dgm:cxn modelId="{87D779FC-F486-4BE8-9A60-25B2453D89BA}" type="presParOf" srcId="{223DE9F2-4DE0-4904-9346-A01044222081}" destId="{775867CC-E897-4DCA-BD9C-884A6E1EBF17}" srcOrd="1" destOrd="0" presId="urn:microsoft.com/office/officeart/2008/layout/PictureStrips"/>
    <dgm:cxn modelId="{65DA1568-DC92-451D-AE31-63B1AD2FDCCD}" type="presParOf" srcId="{3F85B93E-A8AD-44E9-882E-0A38D951D0A1}" destId="{74F38956-721D-4FF3-A35C-AF2F91736B07}" srcOrd="3" destOrd="0" presId="urn:microsoft.com/office/officeart/2008/layout/PictureStrips"/>
    <dgm:cxn modelId="{AF95CDA1-759A-42C4-B4BA-8BEE3A3819DC}" type="presParOf" srcId="{3F85B93E-A8AD-44E9-882E-0A38D951D0A1}" destId="{4D792665-B4C3-4400-AD86-64232808587B}" srcOrd="4" destOrd="0" presId="urn:microsoft.com/office/officeart/2008/layout/PictureStrips"/>
    <dgm:cxn modelId="{A03D142A-8490-4CB5-8784-229F362B90DF}" type="presParOf" srcId="{4D792665-B4C3-4400-AD86-64232808587B}" destId="{454C98AB-8936-4121-938B-B227926D40FF}" srcOrd="0" destOrd="0" presId="urn:microsoft.com/office/officeart/2008/layout/PictureStrips"/>
    <dgm:cxn modelId="{954C0818-B984-4C1D-808E-30CA6B469ABF}" type="presParOf" srcId="{4D792665-B4C3-4400-AD86-64232808587B}" destId="{1D7EAB42-1695-4F02-A180-2EF9BF446FF6}" srcOrd="1" destOrd="0" presId="urn:microsoft.com/office/officeart/2008/layout/PictureStrips"/>
    <dgm:cxn modelId="{DD81D98A-8705-4ADA-9C0B-7D3E246DB0C6}" type="presParOf" srcId="{3F85B93E-A8AD-44E9-882E-0A38D951D0A1}" destId="{D910CED6-FA70-4D2B-A75E-E6F268734228}" srcOrd="5" destOrd="0" presId="urn:microsoft.com/office/officeart/2008/layout/PictureStrips"/>
    <dgm:cxn modelId="{E6900B54-47A5-4DCD-B56E-254E71C72C26}" type="presParOf" srcId="{3F85B93E-A8AD-44E9-882E-0A38D951D0A1}" destId="{F53389D4-AE8C-4FCD-9E10-77BC98355E22}" srcOrd="6" destOrd="0" presId="urn:microsoft.com/office/officeart/2008/layout/PictureStrips"/>
    <dgm:cxn modelId="{958ED1B1-C1DF-4DAE-BB93-79C9232E180E}" type="presParOf" srcId="{F53389D4-AE8C-4FCD-9E10-77BC98355E22}" destId="{487CA176-8D4C-4DC9-9586-2CF489074A2F}" srcOrd="0" destOrd="0" presId="urn:microsoft.com/office/officeart/2008/layout/PictureStrips"/>
    <dgm:cxn modelId="{0D5EC3B5-782A-4790-9DB7-FA69CD95B629}" type="presParOf" srcId="{F53389D4-AE8C-4FCD-9E10-77BC98355E22}" destId="{E36B1C10-79B7-4182-B55F-8542D4B8F50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5D260F-283E-4B9F-9A7F-86FBAB1ECCBF}" type="doc">
      <dgm:prSet loTypeId="urn:microsoft.com/office/officeart/2005/8/layout/vList3" loCatId="list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en-US"/>
        </a:p>
      </dgm:t>
    </dgm:pt>
    <dgm:pt modelId="{5C2162CA-2C97-42BF-8913-10E02EDCAC67}">
      <dgm:prSet custT="1"/>
      <dgm:spPr/>
      <dgm:t>
        <a:bodyPr/>
        <a:lstStyle/>
        <a:p>
          <a:r>
            <a:rPr lang="en-US" sz="1000" b="1" dirty="0"/>
            <a:t>App Development</a:t>
          </a:r>
        </a:p>
        <a:p>
          <a:r>
            <a:rPr lang="en-US" sz="900" dirty="0"/>
            <a:t> Cost of app development and maintenance</a:t>
          </a:r>
        </a:p>
      </dgm:t>
    </dgm:pt>
    <dgm:pt modelId="{3F14350A-A0AB-4E62-B6F3-183D8A5DBA4E}" type="parTrans" cxnId="{8460DD77-D398-4094-B46A-049CA05BCC17}">
      <dgm:prSet/>
      <dgm:spPr/>
      <dgm:t>
        <a:bodyPr/>
        <a:lstStyle/>
        <a:p>
          <a:endParaRPr lang="en-US"/>
        </a:p>
      </dgm:t>
    </dgm:pt>
    <dgm:pt modelId="{A0D00904-C420-4D2A-A356-157135E593F5}" type="sibTrans" cxnId="{8460DD77-D398-4094-B46A-049CA05BCC17}">
      <dgm:prSet/>
      <dgm:spPr/>
      <dgm:t>
        <a:bodyPr/>
        <a:lstStyle/>
        <a:p>
          <a:endParaRPr lang="en-US"/>
        </a:p>
      </dgm:t>
    </dgm:pt>
    <dgm:pt modelId="{B7DF566F-8A87-49F3-AB02-B629C9DBA32E}">
      <dgm:prSet custT="1"/>
      <dgm:spPr/>
      <dgm:t>
        <a:bodyPr/>
        <a:lstStyle/>
        <a:p>
          <a:r>
            <a:rPr lang="en-US" sz="1000" b="1"/>
            <a:t>Marketing &amp; Promotion</a:t>
          </a:r>
        </a:p>
        <a:p>
          <a:r>
            <a:rPr lang="en-US" sz="900"/>
            <a:t>Cost of running marketing campaigns</a:t>
          </a:r>
          <a:endParaRPr lang="en-US" sz="900" dirty="0"/>
        </a:p>
      </dgm:t>
    </dgm:pt>
    <dgm:pt modelId="{D104E499-4421-4193-948D-D76F052E9EB7}" type="parTrans" cxnId="{A18181A5-014A-45A0-8823-B118C9354D9D}">
      <dgm:prSet/>
      <dgm:spPr/>
      <dgm:t>
        <a:bodyPr/>
        <a:lstStyle/>
        <a:p>
          <a:endParaRPr lang="en-US"/>
        </a:p>
      </dgm:t>
    </dgm:pt>
    <dgm:pt modelId="{3DF34FA7-DE71-4490-9FA2-091D16DACD37}" type="sibTrans" cxnId="{A18181A5-014A-45A0-8823-B118C9354D9D}">
      <dgm:prSet/>
      <dgm:spPr/>
      <dgm:t>
        <a:bodyPr/>
        <a:lstStyle/>
        <a:p>
          <a:endParaRPr lang="en-US"/>
        </a:p>
      </dgm:t>
    </dgm:pt>
    <dgm:pt modelId="{AF818ABA-BA2E-4FC3-A0FD-FA211D4CCC4D}">
      <dgm:prSet custT="1"/>
      <dgm:spPr/>
      <dgm:t>
        <a:bodyPr/>
        <a:lstStyle/>
        <a:p>
          <a:r>
            <a:rPr lang="en-US" sz="1000" b="1"/>
            <a:t>Human Resource</a:t>
          </a:r>
        </a:p>
        <a:p>
          <a:r>
            <a:rPr lang="en-US" sz="900"/>
            <a:t>Salaries and employee benefits</a:t>
          </a:r>
          <a:endParaRPr lang="en-US" sz="900" dirty="0"/>
        </a:p>
      </dgm:t>
    </dgm:pt>
    <dgm:pt modelId="{9EA38F96-C2A3-4289-9C5B-A7A0696D2632}" type="parTrans" cxnId="{A6E967CE-5915-4FA7-AA7D-4D701D5F8A10}">
      <dgm:prSet/>
      <dgm:spPr/>
      <dgm:t>
        <a:bodyPr/>
        <a:lstStyle/>
        <a:p>
          <a:endParaRPr lang="en-US"/>
        </a:p>
      </dgm:t>
    </dgm:pt>
    <dgm:pt modelId="{78799A2E-323A-4CF7-9E3F-85E61CE7AD60}" type="sibTrans" cxnId="{A6E967CE-5915-4FA7-AA7D-4D701D5F8A10}">
      <dgm:prSet/>
      <dgm:spPr/>
      <dgm:t>
        <a:bodyPr/>
        <a:lstStyle/>
        <a:p>
          <a:endParaRPr lang="en-US"/>
        </a:p>
      </dgm:t>
    </dgm:pt>
    <dgm:pt modelId="{27916710-A1CC-4F44-BF4D-79D7935024DF}">
      <dgm:prSet custT="1"/>
      <dgm:spPr/>
      <dgm:t>
        <a:bodyPr/>
        <a:lstStyle/>
        <a:p>
          <a:r>
            <a:rPr lang="en-US" sz="1000" b="1"/>
            <a:t>Miscellaneous</a:t>
          </a:r>
        </a:p>
        <a:p>
          <a:r>
            <a:rPr lang="en-US" sz="900"/>
            <a:t>Market research and other expenses</a:t>
          </a:r>
          <a:endParaRPr lang="en-US" sz="900" dirty="0"/>
        </a:p>
      </dgm:t>
    </dgm:pt>
    <dgm:pt modelId="{80545F4E-2F77-4821-A57A-B2DC821A2A50}" type="parTrans" cxnId="{00E0C8B8-66FC-4E60-A921-083E1544E36C}">
      <dgm:prSet/>
      <dgm:spPr/>
      <dgm:t>
        <a:bodyPr/>
        <a:lstStyle/>
        <a:p>
          <a:endParaRPr lang="en-US"/>
        </a:p>
      </dgm:t>
    </dgm:pt>
    <dgm:pt modelId="{8E93E091-9149-4D60-8BA2-39D3FDA76033}" type="sibTrans" cxnId="{00E0C8B8-66FC-4E60-A921-083E1544E36C}">
      <dgm:prSet/>
      <dgm:spPr/>
      <dgm:t>
        <a:bodyPr/>
        <a:lstStyle/>
        <a:p>
          <a:endParaRPr lang="en-US"/>
        </a:p>
      </dgm:t>
    </dgm:pt>
    <dgm:pt modelId="{93B1562B-A85D-4BAD-AB5E-AC967BD69340}" type="pres">
      <dgm:prSet presAssocID="{525D260F-283E-4B9F-9A7F-86FBAB1ECCBF}" presName="linearFlow" presStyleCnt="0">
        <dgm:presLayoutVars>
          <dgm:dir/>
          <dgm:resizeHandles val="exact"/>
        </dgm:presLayoutVars>
      </dgm:prSet>
      <dgm:spPr/>
    </dgm:pt>
    <dgm:pt modelId="{20C2B11C-F498-43F4-90A5-196ADBD4E1FD}" type="pres">
      <dgm:prSet presAssocID="{5C2162CA-2C97-42BF-8913-10E02EDCAC67}" presName="composite" presStyleCnt="0"/>
      <dgm:spPr/>
    </dgm:pt>
    <dgm:pt modelId="{AF4AC428-5B06-49B5-AC37-7878487758FC}" type="pres">
      <dgm:prSet presAssocID="{5C2162CA-2C97-42BF-8913-10E02EDCAC67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 with solid fill"/>
        </a:ext>
      </dgm:extLst>
    </dgm:pt>
    <dgm:pt modelId="{C5106B6C-B6C3-4D55-A6BB-74F0482F5168}" type="pres">
      <dgm:prSet presAssocID="{5C2162CA-2C97-42BF-8913-10E02EDCAC67}" presName="txShp" presStyleLbl="node1" presStyleIdx="0" presStyleCnt="4">
        <dgm:presLayoutVars>
          <dgm:bulletEnabled val="1"/>
        </dgm:presLayoutVars>
      </dgm:prSet>
      <dgm:spPr/>
    </dgm:pt>
    <dgm:pt modelId="{06879951-7EE8-48A2-B007-859672C1F172}" type="pres">
      <dgm:prSet presAssocID="{A0D00904-C420-4D2A-A356-157135E593F5}" presName="spacing" presStyleCnt="0"/>
      <dgm:spPr/>
    </dgm:pt>
    <dgm:pt modelId="{B643078E-5570-46B9-A162-060229996AF4}" type="pres">
      <dgm:prSet presAssocID="{B7DF566F-8A87-49F3-AB02-B629C9DBA32E}" presName="composite" presStyleCnt="0"/>
      <dgm:spPr/>
    </dgm:pt>
    <dgm:pt modelId="{F82AD9A9-2DA6-4139-9650-DFB61F8AAA0D}" type="pres">
      <dgm:prSet presAssocID="{B7DF566F-8A87-49F3-AB02-B629C9DBA32E}" presName="imgShp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 with solid fill"/>
        </a:ext>
      </dgm:extLst>
    </dgm:pt>
    <dgm:pt modelId="{0A7D5B56-345D-4CCE-9F49-262C01B7D7C3}" type="pres">
      <dgm:prSet presAssocID="{B7DF566F-8A87-49F3-AB02-B629C9DBA32E}" presName="txShp" presStyleLbl="node1" presStyleIdx="1" presStyleCnt="4">
        <dgm:presLayoutVars>
          <dgm:bulletEnabled val="1"/>
        </dgm:presLayoutVars>
      </dgm:prSet>
      <dgm:spPr/>
    </dgm:pt>
    <dgm:pt modelId="{3496793E-7710-4902-8E65-9E00A360DEEB}" type="pres">
      <dgm:prSet presAssocID="{3DF34FA7-DE71-4490-9FA2-091D16DACD37}" presName="spacing" presStyleCnt="0"/>
      <dgm:spPr/>
    </dgm:pt>
    <dgm:pt modelId="{B9E93111-E8D4-4348-9869-C1E841619AA0}" type="pres">
      <dgm:prSet presAssocID="{AF818ABA-BA2E-4FC3-A0FD-FA211D4CCC4D}" presName="composite" presStyleCnt="0"/>
      <dgm:spPr/>
    </dgm:pt>
    <dgm:pt modelId="{DF4710A8-8593-47FD-B4D4-B58597AA4B26}" type="pres">
      <dgm:prSet presAssocID="{AF818ABA-BA2E-4FC3-A0FD-FA211D4CCC4D}" presName="imgShp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 with solid fill"/>
        </a:ext>
      </dgm:extLst>
    </dgm:pt>
    <dgm:pt modelId="{B993737E-DCF0-4BE3-9F58-9512EB7D3EA0}" type="pres">
      <dgm:prSet presAssocID="{AF818ABA-BA2E-4FC3-A0FD-FA211D4CCC4D}" presName="txShp" presStyleLbl="node1" presStyleIdx="2" presStyleCnt="4">
        <dgm:presLayoutVars>
          <dgm:bulletEnabled val="1"/>
        </dgm:presLayoutVars>
      </dgm:prSet>
      <dgm:spPr/>
    </dgm:pt>
    <dgm:pt modelId="{E1097096-9985-4515-9267-010AE7EE1EC4}" type="pres">
      <dgm:prSet presAssocID="{78799A2E-323A-4CF7-9E3F-85E61CE7AD60}" presName="spacing" presStyleCnt="0"/>
      <dgm:spPr/>
    </dgm:pt>
    <dgm:pt modelId="{F8DDBAF4-5B0E-44CB-A6B8-395CD8AA2D74}" type="pres">
      <dgm:prSet presAssocID="{27916710-A1CC-4F44-BF4D-79D7935024DF}" presName="composite" presStyleCnt="0"/>
      <dgm:spPr/>
    </dgm:pt>
    <dgm:pt modelId="{A7087994-BF92-42F0-8992-873D932BC318}" type="pres">
      <dgm:prSet presAssocID="{27916710-A1CC-4F44-BF4D-79D7935024DF}" presName="imgShp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CB81E82F-FB6D-4D3E-9BD1-E4F5B2C72F71}" type="pres">
      <dgm:prSet presAssocID="{27916710-A1CC-4F44-BF4D-79D7935024DF}" presName="txShp" presStyleLbl="node1" presStyleIdx="3" presStyleCnt="4">
        <dgm:presLayoutVars>
          <dgm:bulletEnabled val="1"/>
        </dgm:presLayoutVars>
      </dgm:prSet>
      <dgm:spPr/>
    </dgm:pt>
  </dgm:ptLst>
  <dgm:cxnLst>
    <dgm:cxn modelId="{401A3736-701B-44C1-A0D3-6024A800F008}" type="presOf" srcId="{AF818ABA-BA2E-4FC3-A0FD-FA211D4CCC4D}" destId="{B993737E-DCF0-4BE3-9F58-9512EB7D3EA0}" srcOrd="0" destOrd="0" presId="urn:microsoft.com/office/officeart/2005/8/layout/vList3"/>
    <dgm:cxn modelId="{8460DD77-D398-4094-B46A-049CA05BCC17}" srcId="{525D260F-283E-4B9F-9A7F-86FBAB1ECCBF}" destId="{5C2162CA-2C97-42BF-8913-10E02EDCAC67}" srcOrd="0" destOrd="0" parTransId="{3F14350A-A0AB-4E62-B6F3-183D8A5DBA4E}" sibTransId="{A0D00904-C420-4D2A-A356-157135E593F5}"/>
    <dgm:cxn modelId="{A18181A5-014A-45A0-8823-B118C9354D9D}" srcId="{525D260F-283E-4B9F-9A7F-86FBAB1ECCBF}" destId="{B7DF566F-8A87-49F3-AB02-B629C9DBA32E}" srcOrd="1" destOrd="0" parTransId="{D104E499-4421-4193-948D-D76F052E9EB7}" sibTransId="{3DF34FA7-DE71-4490-9FA2-091D16DACD37}"/>
    <dgm:cxn modelId="{6B191CAB-0180-4402-95BF-D24A8D50B834}" type="presOf" srcId="{525D260F-283E-4B9F-9A7F-86FBAB1ECCBF}" destId="{93B1562B-A85D-4BAD-AB5E-AC967BD69340}" srcOrd="0" destOrd="0" presId="urn:microsoft.com/office/officeart/2005/8/layout/vList3"/>
    <dgm:cxn modelId="{00E0C8B8-66FC-4E60-A921-083E1544E36C}" srcId="{525D260F-283E-4B9F-9A7F-86FBAB1ECCBF}" destId="{27916710-A1CC-4F44-BF4D-79D7935024DF}" srcOrd="3" destOrd="0" parTransId="{80545F4E-2F77-4821-A57A-B2DC821A2A50}" sibTransId="{8E93E091-9149-4D60-8BA2-39D3FDA76033}"/>
    <dgm:cxn modelId="{A6E967CE-5915-4FA7-AA7D-4D701D5F8A10}" srcId="{525D260F-283E-4B9F-9A7F-86FBAB1ECCBF}" destId="{AF818ABA-BA2E-4FC3-A0FD-FA211D4CCC4D}" srcOrd="2" destOrd="0" parTransId="{9EA38F96-C2A3-4289-9C5B-A7A0696D2632}" sibTransId="{78799A2E-323A-4CF7-9E3F-85E61CE7AD60}"/>
    <dgm:cxn modelId="{CBE84DD2-346B-4AB0-B5DC-D883565AB5DC}" type="presOf" srcId="{27916710-A1CC-4F44-BF4D-79D7935024DF}" destId="{CB81E82F-FB6D-4D3E-9BD1-E4F5B2C72F71}" srcOrd="0" destOrd="0" presId="urn:microsoft.com/office/officeart/2005/8/layout/vList3"/>
    <dgm:cxn modelId="{CA38D6D5-C5C2-44FB-8D5D-A282D5F492D8}" type="presOf" srcId="{B7DF566F-8A87-49F3-AB02-B629C9DBA32E}" destId="{0A7D5B56-345D-4CCE-9F49-262C01B7D7C3}" srcOrd="0" destOrd="0" presId="urn:microsoft.com/office/officeart/2005/8/layout/vList3"/>
    <dgm:cxn modelId="{22CAB9D8-529E-486C-BB80-79542BBE3EB9}" type="presOf" srcId="{5C2162CA-2C97-42BF-8913-10E02EDCAC67}" destId="{C5106B6C-B6C3-4D55-A6BB-74F0482F5168}" srcOrd="0" destOrd="0" presId="urn:microsoft.com/office/officeart/2005/8/layout/vList3"/>
    <dgm:cxn modelId="{1202C1E2-9A84-42E2-A611-98E91C4506BD}" type="presParOf" srcId="{93B1562B-A85D-4BAD-AB5E-AC967BD69340}" destId="{20C2B11C-F498-43F4-90A5-196ADBD4E1FD}" srcOrd="0" destOrd="0" presId="urn:microsoft.com/office/officeart/2005/8/layout/vList3"/>
    <dgm:cxn modelId="{3C4BC3F8-D955-46E2-80FB-1F330492BF7E}" type="presParOf" srcId="{20C2B11C-F498-43F4-90A5-196ADBD4E1FD}" destId="{AF4AC428-5B06-49B5-AC37-7878487758FC}" srcOrd="0" destOrd="0" presId="urn:microsoft.com/office/officeart/2005/8/layout/vList3"/>
    <dgm:cxn modelId="{6973574D-54E8-4660-A7E8-ADF1FBD2C650}" type="presParOf" srcId="{20C2B11C-F498-43F4-90A5-196ADBD4E1FD}" destId="{C5106B6C-B6C3-4D55-A6BB-74F0482F5168}" srcOrd="1" destOrd="0" presId="urn:microsoft.com/office/officeart/2005/8/layout/vList3"/>
    <dgm:cxn modelId="{47EA9A8E-B30B-490A-86C2-A206C7078606}" type="presParOf" srcId="{93B1562B-A85D-4BAD-AB5E-AC967BD69340}" destId="{06879951-7EE8-48A2-B007-859672C1F172}" srcOrd="1" destOrd="0" presId="urn:microsoft.com/office/officeart/2005/8/layout/vList3"/>
    <dgm:cxn modelId="{22064ACB-AF5E-4697-9BD0-85EEA7F88CD7}" type="presParOf" srcId="{93B1562B-A85D-4BAD-AB5E-AC967BD69340}" destId="{B643078E-5570-46B9-A162-060229996AF4}" srcOrd="2" destOrd="0" presId="urn:microsoft.com/office/officeart/2005/8/layout/vList3"/>
    <dgm:cxn modelId="{D734F871-AB93-4A2B-8C92-6F36769B2AD5}" type="presParOf" srcId="{B643078E-5570-46B9-A162-060229996AF4}" destId="{F82AD9A9-2DA6-4139-9650-DFB61F8AAA0D}" srcOrd="0" destOrd="0" presId="urn:microsoft.com/office/officeart/2005/8/layout/vList3"/>
    <dgm:cxn modelId="{B2CEC243-E223-44B3-BE5F-1446FFAE24C4}" type="presParOf" srcId="{B643078E-5570-46B9-A162-060229996AF4}" destId="{0A7D5B56-345D-4CCE-9F49-262C01B7D7C3}" srcOrd="1" destOrd="0" presId="urn:microsoft.com/office/officeart/2005/8/layout/vList3"/>
    <dgm:cxn modelId="{801DAFBF-2770-42A3-B7CC-52937FE80359}" type="presParOf" srcId="{93B1562B-A85D-4BAD-AB5E-AC967BD69340}" destId="{3496793E-7710-4902-8E65-9E00A360DEEB}" srcOrd="3" destOrd="0" presId="urn:microsoft.com/office/officeart/2005/8/layout/vList3"/>
    <dgm:cxn modelId="{41A24A9E-145E-404A-8C24-260E9CFBAE7C}" type="presParOf" srcId="{93B1562B-A85D-4BAD-AB5E-AC967BD69340}" destId="{B9E93111-E8D4-4348-9869-C1E841619AA0}" srcOrd="4" destOrd="0" presId="urn:microsoft.com/office/officeart/2005/8/layout/vList3"/>
    <dgm:cxn modelId="{C58750DC-48AF-4F11-AA09-0FE72D3F0965}" type="presParOf" srcId="{B9E93111-E8D4-4348-9869-C1E841619AA0}" destId="{DF4710A8-8593-47FD-B4D4-B58597AA4B26}" srcOrd="0" destOrd="0" presId="urn:microsoft.com/office/officeart/2005/8/layout/vList3"/>
    <dgm:cxn modelId="{A2B99BE0-6437-4238-8E5D-33B175F0CF3C}" type="presParOf" srcId="{B9E93111-E8D4-4348-9869-C1E841619AA0}" destId="{B993737E-DCF0-4BE3-9F58-9512EB7D3EA0}" srcOrd="1" destOrd="0" presId="urn:microsoft.com/office/officeart/2005/8/layout/vList3"/>
    <dgm:cxn modelId="{9AEDF268-1696-4E81-BAFE-9FB5746E04CE}" type="presParOf" srcId="{93B1562B-A85D-4BAD-AB5E-AC967BD69340}" destId="{E1097096-9985-4515-9267-010AE7EE1EC4}" srcOrd="5" destOrd="0" presId="urn:microsoft.com/office/officeart/2005/8/layout/vList3"/>
    <dgm:cxn modelId="{2F17A28E-EED4-449A-8C54-CB06B1296C16}" type="presParOf" srcId="{93B1562B-A85D-4BAD-AB5E-AC967BD69340}" destId="{F8DDBAF4-5B0E-44CB-A6B8-395CD8AA2D74}" srcOrd="6" destOrd="0" presId="urn:microsoft.com/office/officeart/2005/8/layout/vList3"/>
    <dgm:cxn modelId="{8008A271-7C38-45CF-A953-06DCCFC1A8F0}" type="presParOf" srcId="{F8DDBAF4-5B0E-44CB-A6B8-395CD8AA2D74}" destId="{A7087994-BF92-42F0-8992-873D932BC318}" srcOrd="0" destOrd="0" presId="urn:microsoft.com/office/officeart/2005/8/layout/vList3"/>
    <dgm:cxn modelId="{C99871B6-370D-4C6C-ABF6-366CFAFE8D4C}" type="presParOf" srcId="{F8DDBAF4-5B0E-44CB-A6B8-395CD8AA2D74}" destId="{CB81E82F-FB6D-4D3E-9BD1-E4F5B2C72F7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3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98F1EDA-6C1E-4973-B0A5-053C2EEDEA4D}" type="doc">
      <dgm:prSet loTypeId="urn:microsoft.com/office/officeart/2005/8/layout/hProcess9" loCatId="process" qsTypeId="urn:microsoft.com/office/officeart/2005/8/quickstyle/simple2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689AF924-3171-4994-83C9-48F4BA2D9472}">
      <dgm:prSet custT="1"/>
      <dgm:spPr/>
      <dgm:t>
        <a:bodyPr/>
        <a:lstStyle/>
        <a:p>
          <a:r>
            <a:rPr lang="en-US" sz="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 compelling SMS content that emphasizes the key benefits of the platform</a:t>
          </a:r>
        </a:p>
      </dgm:t>
    </dgm:pt>
    <dgm:pt modelId="{F7EFDB1D-AA50-44D1-B27B-D939A0819606}" type="parTrans" cxnId="{8DA9B395-D02C-40A3-A0A4-72499978723F}">
      <dgm:prSet/>
      <dgm:spPr/>
      <dgm:t>
        <a:bodyPr/>
        <a:lstStyle/>
        <a:p>
          <a:endParaRPr lang="en-US" sz="9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6FEE8BE-409A-46E4-85A7-5B2BF3D4B42D}" type="sibTrans" cxnId="{8DA9B395-D02C-40A3-A0A4-72499978723F}">
      <dgm:prSet/>
      <dgm:spPr/>
      <dgm:t>
        <a:bodyPr/>
        <a:lstStyle/>
        <a:p>
          <a:endParaRPr lang="en-US" sz="9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95A56AC-A224-4541-BF01-A309A30B99DC}">
      <dgm:prSet custT="1"/>
      <dgm:spPr/>
      <dgm:t>
        <a:bodyPr/>
        <a:lstStyle/>
        <a:p>
          <a:r>
            <a:rPr lang="en-US" sz="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SMS in regional languages to expand the reach and enhance connectivity with local farmers</a:t>
          </a:r>
        </a:p>
      </dgm:t>
    </dgm:pt>
    <dgm:pt modelId="{1F6CD8D3-5A18-4359-A63B-F4C824EF4B29}" type="parTrans" cxnId="{A2EFE6EB-9792-40AC-9A63-3ED0D5F892F3}">
      <dgm:prSet/>
      <dgm:spPr/>
      <dgm:t>
        <a:bodyPr/>
        <a:lstStyle/>
        <a:p>
          <a:endParaRPr lang="en-US" sz="9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486FE93-D636-4573-AB60-A85F7FF6A566}" type="sibTrans" cxnId="{A2EFE6EB-9792-40AC-9A63-3ED0D5F892F3}">
      <dgm:prSet/>
      <dgm:spPr/>
      <dgm:t>
        <a:bodyPr/>
        <a:lstStyle/>
        <a:p>
          <a:endParaRPr lang="en-US" sz="9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D722EE-23B6-4567-9B00-70D1B1EC2FC1}" type="pres">
      <dgm:prSet presAssocID="{998F1EDA-6C1E-4973-B0A5-053C2EEDEA4D}" presName="CompostProcess" presStyleCnt="0">
        <dgm:presLayoutVars>
          <dgm:dir/>
          <dgm:resizeHandles val="exact"/>
        </dgm:presLayoutVars>
      </dgm:prSet>
      <dgm:spPr/>
    </dgm:pt>
    <dgm:pt modelId="{5B530B48-5FD6-4CF4-A1B4-2ABA9AB498A1}" type="pres">
      <dgm:prSet presAssocID="{998F1EDA-6C1E-4973-B0A5-053C2EEDEA4D}" presName="arrow" presStyleLbl="bgShp" presStyleIdx="0" presStyleCnt="1"/>
      <dgm:spPr/>
    </dgm:pt>
    <dgm:pt modelId="{3F7FC08D-F78B-4EAF-9F0E-4F2950EA81C1}" type="pres">
      <dgm:prSet presAssocID="{998F1EDA-6C1E-4973-B0A5-053C2EEDEA4D}" presName="linearProcess" presStyleCnt="0"/>
      <dgm:spPr/>
    </dgm:pt>
    <dgm:pt modelId="{12A2E004-B234-4F27-83CA-C14284E20A90}" type="pres">
      <dgm:prSet presAssocID="{689AF924-3171-4994-83C9-48F4BA2D9472}" presName="textNode" presStyleLbl="node1" presStyleIdx="0" presStyleCnt="2">
        <dgm:presLayoutVars>
          <dgm:bulletEnabled val="1"/>
        </dgm:presLayoutVars>
      </dgm:prSet>
      <dgm:spPr/>
    </dgm:pt>
    <dgm:pt modelId="{17381043-2435-4762-B019-9FCDD5610A81}" type="pres">
      <dgm:prSet presAssocID="{16FEE8BE-409A-46E4-85A7-5B2BF3D4B42D}" presName="sibTrans" presStyleCnt="0"/>
      <dgm:spPr/>
    </dgm:pt>
    <dgm:pt modelId="{423E44DB-FDF9-4B8B-842F-54C5883CC214}" type="pres">
      <dgm:prSet presAssocID="{595A56AC-A224-4541-BF01-A309A30B99DC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37F02A11-E3A3-4435-A360-59E92C3A90A3}" type="presOf" srcId="{998F1EDA-6C1E-4973-B0A5-053C2EEDEA4D}" destId="{6AD722EE-23B6-4567-9B00-70D1B1EC2FC1}" srcOrd="0" destOrd="0" presId="urn:microsoft.com/office/officeart/2005/8/layout/hProcess9"/>
    <dgm:cxn modelId="{41D73012-1038-4210-866E-FFCAA6BE2C27}" type="presOf" srcId="{689AF924-3171-4994-83C9-48F4BA2D9472}" destId="{12A2E004-B234-4F27-83CA-C14284E20A90}" srcOrd="0" destOrd="0" presId="urn:microsoft.com/office/officeart/2005/8/layout/hProcess9"/>
    <dgm:cxn modelId="{8DA9B395-D02C-40A3-A0A4-72499978723F}" srcId="{998F1EDA-6C1E-4973-B0A5-053C2EEDEA4D}" destId="{689AF924-3171-4994-83C9-48F4BA2D9472}" srcOrd="0" destOrd="0" parTransId="{F7EFDB1D-AA50-44D1-B27B-D939A0819606}" sibTransId="{16FEE8BE-409A-46E4-85A7-5B2BF3D4B42D}"/>
    <dgm:cxn modelId="{EB5DAEC1-F6E1-40CC-91C6-8C72EBAE1AC4}" type="presOf" srcId="{595A56AC-A224-4541-BF01-A309A30B99DC}" destId="{423E44DB-FDF9-4B8B-842F-54C5883CC214}" srcOrd="0" destOrd="0" presId="urn:microsoft.com/office/officeart/2005/8/layout/hProcess9"/>
    <dgm:cxn modelId="{A2EFE6EB-9792-40AC-9A63-3ED0D5F892F3}" srcId="{998F1EDA-6C1E-4973-B0A5-053C2EEDEA4D}" destId="{595A56AC-A224-4541-BF01-A309A30B99DC}" srcOrd="1" destOrd="0" parTransId="{1F6CD8D3-5A18-4359-A63B-F4C824EF4B29}" sibTransId="{8486FE93-D636-4573-AB60-A85F7FF6A566}"/>
    <dgm:cxn modelId="{9AC0C9D1-7557-4CAC-A4F2-8946EA04E8FC}" type="presParOf" srcId="{6AD722EE-23B6-4567-9B00-70D1B1EC2FC1}" destId="{5B530B48-5FD6-4CF4-A1B4-2ABA9AB498A1}" srcOrd="0" destOrd="0" presId="urn:microsoft.com/office/officeart/2005/8/layout/hProcess9"/>
    <dgm:cxn modelId="{6AF109A8-40B3-4D02-9982-ADE4C35B3497}" type="presParOf" srcId="{6AD722EE-23B6-4567-9B00-70D1B1EC2FC1}" destId="{3F7FC08D-F78B-4EAF-9F0E-4F2950EA81C1}" srcOrd="1" destOrd="0" presId="urn:microsoft.com/office/officeart/2005/8/layout/hProcess9"/>
    <dgm:cxn modelId="{1B63C3AD-A9B2-4641-A73C-8B3C1410538D}" type="presParOf" srcId="{3F7FC08D-F78B-4EAF-9F0E-4F2950EA81C1}" destId="{12A2E004-B234-4F27-83CA-C14284E20A90}" srcOrd="0" destOrd="0" presId="urn:microsoft.com/office/officeart/2005/8/layout/hProcess9"/>
    <dgm:cxn modelId="{95B45F17-02E0-4362-A1D1-51042DCE383E}" type="presParOf" srcId="{3F7FC08D-F78B-4EAF-9F0E-4F2950EA81C1}" destId="{17381043-2435-4762-B019-9FCDD5610A81}" srcOrd="1" destOrd="0" presId="urn:microsoft.com/office/officeart/2005/8/layout/hProcess9"/>
    <dgm:cxn modelId="{79808619-76B5-4B1C-9E0A-CD8FC15D6F7D}" type="presParOf" srcId="{3F7FC08D-F78B-4EAF-9F0E-4F2950EA81C1}" destId="{423E44DB-FDF9-4B8B-842F-54C5883CC214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D4C11E2-9650-4F0A-9937-1FEECC86D0B9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33EB48B-4AE9-4FDE-A957-938ADC1DAB1F}">
      <dgm:prSet/>
      <dgm:spPr/>
      <dgm:t>
        <a:bodyPr/>
        <a:lstStyle/>
        <a:p>
          <a:r>
            <a:rPr lang="en-US"/>
            <a:t>Prioritize locations were target industries</a:t>
          </a:r>
        </a:p>
      </dgm:t>
    </dgm:pt>
    <dgm:pt modelId="{50272DE6-0DB6-4DA7-8F9C-1C500804E1E8}" type="parTrans" cxnId="{76E1131E-C099-45E5-8472-E5CBDC5FA904}">
      <dgm:prSet/>
      <dgm:spPr/>
      <dgm:t>
        <a:bodyPr/>
        <a:lstStyle/>
        <a:p>
          <a:endParaRPr lang="en-US"/>
        </a:p>
      </dgm:t>
    </dgm:pt>
    <dgm:pt modelId="{B2AB974A-CADD-4673-926D-E4F7B9FEED19}" type="sibTrans" cxnId="{76E1131E-C099-45E5-8472-E5CBDC5FA904}">
      <dgm:prSet/>
      <dgm:spPr/>
      <dgm:t>
        <a:bodyPr/>
        <a:lstStyle/>
        <a:p>
          <a:endParaRPr lang="en-US"/>
        </a:p>
      </dgm:t>
    </dgm:pt>
    <dgm:pt modelId="{B21CD6BB-0E95-4D34-93D7-A5B159DFAE93}">
      <dgm:prSet/>
      <dgm:spPr/>
      <dgm:t>
        <a:bodyPr/>
        <a:lstStyle/>
        <a:p>
          <a:r>
            <a:rPr lang="en-US"/>
            <a:t>User-friendly kiosks equipped with computers</a:t>
          </a:r>
        </a:p>
      </dgm:t>
    </dgm:pt>
    <dgm:pt modelId="{B18670A7-4504-410C-9508-2447FB688976}" type="parTrans" cxnId="{23FA388F-0296-4C12-B8B4-8BD24A1DAE90}">
      <dgm:prSet/>
      <dgm:spPr/>
      <dgm:t>
        <a:bodyPr/>
        <a:lstStyle/>
        <a:p>
          <a:endParaRPr lang="en-US"/>
        </a:p>
      </dgm:t>
    </dgm:pt>
    <dgm:pt modelId="{E3829920-BF88-44A3-AF0F-F11C2364CA66}" type="sibTrans" cxnId="{23FA388F-0296-4C12-B8B4-8BD24A1DAE90}">
      <dgm:prSet/>
      <dgm:spPr/>
      <dgm:t>
        <a:bodyPr/>
        <a:lstStyle/>
        <a:p>
          <a:endParaRPr lang="en-US"/>
        </a:p>
      </dgm:t>
    </dgm:pt>
    <dgm:pt modelId="{477788C6-993C-4389-A9D2-F1EBF3B45EB3}">
      <dgm:prSet/>
      <dgm:spPr/>
      <dgm:t>
        <a:bodyPr/>
        <a:lstStyle/>
        <a:p>
          <a:r>
            <a:rPr lang="en-US"/>
            <a:t>Collect feedback from users to improve the platform and address</a:t>
          </a:r>
        </a:p>
      </dgm:t>
    </dgm:pt>
    <dgm:pt modelId="{3F15DD8B-182F-4E03-A378-D34978302985}" type="parTrans" cxnId="{0A79B365-B66E-4EBD-9DE7-B48C5A195CF2}">
      <dgm:prSet/>
      <dgm:spPr/>
      <dgm:t>
        <a:bodyPr/>
        <a:lstStyle/>
        <a:p>
          <a:endParaRPr lang="en-US"/>
        </a:p>
      </dgm:t>
    </dgm:pt>
    <dgm:pt modelId="{E2566D47-7CD6-43C2-A604-3ABDCBD25398}" type="sibTrans" cxnId="{0A79B365-B66E-4EBD-9DE7-B48C5A195CF2}">
      <dgm:prSet/>
      <dgm:spPr/>
      <dgm:t>
        <a:bodyPr/>
        <a:lstStyle/>
        <a:p>
          <a:endParaRPr lang="en-US"/>
        </a:p>
      </dgm:t>
    </dgm:pt>
    <dgm:pt modelId="{2FE6A1B9-53B2-434C-AA89-004F3EE6BFAF}" type="pres">
      <dgm:prSet presAssocID="{6D4C11E2-9650-4F0A-9937-1FEECC86D0B9}" presName="vert0" presStyleCnt="0">
        <dgm:presLayoutVars>
          <dgm:dir/>
          <dgm:animOne val="branch"/>
          <dgm:animLvl val="lvl"/>
        </dgm:presLayoutVars>
      </dgm:prSet>
      <dgm:spPr/>
    </dgm:pt>
    <dgm:pt modelId="{60D463EF-4F22-47BC-A556-36FED0FBE979}" type="pres">
      <dgm:prSet presAssocID="{333EB48B-4AE9-4FDE-A957-938ADC1DAB1F}" presName="thickLine" presStyleLbl="alignNode1" presStyleIdx="0" presStyleCnt="3"/>
      <dgm:spPr/>
    </dgm:pt>
    <dgm:pt modelId="{275E54CD-D1B2-4E01-9F2F-403750F095C8}" type="pres">
      <dgm:prSet presAssocID="{333EB48B-4AE9-4FDE-A957-938ADC1DAB1F}" presName="horz1" presStyleCnt="0"/>
      <dgm:spPr/>
    </dgm:pt>
    <dgm:pt modelId="{B36FF7CA-3FD9-4ABC-8F8C-44CEE256F54A}" type="pres">
      <dgm:prSet presAssocID="{333EB48B-4AE9-4FDE-A957-938ADC1DAB1F}" presName="tx1" presStyleLbl="revTx" presStyleIdx="0" presStyleCnt="3"/>
      <dgm:spPr/>
    </dgm:pt>
    <dgm:pt modelId="{713A2548-584D-4A8E-AD85-46438A0970A1}" type="pres">
      <dgm:prSet presAssocID="{333EB48B-4AE9-4FDE-A957-938ADC1DAB1F}" presName="vert1" presStyleCnt="0"/>
      <dgm:spPr/>
    </dgm:pt>
    <dgm:pt modelId="{EF3B1A5A-224A-42C0-8D17-950439BCA94B}" type="pres">
      <dgm:prSet presAssocID="{B21CD6BB-0E95-4D34-93D7-A5B159DFAE93}" presName="thickLine" presStyleLbl="alignNode1" presStyleIdx="1" presStyleCnt="3"/>
      <dgm:spPr/>
    </dgm:pt>
    <dgm:pt modelId="{8360971A-2C9B-44A3-917E-E8BE164E0F78}" type="pres">
      <dgm:prSet presAssocID="{B21CD6BB-0E95-4D34-93D7-A5B159DFAE93}" presName="horz1" presStyleCnt="0"/>
      <dgm:spPr/>
    </dgm:pt>
    <dgm:pt modelId="{71CD9CBD-882D-4792-9C68-E47C34DEF08D}" type="pres">
      <dgm:prSet presAssocID="{B21CD6BB-0E95-4D34-93D7-A5B159DFAE93}" presName="tx1" presStyleLbl="revTx" presStyleIdx="1" presStyleCnt="3"/>
      <dgm:spPr/>
    </dgm:pt>
    <dgm:pt modelId="{191056E9-B888-47C3-8AFD-B5C9C2DA91DE}" type="pres">
      <dgm:prSet presAssocID="{B21CD6BB-0E95-4D34-93D7-A5B159DFAE93}" presName="vert1" presStyleCnt="0"/>
      <dgm:spPr/>
    </dgm:pt>
    <dgm:pt modelId="{0454C23C-A154-45CD-9DCD-98C2935FFDC2}" type="pres">
      <dgm:prSet presAssocID="{477788C6-993C-4389-A9D2-F1EBF3B45EB3}" presName="thickLine" presStyleLbl="alignNode1" presStyleIdx="2" presStyleCnt="3"/>
      <dgm:spPr/>
    </dgm:pt>
    <dgm:pt modelId="{CBE85271-4CB7-45CA-8723-FAE5BF7CBCAA}" type="pres">
      <dgm:prSet presAssocID="{477788C6-993C-4389-A9D2-F1EBF3B45EB3}" presName="horz1" presStyleCnt="0"/>
      <dgm:spPr/>
    </dgm:pt>
    <dgm:pt modelId="{C5BAB706-1AA4-41D8-B303-D58B7F63183C}" type="pres">
      <dgm:prSet presAssocID="{477788C6-993C-4389-A9D2-F1EBF3B45EB3}" presName="tx1" presStyleLbl="revTx" presStyleIdx="2" presStyleCnt="3"/>
      <dgm:spPr/>
    </dgm:pt>
    <dgm:pt modelId="{F093236C-212C-4BC6-B0B3-DCB31272A43A}" type="pres">
      <dgm:prSet presAssocID="{477788C6-993C-4389-A9D2-F1EBF3B45EB3}" presName="vert1" presStyleCnt="0"/>
      <dgm:spPr/>
    </dgm:pt>
  </dgm:ptLst>
  <dgm:cxnLst>
    <dgm:cxn modelId="{6C4DAD18-2A62-420E-8A7E-531A5F0C1980}" type="presOf" srcId="{6D4C11E2-9650-4F0A-9937-1FEECC86D0B9}" destId="{2FE6A1B9-53B2-434C-AA89-004F3EE6BFAF}" srcOrd="0" destOrd="0" presId="urn:microsoft.com/office/officeart/2008/layout/LinedList"/>
    <dgm:cxn modelId="{76E1131E-C099-45E5-8472-E5CBDC5FA904}" srcId="{6D4C11E2-9650-4F0A-9937-1FEECC86D0B9}" destId="{333EB48B-4AE9-4FDE-A957-938ADC1DAB1F}" srcOrd="0" destOrd="0" parTransId="{50272DE6-0DB6-4DA7-8F9C-1C500804E1E8}" sibTransId="{B2AB974A-CADD-4673-926D-E4F7B9FEED19}"/>
    <dgm:cxn modelId="{4AAD082B-9D07-4095-B1AB-241F654D6FC0}" type="presOf" srcId="{B21CD6BB-0E95-4D34-93D7-A5B159DFAE93}" destId="{71CD9CBD-882D-4792-9C68-E47C34DEF08D}" srcOrd="0" destOrd="0" presId="urn:microsoft.com/office/officeart/2008/layout/LinedList"/>
    <dgm:cxn modelId="{32159D60-6D79-4E41-962D-FB293DB15F3F}" type="presOf" srcId="{333EB48B-4AE9-4FDE-A957-938ADC1DAB1F}" destId="{B36FF7CA-3FD9-4ABC-8F8C-44CEE256F54A}" srcOrd="0" destOrd="0" presId="urn:microsoft.com/office/officeart/2008/layout/LinedList"/>
    <dgm:cxn modelId="{0A79B365-B66E-4EBD-9DE7-B48C5A195CF2}" srcId="{6D4C11E2-9650-4F0A-9937-1FEECC86D0B9}" destId="{477788C6-993C-4389-A9D2-F1EBF3B45EB3}" srcOrd="2" destOrd="0" parTransId="{3F15DD8B-182F-4E03-A378-D34978302985}" sibTransId="{E2566D47-7CD6-43C2-A604-3ABDCBD25398}"/>
    <dgm:cxn modelId="{499DA581-24C5-49B8-9525-3D2D3A6C1CDB}" type="presOf" srcId="{477788C6-993C-4389-A9D2-F1EBF3B45EB3}" destId="{C5BAB706-1AA4-41D8-B303-D58B7F63183C}" srcOrd="0" destOrd="0" presId="urn:microsoft.com/office/officeart/2008/layout/LinedList"/>
    <dgm:cxn modelId="{23FA388F-0296-4C12-B8B4-8BD24A1DAE90}" srcId="{6D4C11E2-9650-4F0A-9937-1FEECC86D0B9}" destId="{B21CD6BB-0E95-4D34-93D7-A5B159DFAE93}" srcOrd="1" destOrd="0" parTransId="{B18670A7-4504-410C-9508-2447FB688976}" sibTransId="{E3829920-BF88-44A3-AF0F-F11C2364CA66}"/>
    <dgm:cxn modelId="{94511718-06F7-4A26-B370-ADB3A205887D}" type="presParOf" srcId="{2FE6A1B9-53B2-434C-AA89-004F3EE6BFAF}" destId="{60D463EF-4F22-47BC-A556-36FED0FBE979}" srcOrd="0" destOrd="0" presId="urn:microsoft.com/office/officeart/2008/layout/LinedList"/>
    <dgm:cxn modelId="{A065963D-95E5-4F1D-A4AD-7AAA0D1B34E3}" type="presParOf" srcId="{2FE6A1B9-53B2-434C-AA89-004F3EE6BFAF}" destId="{275E54CD-D1B2-4E01-9F2F-403750F095C8}" srcOrd="1" destOrd="0" presId="urn:microsoft.com/office/officeart/2008/layout/LinedList"/>
    <dgm:cxn modelId="{17CF1675-582F-41F7-8467-45CE87FC72C7}" type="presParOf" srcId="{275E54CD-D1B2-4E01-9F2F-403750F095C8}" destId="{B36FF7CA-3FD9-4ABC-8F8C-44CEE256F54A}" srcOrd="0" destOrd="0" presId="urn:microsoft.com/office/officeart/2008/layout/LinedList"/>
    <dgm:cxn modelId="{F9753BC6-91FE-4B53-942F-727F638AD31B}" type="presParOf" srcId="{275E54CD-D1B2-4E01-9F2F-403750F095C8}" destId="{713A2548-584D-4A8E-AD85-46438A0970A1}" srcOrd="1" destOrd="0" presId="urn:microsoft.com/office/officeart/2008/layout/LinedList"/>
    <dgm:cxn modelId="{D326E24C-C087-430A-B0E3-73C501AE3F54}" type="presParOf" srcId="{2FE6A1B9-53B2-434C-AA89-004F3EE6BFAF}" destId="{EF3B1A5A-224A-42C0-8D17-950439BCA94B}" srcOrd="2" destOrd="0" presId="urn:microsoft.com/office/officeart/2008/layout/LinedList"/>
    <dgm:cxn modelId="{94963208-6DBB-4B2D-B9A6-A19BE71F4BB4}" type="presParOf" srcId="{2FE6A1B9-53B2-434C-AA89-004F3EE6BFAF}" destId="{8360971A-2C9B-44A3-917E-E8BE164E0F78}" srcOrd="3" destOrd="0" presId="urn:microsoft.com/office/officeart/2008/layout/LinedList"/>
    <dgm:cxn modelId="{4E2868CC-5780-4F7A-BDBB-B73D4DFB5525}" type="presParOf" srcId="{8360971A-2C9B-44A3-917E-E8BE164E0F78}" destId="{71CD9CBD-882D-4792-9C68-E47C34DEF08D}" srcOrd="0" destOrd="0" presId="urn:microsoft.com/office/officeart/2008/layout/LinedList"/>
    <dgm:cxn modelId="{CC5250CB-B6B3-4F28-B210-1884DDE8BBBE}" type="presParOf" srcId="{8360971A-2C9B-44A3-917E-E8BE164E0F78}" destId="{191056E9-B888-47C3-8AFD-B5C9C2DA91DE}" srcOrd="1" destOrd="0" presId="urn:microsoft.com/office/officeart/2008/layout/LinedList"/>
    <dgm:cxn modelId="{E2C056F0-B9C9-44B0-8B4E-5AD51D1DD06F}" type="presParOf" srcId="{2FE6A1B9-53B2-434C-AA89-004F3EE6BFAF}" destId="{0454C23C-A154-45CD-9DCD-98C2935FFDC2}" srcOrd="4" destOrd="0" presId="urn:microsoft.com/office/officeart/2008/layout/LinedList"/>
    <dgm:cxn modelId="{5B3BD5EE-C735-4E49-A760-2A849E02EF58}" type="presParOf" srcId="{2FE6A1B9-53B2-434C-AA89-004F3EE6BFAF}" destId="{CBE85271-4CB7-45CA-8723-FAE5BF7CBCAA}" srcOrd="5" destOrd="0" presId="urn:microsoft.com/office/officeart/2008/layout/LinedList"/>
    <dgm:cxn modelId="{B2271FF3-DE09-4B08-A229-D10442E7703F}" type="presParOf" srcId="{CBE85271-4CB7-45CA-8723-FAE5BF7CBCAA}" destId="{C5BAB706-1AA4-41D8-B303-D58B7F63183C}" srcOrd="0" destOrd="0" presId="urn:microsoft.com/office/officeart/2008/layout/LinedList"/>
    <dgm:cxn modelId="{5AB10815-9C56-49DC-B67A-792429DC3C12}" type="presParOf" srcId="{CBE85271-4CB7-45CA-8723-FAE5BF7CBCAA}" destId="{F093236C-212C-4BC6-B0B3-DCB31272A4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EC11C92-52B4-422A-8427-0449587FFC72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2679C976-09A9-4262-AF6E-5B1E5D0A1091}">
      <dgm:prSet custT="1"/>
      <dgm:spPr/>
      <dgm:t>
        <a:bodyPr/>
        <a:lstStyle/>
        <a:p>
          <a:r>
            <a:rPr lang="en-US" sz="9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Partner with local mandis and APMCs to identify farmers with spoiled crops</a:t>
          </a:r>
        </a:p>
      </dgm:t>
    </dgm:pt>
    <dgm:pt modelId="{7907C586-2207-48C4-A3C3-557B1CBB743B}" type="parTrans" cxnId="{DDF1AEDA-5B59-4CD6-9721-957BFA8DE1C7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F079F4-46E9-4C14-8C1B-D753C1605A4C}" type="sibTrans" cxnId="{DDF1AEDA-5B59-4CD6-9721-957BFA8DE1C7}">
      <dgm:prSet custT="1"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3D7C3E7-FC43-4BFA-8D6F-5D5F901EC92F}">
      <dgm:prSet custT="1"/>
      <dgm:spPr/>
      <dgm:t>
        <a:bodyPr/>
        <a:lstStyle/>
        <a:p>
          <a:r>
            <a:rPr lang="en-US" sz="9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 mandi networks to promote platform adoption among farmers</a:t>
          </a:r>
        </a:p>
      </dgm:t>
    </dgm:pt>
    <dgm:pt modelId="{6902ADA1-E0A5-461F-B275-1CE203996B2C}" type="parTrans" cxnId="{47CE9B65-C803-40E1-9C81-B826FFF3418A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A8CA55-9B55-4682-8B67-DCFF489D1023}" type="sibTrans" cxnId="{47CE9B65-C803-40E1-9C81-B826FFF3418A}">
      <dgm:prSet custT="1"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9022481-115E-4021-B6C2-6734ECE2016B}">
      <dgm:prSet custT="1"/>
      <dgm:spPr/>
      <dgm:t>
        <a:bodyPr/>
        <a:lstStyle/>
        <a:p>
          <a:r>
            <a:rPr lang="en-US" sz="9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Coordinate with mandi officials to streamline the process of collecting and selling spoiled grains.</a:t>
          </a:r>
        </a:p>
      </dgm:t>
    </dgm:pt>
    <dgm:pt modelId="{DDF0814A-7B06-457E-B4B3-AB3AFC83BF40}" type="parTrans" cxnId="{774A6520-0624-4697-8E63-7096386F4DCB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C7DE109-951A-401A-9AF5-52EFFEC16CCB}" type="sibTrans" cxnId="{774A6520-0624-4697-8E63-7096386F4DCB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CC6D834-CA03-4587-A382-1E68826F2EA1}" type="pres">
      <dgm:prSet presAssocID="{AEC11C92-52B4-422A-8427-0449587FFC72}" presName="Name0" presStyleCnt="0">
        <dgm:presLayoutVars>
          <dgm:dir/>
          <dgm:resizeHandles val="exact"/>
        </dgm:presLayoutVars>
      </dgm:prSet>
      <dgm:spPr/>
    </dgm:pt>
    <dgm:pt modelId="{C1C251C4-0E87-4050-AE86-B87AC808BE6E}" type="pres">
      <dgm:prSet presAssocID="{2679C976-09A9-4262-AF6E-5B1E5D0A1091}" presName="node" presStyleLbl="node1" presStyleIdx="0" presStyleCnt="3">
        <dgm:presLayoutVars>
          <dgm:bulletEnabled val="1"/>
        </dgm:presLayoutVars>
      </dgm:prSet>
      <dgm:spPr/>
    </dgm:pt>
    <dgm:pt modelId="{EDBEC2D2-8310-4F5C-8F1B-87A04352D754}" type="pres">
      <dgm:prSet presAssocID="{C7F079F4-46E9-4C14-8C1B-D753C1605A4C}" presName="sibTrans" presStyleLbl="sibTrans2D1" presStyleIdx="0" presStyleCnt="2"/>
      <dgm:spPr/>
    </dgm:pt>
    <dgm:pt modelId="{C85E9199-F482-410D-B173-D48956777C8D}" type="pres">
      <dgm:prSet presAssocID="{C7F079F4-46E9-4C14-8C1B-D753C1605A4C}" presName="connectorText" presStyleLbl="sibTrans2D1" presStyleIdx="0" presStyleCnt="2"/>
      <dgm:spPr/>
    </dgm:pt>
    <dgm:pt modelId="{C42646A4-8DAA-4A6E-8B93-8AC7358273FE}" type="pres">
      <dgm:prSet presAssocID="{B3D7C3E7-FC43-4BFA-8D6F-5D5F901EC92F}" presName="node" presStyleLbl="node1" presStyleIdx="1" presStyleCnt="3">
        <dgm:presLayoutVars>
          <dgm:bulletEnabled val="1"/>
        </dgm:presLayoutVars>
      </dgm:prSet>
      <dgm:spPr/>
    </dgm:pt>
    <dgm:pt modelId="{A54AC1F3-B1CA-4B68-85BE-51FE75ED7F1B}" type="pres">
      <dgm:prSet presAssocID="{08A8CA55-9B55-4682-8B67-DCFF489D1023}" presName="sibTrans" presStyleLbl="sibTrans2D1" presStyleIdx="1" presStyleCnt="2"/>
      <dgm:spPr/>
    </dgm:pt>
    <dgm:pt modelId="{29A8BE7D-0BFB-4516-823B-25477501FE9C}" type="pres">
      <dgm:prSet presAssocID="{08A8CA55-9B55-4682-8B67-DCFF489D1023}" presName="connectorText" presStyleLbl="sibTrans2D1" presStyleIdx="1" presStyleCnt="2"/>
      <dgm:spPr/>
    </dgm:pt>
    <dgm:pt modelId="{52C41A15-D570-4676-883C-10BEA238D6C4}" type="pres">
      <dgm:prSet presAssocID="{79022481-115E-4021-B6C2-6734ECE2016B}" presName="node" presStyleLbl="node1" presStyleIdx="2" presStyleCnt="3">
        <dgm:presLayoutVars>
          <dgm:bulletEnabled val="1"/>
        </dgm:presLayoutVars>
      </dgm:prSet>
      <dgm:spPr/>
    </dgm:pt>
  </dgm:ptLst>
  <dgm:cxnLst>
    <dgm:cxn modelId="{774A6520-0624-4697-8E63-7096386F4DCB}" srcId="{AEC11C92-52B4-422A-8427-0449587FFC72}" destId="{79022481-115E-4021-B6C2-6734ECE2016B}" srcOrd="2" destOrd="0" parTransId="{DDF0814A-7B06-457E-B4B3-AB3AFC83BF40}" sibTransId="{7C7DE109-951A-401A-9AF5-52EFFEC16CCB}"/>
    <dgm:cxn modelId="{C921C142-E9A2-4D5D-A024-093042440C70}" type="presOf" srcId="{B3D7C3E7-FC43-4BFA-8D6F-5D5F901EC92F}" destId="{C42646A4-8DAA-4A6E-8B93-8AC7358273FE}" srcOrd="0" destOrd="0" presId="urn:microsoft.com/office/officeart/2005/8/layout/process1"/>
    <dgm:cxn modelId="{47CE9B65-C803-40E1-9C81-B826FFF3418A}" srcId="{AEC11C92-52B4-422A-8427-0449587FFC72}" destId="{B3D7C3E7-FC43-4BFA-8D6F-5D5F901EC92F}" srcOrd="1" destOrd="0" parTransId="{6902ADA1-E0A5-461F-B275-1CE203996B2C}" sibTransId="{08A8CA55-9B55-4682-8B67-DCFF489D1023}"/>
    <dgm:cxn modelId="{4ED57071-2934-4CA8-86A1-7D247E5A0A30}" type="presOf" srcId="{08A8CA55-9B55-4682-8B67-DCFF489D1023}" destId="{29A8BE7D-0BFB-4516-823B-25477501FE9C}" srcOrd="1" destOrd="0" presId="urn:microsoft.com/office/officeart/2005/8/layout/process1"/>
    <dgm:cxn modelId="{DE34C076-B87C-4B67-B9E4-AF75FD5019A3}" type="presOf" srcId="{AEC11C92-52B4-422A-8427-0449587FFC72}" destId="{3CC6D834-CA03-4587-A382-1E68826F2EA1}" srcOrd="0" destOrd="0" presId="urn:microsoft.com/office/officeart/2005/8/layout/process1"/>
    <dgm:cxn modelId="{F9B87880-AF12-49BB-AB25-6CC7A9525669}" type="presOf" srcId="{79022481-115E-4021-B6C2-6734ECE2016B}" destId="{52C41A15-D570-4676-883C-10BEA238D6C4}" srcOrd="0" destOrd="0" presId="urn:microsoft.com/office/officeart/2005/8/layout/process1"/>
    <dgm:cxn modelId="{792D8E9C-100A-4BD2-AD56-0D2EFEC1856F}" type="presOf" srcId="{2679C976-09A9-4262-AF6E-5B1E5D0A1091}" destId="{C1C251C4-0E87-4050-AE86-B87AC808BE6E}" srcOrd="0" destOrd="0" presId="urn:microsoft.com/office/officeart/2005/8/layout/process1"/>
    <dgm:cxn modelId="{DFD2BE9E-B286-4CC1-A065-93816AD0729F}" type="presOf" srcId="{08A8CA55-9B55-4682-8B67-DCFF489D1023}" destId="{A54AC1F3-B1CA-4B68-85BE-51FE75ED7F1B}" srcOrd="0" destOrd="0" presId="urn:microsoft.com/office/officeart/2005/8/layout/process1"/>
    <dgm:cxn modelId="{DDF1AEDA-5B59-4CD6-9721-957BFA8DE1C7}" srcId="{AEC11C92-52B4-422A-8427-0449587FFC72}" destId="{2679C976-09A9-4262-AF6E-5B1E5D0A1091}" srcOrd="0" destOrd="0" parTransId="{7907C586-2207-48C4-A3C3-557B1CBB743B}" sibTransId="{C7F079F4-46E9-4C14-8C1B-D753C1605A4C}"/>
    <dgm:cxn modelId="{AC4E03FC-26D9-4A2E-AFA7-604C86CA37B6}" type="presOf" srcId="{C7F079F4-46E9-4C14-8C1B-D753C1605A4C}" destId="{EDBEC2D2-8310-4F5C-8F1B-87A04352D754}" srcOrd="0" destOrd="0" presId="urn:microsoft.com/office/officeart/2005/8/layout/process1"/>
    <dgm:cxn modelId="{9A6B85FE-1432-446E-8E5E-F00985EF7C2E}" type="presOf" srcId="{C7F079F4-46E9-4C14-8C1B-D753C1605A4C}" destId="{C85E9199-F482-410D-B173-D48956777C8D}" srcOrd="1" destOrd="0" presId="urn:microsoft.com/office/officeart/2005/8/layout/process1"/>
    <dgm:cxn modelId="{26D08977-F5FB-4834-A199-AB769003BCEE}" type="presParOf" srcId="{3CC6D834-CA03-4587-A382-1E68826F2EA1}" destId="{C1C251C4-0E87-4050-AE86-B87AC808BE6E}" srcOrd="0" destOrd="0" presId="urn:microsoft.com/office/officeart/2005/8/layout/process1"/>
    <dgm:cxn modelId="{63783915-8D53-49B4-9BA6-50348043062A}" type="presParOf" srcId="{3CC6D834-CA03-4587-A382-1E68826F2EA1}" destId="{EDBEC2D2-8310-4F5C-8F1B-87A04352D754}" srcOrd="1" destOrd="0" presId="urn:microsoft.com/office/officeart/2005/8/layout/process1"/>
    <dgm:cxn modelId="{A2657FC4-71C3-4704-8F51-84BA94C4D158}" type="presParOf" srcId="{EDBEC2D2-8310-4F5C-8F1B-87A04352D754}" destId="{C85E9199-F482-410D-B173-D48956777C8D}" srcOrd="0" destOrd="0" presId="urn:microsoft.com/office/officeart/2005/8/layout/process1"/>
    <dgm:cxn modelId="{17A4ECE3-C455-4453-8624-FDCBAEE7D9DE}" type="presParOf" srcId="{3CC6D834-CA03-4587-A382-1E68826F2EA1}" destId="{C42646A4-8DAA-4A6E-8B93-8AC7358273FE}" srcOrd="2" destOrd="0" presId="urn:microsoft.com/office/officeart/2005/8/layout/process1"/>
    <dgm:cxn modelId="{07A208F6-BD88-45B3-B9B5-B5B50F06C8E5}" type="presParOf" srcId="{3CC6D834-CA03-4587-A382-1E68826F2EA1}" destId="{A54AC1F3-B1CA-4B68-85BE-51FE75ED7F1B}" srcOrd="3" destOrd="0" presId="urn:microsoft.com/office/officeart/2005/8/layout/process1"/>
    <dgm:cxn modelId="{B04162B0-04C6-43A0-AA6E-9BDD08785464}" type="presParOf" srcId="{A54AC1F3-B1CA-4B68-85BE-51FE75ED7F1B}" destId="{29A8BE7D-0BFB-4516-823B-25477501FE9C}" srcOrd="0" destOrd="0" presId="urn:microsoft.com/office/officeart/2005/8/layout/process1"/>
    <dgm:cxn modelId="{500D572F-7C2C-499E-B336-42E23BD8B859}" type="presParOf" srcId="{3CC6D834-CA03-4587-A382-1E68826F2EA1}" destId="{52C41A15-D570-4676-883C-10BEA238D6C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A3D60EC-2FE2-42A1-A178-572B1884B4F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B7231B-4B83-4E57-B9A3-1262E8424EC1}">
      <dgm:prSet custT="1"/>
      <dgm:spPr/>
      <dgm:t>
        <a:bodyPr/>
        <a:lstStyle/>
        <a:p>
          <a:r>
            <a:rPr lang="en-US" sz="9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Collaborate with agricultural and industrial associations to expand platform outreach</a:t>
          </a:r>
        </a:p>
      </dgm:t>
    </dgm:pt>
    <dgm:pt modelId="{158C93EB-D0DC-433B-A92F-2F09F99C720D}" type="parTrans" cxnId="{CEA27CD6-E749-4E04-97E0-D8722805E113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CFEA46-8225-4A23-A2F3-603260C75643}" type="sibTrans" cxnId="{CEA27CD6-E749-4E04-97E0-D8722805E113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2C7FDB5-9801-4A37-9667-31093F5DE412}">
      <dgm:prSet custT="1"/>
      <dgm:spPr/>
      <dgm:t>
        <a:bodyPr/>
        <a:lstStyle/>
        <a:p>
          <a:r>
            <a:rPr lang="en-US" sz="95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Leverage relationships with chambers of commerce to enhance credibility and visibility</a:t>
          </a:r>
        </a:p>
      </dgm:t>
    </dgm:pt>
    <dgm:pt modelId="{6DB3927B-DF80-4129-9527-60E57128CAF5}" type="parTrans" cxnId="{62F14AFB-88E3-4A16-AEA3-02C4A3B414CB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44ACE3-6F29-4443-8EFD-33161BAC864D}" type="sibTrans" cxnId="{62F14AFB-88E3-4A16-AEA3-02C4A3B414CB}">
      <dgm:prSet/>
      <dgm:spPr/>
      <dgm:t>
        <a:bodyPr/>
        <a:lstStyle/>
        <a:p>
          <a:endParaRPr lang="en-US" sz="95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0BD6A3-658F-449F-9985-7500FBABC05B}" type="pres">
      <dgm:prSet presAssocID="{8A3D60EC-2FE2-42A1-A178-572B1884B4FF}" presName="vert0" presStyleCnt="0">
        <dgm:presLayoutVars>
          <dgm:dir/>
          <dgm:animOne val="branch"/>
          <dgm:animLvl val="lvl"/>
        </dgm:presLayoutVars>
      </dgm:prSet>
      <dgm:spPr/>
    </dgm:pt>
    <dgm:pt modelId="{F9222EA2-BFAC-428F-BC49-1AAD0F66132E}" type="pres">
      <dgm:prSet presAssocID="{8DB7231B-4B83-4E57-B9A3-1262E8424EC1}" presName="thickLine" presStyleLbl="alignNode1" presStyleIdx="0" presStyleCnt="2"/>
      <dgm:spPr/>
    </dgm:pt>
    <dgm:pt modelId="{654B634F-1B3B-4A43-9E97-73990AFFA53D}" type="pres">
      <dgm:prSet presAssocID="{8DB7231B-4B83-4E57-B9A3-1262E8424EC1}" presName="horz1" presStyleCnt="0"/>
      <dgm:spPr/>
    </dgm:pt>
    <dgm:pt modelId="{6005D880-C8EF-4A51-8169-7FDD0A770B95}" type="pres">
      <dgm:prSet presAssocID="{8DB7231B-4B83-4E57-B9A3-1262E8424EC1}" presName="tx1" presStyleLbl="revTx" presStyleIdx="0" presStyleCnt="2"/>
      <dgm:spPr/>
    </dgm:pt>
    <dgm:pt modelId="{D0E3FF10-63B3-4C49-9122-12B0E8D63878}" type="pres">
      <dgm:prSet presAssocID="{8DB7231B-4B83-4E57-B9A3-1262E8424EC1}" presName="vert1" presStyleCnt="0"/>
      <dgm:spPr/>
    </dgm:pt>
    <dgm:pt modelId="{AAED6DCD-ACD1-41B1-8C6B-3643C6BF0ED1}" type="pres">
      <dgm:prSet presAssocID="{A2C7FDB5-9801-4A37-9667-31093F5DE412}" presName="thickLine" presStyleLbl="alignNode1" presStyleIdx="1" presStyleCnt="2"/>
      <dgm:spPr/>
    </dgm:pt>
    <dgm:pt modelId="{B24CF797-9445-4A33-8C65-2436C70DCC79}" type="pres">
      <dgm:prSet presAssocID="{A2C7FDB5-9801-4A37-9667-31093F5DE412}" presName="horz1" presStyleCnt="0"/>
      <dgm:spPr/>
    </dgm:pt>
    <dgm:pt modelId="{29F0A98B-E65D-49F3-BDB9-06AD2F98D0A3}" type="pres">
      <dgm:prSet presAssocID="{A2C7FDB5-9801-4A37-9667-31093F5DE412}" presName="tx1" presStyleLbl="revTx" presStyleIdx="1" presStyleCnt="2"/>
      <dgm:spPr/>
    </dgm:pt>
    <dgm:pt modelId="{11EB0757-D439-4836-8233-9C94A0ECC82C}" type="pres">
      <dgm:prSet presAssocID="{A2C7FDB5-9801-4A37-9667-31093F5DE412}" presName="vert1" presStyleCnt="0"/>
      <dgm:spPr/>
    </dgm:pt>
  </dgm:ptLst>
  <dgm:cxnLst>
    <dgm:cxn modelId="{28BF0965-4C7F-4E1F-B2A5-A15519D1565E}" type="presOf" srcId="{8A3D60EC-2FE2-42A1-A178-572B1884B4FF}" destId="{FE0BD6A3-658F-449F-9985-7500FBABC05B}" srcOrd="0" destOrd="0" presId="urn:microsoft.com/office/officeart/2008/layout/LinedList"/>
    <dgm:cxn modelId="{97EF1057-25FE-4C3F-9E4A-021DB2650E54}" type="presOf" srcId="{8DB7231B-4B83-4E57-B9A3-1262E8424EC1}" destId="{6005D880-C8EF-4A51-8169-7FDD0A770B95}" srcOrd="0" destOrd="0" presId="urn:microsoft.com/office/officeart/2008/layout/LinedList"/>
    <dgm:cxn modelId="{FE0CFB8B-3119-4CD4-8D6E-B37A168FCF45}" type="presOf" srcId="{A2C7FDB5-9801-4A37-9667-31093F5DE412}" destId="{29F0A98B-E65D-49F3-BDB9-06AD2F98D0A3}" srcOrd="0" destOrd="0" presId="urn:microsoft.com/office/officeart/2008/layout/LinedList"/>
    <dgm:cxn modelId="{CEA27CD6-E749-4E04-97E0-D8722805E113}" srcId="{8A3D60EC-2FE2-42A1-A178-572B1884B4FF}" destId="{8DB7231B-4B83-4E57-B9A3-1262E8424EC1}" srcOrd="0" destOrd="0" parTransId="{158C93EB-D0DC-433B-A92F-2F09F99C720D}" sibTransId="{CBCFEA46-8225-4A23-A2F3-603260C75643}"/>
    <dgm:cxn modelId="{62F14AFB-88E3-4A16-AEA3-02C4A3B414CB}" srcId="{8A3D60EC-2FE2-42A1-A178-572B1884B4FF}" destId="{A2C7FDB5-9801-4A37-9667-31093F5DE412}" srcOrd="1" destOrd="0" parTransId="{6DB3927B-DF80-4129-9527-60E57128CAF5}" sibTransId="{3E44ACE3-6F29-4443-8EFD-33161BAC864D}"/>
    <dgm:cxn modelId="{7B95BF98-23FA-4EAF-95AE-997DA2F5B44B}" type="presParOf" srcId="{FE0BD6A3-658F-449F-9985-7500FBABC05B}" destId="{F9222EA2-BFAC-428F-BC49-1AAD0F66132E}" srcOrd="0" destOrd="0" presId="urn:microsoft.com/office/officeart/2008/layout/LinedList"/>
    <dgm:cxn modelId="{DD28F1FD-FD8E-4B18-AE39-8E3A58CC6E1B}" type="presParOf" srcId="{FE0BD6A3-658F-449F-9985-7500FBABC05B}" destId="{654B634F-1B3B-4A43-9E97-73990AFFA53D}" srcOrd="1" destOrd="0" presId="urn:microsoft.com/office/officeart/2008/layout/LinedList"/>
    <dgm:cxn modelId="{63A334E8-B372-4CA9-9997-58913F67DB29}" type="presParOf" srcId="{654B634F-1B3B-4A43-9E97-73990AFFA53D}" destId="{6005D880-C8EF-4A51-8169-7FDD0A770B95}" srcOrd="0" destOrd="0" presId="urn:microsoft.com/office/officeart/2008/layout/LinedList"/>
    <dgm:cxn modelId="{F2669A32-E2F9-4E61-BCE7-784C80510B07}" type="presParOf" srcId="{654B634F-1B3B-4A43-9E97-73990AFFA53D}" destId="{D0E3FF10-63B3-4C49-9122-12B0E8D63878}" srcOrd="1" destOrd="0" presId="urn:microsoft.com/office/officeart/2008/layout/LinedList"/>
    <dgm:cxn modelId="{E91C1C98-D07B-447A-B17B-CA6E18212578}" type="presParOf" srcId="{FE0BD6A3-658F-449F-9985-7500FBABC05B}" destId="{AAED6DCD-ACD1-41B1-8C6B-3643C6BF0ED1}" srcOrd="2" destOrd="0" presId="urn:microsoft.com/office/officeart/2008/layout/LinedList"/>
    <dgm:cxn modelId="{9EF503CA-BE5C-4A5E-A966-BD4989DE942E}" type="presParOf" srcId="{FE0BD6A3-658F-449F-9985-7500FBABC05B}" destId="{B24CF797-9445-4A33-8C65-2436C70DCC79}" srcOrd="3" destOrd="0" presId="urn:microsoft.com/office/officeart/2008/layout/LinedList"/>
    <dgm:cxn modelId="{D6C9338B-ED99-475B-A110-71F3F75B5DAC}" type="presParOf" srcId="{B24CF797-9445-4A33-8C65-2436C70DCC79}" destId="{29F0A98B-E65D-49F3-BDB9-06AD2F98D0A3}" srcOrd="0" destOrd="0" presId="urn:microsoft.com/office/officeart/2008/layout/LinedList"/>
    <dgm:cxn modelId="{3442709C-49DC-421A-A71D-0F8DC4FF5A0A}" type="presParOf" srcId="{B24CF797-9445-4A33-8C65-2436C70DCC79}" destId="{11EB0757-D439-4836-8233-9C94A0ECC8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3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3A253F-8E71-4EFE-B22A-F977E2CB379C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95D0833C-9896-45D6-915D-FA27E5554C2C}">
      <dgm:prSet/>
      <dgm:spPr/>
      <dgm:t>
        <a:bodyPr/>
        <a:lstStyle/>
        <a:p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Partner with agricultural and environmental NGOs to promote sustainability</a:t>
          </a:r>
        </a:p>
      </dgm:t>
    </dgm:pt>
    <dgm:pt modelId="{C027B432-5F42-450F-8CF7-F0F7B9A59D0A}" type="parTrans" cxnId="{34526317-A123-493A-8F21-4CE21BD750A8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2299D7-E3CB-4117-9969-5425532F78CC}" type="sibTrans" cxnId="{34526317-A123-493A-8F21-4CE21BD750A8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CC6A86-244C-4F9F-B059-DCD19DE3B110}">
      <dgm:prSet/>
      <dgm:spPr/>
      <dgm:t>
        <a:bodyPr/>
        <a:lstStyle/>
        <a:p>
          <a:r>
            <a: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Pursue government grants and funding for platform development and expansion</a:t>
          </a:r>
        </a:p>
      </dgm:t>
    </dgm:pt>
    <dgm:pt modelId="{3099EE3D-DA31-48C7-93ED-3864021ED45E}" type="parTrans" cxnId="{3723DDA4-CABF-4FDA-9EE5-7DCD2386F00B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7646EC-663A-4BEA-9480-8F1ED57A3673}" type="sibTrans" cxnId="{3723DDA4-CABF-4FDA-9EE5-7DCD2386F00B}">
      <dgm:prSet/>
      <dgm:spPr/>
      <dgm:t>
        <a:bodyPr/>
        <a:lstStyle/>
        <a:p>
          <a:endParaRPr 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8F94DC-E7E7-4580-BF96-B45205A716F6}" type="pres">
      <dgm:prSet presAssocID="{F33A253F-8E71-4EFE-B22A-F977E2CB379C}" presName="linear" presStyleCnt="0">
        <dgm:presLayoutVars>
          <dgm:animLvl val="lvl"/>
          <dgm:resizeHandles val="exact"/>
        </dgm:presLayoutVars>
      </dgm:prSet>
      <dgm:spPr/>
    </dgm:pt>
    <dgm:pt modelId="{FFE462EA-306A-45B1-8707-30FE55D9D478}" type="pres">
      <dgm:prSet presAssocID="{95D0833C-9896-45D6-915D-FA27E5554C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F672930-7E38-4E43-947F-0495AC56DAA6}" type="pres">
      <dgm:prSet presAssocID="{422299D7-E3CB-4117-9969-5425532F78CC}" presName="spacer" presStyleCnt="0"/>
      <dgm:spPr/>
    </dgm:pt>
    <dgm:pt modelId="{0A405636-F2BC-48BE-9C57-60F776E664A3}" type="pres">
      <dgm:prSet presAssocID="{A3CC6A86-244C-4F9F-B059-DCD19DE3B11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4526317-A123-493A-8F21-4CE21BD750A8}" srcId="{F33A253F-8E71-4EFE-B22A-F977E2CB379C}" destId="{95D0833C-9896-45D6-915D-FA27E5554C2C}" srcOrd="0" destOrd="0" parTransId="{C027B432-5F42-450F-8CF7-F0F7B9A59D0A}" sibTransId="{422299D7-E3CB-4117-9969-5425532F78CC}"/>
    <dgm:cxn modelId="{D3CA3E59-F448-4243-8E58-A4219E1AED30}" type="presOf" srcId="{95D0833C-9896-45D6-915D-FA27E5554C2C}" destId="{FFE462EA-306A-45B1-8707-30FE55D9D478}" srcOrd="0" destOrd="0" presId="urn:microsoft.com/office/officeart/2005/8/layout/vList2"/>
    <dgm:cxn modelId="{3723DDA4-CABF-4FDA-9EE5-7DCD2386F00B}" srcId="{F33A253F-8E71-4EFE-B22A-F977E2CB379C}" destId="{A3CC6A86-244C-4F9F-B059-DCD19DE3B110}" srcOrd="1" destOrd="0" parTransId="{3099EE3D-DA31-48C7-93ED-3864021ED45E}" sibTransId="{357646EC-663A-4BEA-9480-8F1ED57A3673}"/>
    <dgm:cxn modelId="{05D9A4EC-024A-4BFD-8F87-D0B7266E25DF}" type="presOf" srcId="{F33A253F-8E71-4EFE-B22A-F977E2CB379C}" destId="{A18F94DC-E7E7-4580-BF96-B45205A716F6}" srcOrd="0" destOrd="0" presId="urn:microsoft.com/office/officeart/2005/8/layout/vList2"/>
    <dgm:cxn modelId="{5A1256F1-E993-4165-884F-9DE0363D4E26}" type="presOf" srcId="{A3CC6A86-244C-4F9F-B059-DCD19DE3B110}" destId="{0A405636-F2BC-48BE-9C57-60F776E664A3}" srcOrd="0" destOrd="0" presId="urn:microsoft.com/office/officeart/2005/8/layout/vList2"/>
    <dgm:cxn modelId="{5E0A5C22-7631-4303-B828-30CABA9092CC}" type="presParOf" srcId="{A18F94DC-E7E7-4580-BF96-B45205A716F6}" destId="{FFE462EA-306A-45B1-8707-30FE55D9D478}" srcOrd="0" destOrd="0" presId="urn:microsoft.com/office/officeart/2005/8/layout/vList2"/>
    <dgm:cxn modelId="{FB0E70BF-2454-43C2-A22C-15A329DF5E85}" type="presParOf" srcId="{A18F94DC-E7E7-4580-BF96-B45205A716F6}" destId="{4F672930-7E38-4E43-947F-0495AC56DAA6}" srcOrd="1" destOrd="0" presId="urn:microsoft.com/office/officeart/2005/8/layout/vList2"/>
    <dgm:cxn modelId="{00C9F767-E9ED-4ACE-A372-E21D6B0F75F7}" type="presParOf" srcId="{A18F94DC-E7E7-4580-BF96-B45205A716F6}" destId="{0A405636-F2BC-48BE-9C57-60F776E664A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4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98F45D-E956-4A09-95C8-CDA6538CA8BA}">
      <dsp:nvSpPr>
        <dsp:cNvPr id="0" name=""/>
        <dsp:cNvSpPr/>
      </dsp:nvSpPr>
      <dsp:spPr>
        <a:xfrm>
          <a:off x="0" y="449"/>
          <a:ext cx="3302964" cy="410328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Reduced Income due to unsold grains</a:t>
          </a:r>
        </a:p>
      </dsp:txBody>
      <dsp:txXfrm>
        <a:off x="20031" y="20480"/>
        <a:ext cx="3262902" cy="370266"/>
      </dsp:txXfrm>
    </dsp:sp>
    <dsp:sp modelId="{343EB2E1-2B4C-40E4-A784-6A165C174356}">
      <dsp:nvSpPr>
        <dsp:cNvPr id="0" name=""/>
        <dsp:cNvSpPr/>
      </dsp:nvSpPr>
      <dsp:spPr>
        <a:xfrm>
          <a:off x="0" y="423209"/>
          <a:ext cx="3302964" cy="410328"/>
        </a:xfrm>
        <a:prstGeom prst="roundRect">
          <a:avLst/>
        </a:prstGeom>
        <a:solidFill>
          <a:schemeClr val="accent1">
            <a:shade val="80000"/>
            <a:hueOff val="102082"/>
            <a:satOff val="-1464"/>
            <a:lumOff val="853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Unsold surplus triggers borrowing, creating debt trap </a:t>
          </a:r>
        </a:p>
      </dsp:txBody>
      <dsp:txXfrm>
        <a:off x="20031" y="443240"/>
        <a:ext cx="3262902" cy="370266"/>
      </dsp:txXfrm>
    </dsp:sp>
    <dsp:sp modelId="{77FD575F-1BCC-40E8-890E-4EA40AE581B4}">
      <dsp:nvSpPr>
        <dsp:cNvPr id="0" name=""/>
        <dsp:cNvSpPr/>
      </dsp:nvSpPr>
      <dsp:spPr>
        <a:xfrm>
          <a:off x="0" y="845969"/>
          <a:ext cx="3302964" cy="410328"/>
        </a:xfrm>
        <a:prstGeom prst="roundRect">
          <a:avLst/>
        </a:prstGeom>
        <a:solidFill>
          <a:schemeClr val="accent1">
            <a:shade val="80000"/>
            <a:hueOff val="204164"/>
            <a:satOff val="-2928"/>
            <a:lumOff val="170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Lack of a suitable platform for selling spoiled grains</a:t>
          </a:r>
        </a:p>
      </dsp:txBody>
      <dsp:txXfrm>
        <a:off x="20031" y="866000"/>
        <a:ext cx="3262902" cy="370266"/>
      </dsp:txXfrm>
    </dsp:sp>
    <dsp:sp modelId="{6E7E81DA-871D-4E71-97B3-92B7DFCF1533}">
      <dsp:nvSpPr>
        <dsp:cNvPr id="0" name=""/>
        <dsp:cNvSpPr/>
      </dsp:nvSpPr>
      <dsp:spPr>
        <a:xfrm>
          <a:off x="0" y="1268728"/>
          <a:ext cx="3302964" cy="410328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Stress and anxiety from inability to repay debt</a:t>
          </a:r>
        </a:p>
      </dsp:txBody>
      <dsp:txXfrm>
        <a:off x="20031" y="1288759"/>
        <a:ext cx="3262902" cy="370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0F225A-9319-4DBF-A70A-813A2FEDEB82}">
      <dsp:nvSpPr>
        <dsp:cNvPr id="0" name=""/>
        <dsp:cNvSpPr/>
      </dsp:nvSpPr>
      <dsp:spPr>
        <a:xfrm rot="16200000">
          <a:off x="-201118" y="201645"/>
          <a:ext cx="1774315" cy="1371023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398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Struggles to secure competitive grain prices</a:t>
          </a:r>
          <a:br>
            <a:rPr lang="en-US" sz="1200" kern="1200"/>
          </a:br>
          <a:r>
            <a:rPr lang="en-US" sz="1200" kern="1200"/>
            <a:t>Lack of efficient marketplaces for grain procurement</a:t>
          </a:r>
        </a:p>
      </dsp:txBody>
      <dsp:txXfrm rot="5400000">
        <a:off x="528" y="354862"/>
        <a:ext cx="1371023" cy="1064589"/>
      </dsp:txXfrm>
    </dsp:sp>
    <dsp:sp modelId="{705FAED7-D084-450C-824E-A1F93A7CB56C}">
      <dsp:nvSpPr>
        <dsp:cNvPr id="0" name=""/>
        <dsp:cNvSpPr/>
      </dsp:nvSpPr>
      <dsp:spPr>
        <a:xfrm rot="16200000">
          <a:off x="1272731" y="201645"/>
          <a:ext cx="1774315" cy="1371023"/>
        </a:xfrm>
        <a:prstGeom prst="flowChartManualOperation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398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Spoiled grain supply is erratic</a:t>
          </a:r>
        </a:p>
      </dsp:txBody>
      <dsp:txXfrm rot="5400000">
        <a:off x="1474377" y="354862"/>
        <a:ext cx="1371023" cy="1064589"/>
      </dsp:txXfrm>
    </dsp:sp>
    <dsp:sp modelId="{F27C8862-5B31-4161-998A-21E6C0DD22E3}">
      <dsp:nvSpPr>
        <dsp:cNvPr id="0" name=""/>
        <dsp:cNvSpPr/>
      </dsp:nvSpPr>
      <dsp:spPr>
        <a:xfrm rot="16200000">
          <a:off x="2746581" y="201645"/>
          <a:ext cx="1774315" cy="1371023"/>
        </a:xfrm>
        <a:prstGeom prst="flowChartManualOperation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76398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Challenges in aligning farmer production with industry demand</a:t>
          </a:r>
        </a:p>
      </dsp:txBody>
      <dsp:txXfrm rot="5400000">
        <a:off x="2948227" y="354862"/>
        <a:ext cx="1371023" cy="10645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1FD71-2564-4746-8F40-5953BBF9D2C0}">
      <dsp:nvSpPr>
        <dsp:cNvPr id="0" name=""/>
        <dsp:cNvSpPr/>
      </dsp:nvSpPr>
      <dsp:spPr>
        <a:xfrm>
          <a:off x="234" y="90432"/>
          <a:ext cx="1020025" cy="5100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Farmer’s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income</a:t>
          </a:r>
        </a:p>
      </dsp:txBody>
      <dsp:txXfrm>
        <a:off x="234" y="90432"/>
        <a:ext cx="1020025" cy="510012"/>
      </dsp:txXfrm>
    </dsp:sp>
    <dsp:sp modelId="{5FF1F127-F006-4E10-9597-979D3022FC4C}">
      <dsp:nvSpPr>
        <dsp:cNvPr id="0" name=""/>
        <dsp:cNvSpPr/>
      </dsp:nvSpPr>
      <dsp:spPr>
        <a:xfrm>
          <a:off x="1234464" y="90432"/>
          <a:ext cx="1020025" cy="5100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Risks food security</a:t>
          </a:r>
        </a:p>
      </dsp:txBody>
      <dsp:txXfrm>
        <a:off x="1234464" y="90432"/>
        <a:ext cx="1020025" cy="510012"/>
      </dsp:txXfrm>
    </dsp:sp>
    <dsp:sp modelId="{8031DBEF-C192-4FD7-8683-0542E56FA190}">
      <dsp:nvSpPr>
        <dsp:cNvPr id="0" name=""/>
        <dsp:cNvSpPr/>
      </dsp:nvSpPr>
      <dsp:spPr>
        <a:xfrm>
          <a:off x="2468694" y="90432"/>
          <a:ext cx="1020025" cy="5100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Distorts the 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market</a:t>
          </a:r>
        </a:p>
      </dsp:txBody>
      <dsp:txXfrm>
        <a:off x="2468694" y="90432"/>
        <a:ext cx="1020025" cy="510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0EAB4A-7D98-4423-B7B4-E9F072676E1D}">
      <dsp:nvSpPr>
        <dsp:cNvPr id="0" name=""/>
        <dsp:cNvSpPr/>
      </dsp:nvSpPr>
      <dsp:spPr>
        <a:xfrm>
          <a:off x="0" y="108987"/>
          <a:ext cx="2827148" cy="38376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Primary Segments</a:t>
          </a:r>
        </a:p>
      </dsp:txBody>
      <dsp:txXfrm>
        <a:off x="18734" y="127721"/>
        <a:ext cx="2789680" cy="346292"/>
      </dsp:txXfrm>
    </dsp:sp>
    <dsp:sp modelId="{7F0D9F47-1941-4D06-9C3D-60D9C29B48A6}">
      <dsp:nvSpPr>
        <dsp:cNvPr id="0" name=""/>
        <dsp:cNvSpPr/>
      </dsp:nvSpPr>
      <dsp:spPr>
        <a:xfrm>
          <a:off x="0" y="492747"/>
          <a:ext cx="2827148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2" tIns="20320" rIns="113792" bIns="20320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Farmers and mandi middlemen with spoiled grains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Distilleries, breweries, and biofuel producers requiring raw materials</a:t>
          </a:r>
        </a:p>
      </dsp:txBody>
      <dsp:txXfrm>
        <a:off x="0" y="492747"/>
        <a:ext cx="2827148" cy="761760"/>
      </dsp:txXfrm>
    </dsp:sp>
    <dsp:sp modelId="{DB7F1D6F-112B-45E0-AFFB-18AC2E977F2B}">
      <dsp:nvSpPr>
        <dsp:cNvPr id="0" name=""/>
        <dsp:cNvSpPr/>
      </dsp:nvSpPr>
      <dsp:spPr>
        <a:xfrm>
          <a:off x="0" y="1254508"/>
          <a:ext cx="2827148" cy="383760"/>
        </a:xfrm>
        <a:prstGeom prst="roundRect">
          <a:avLst/>
        </a:prstGeom>
        <a:solidFill>
          <a:schemeClr val="accent1">
            <a:shade val="50000"/>
            <a:hueOff val="361436"/>
            <a:satOff val="-7560"/>
            <a:lumOff val="420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Secondary Segments</a:t>
          </a:r>
        </a:p>
      </dsp:txBody>
      <dsp:txXfrm>
        <a:off x="18734" y="1273242"/>
        <a:ext cx="2789680" cy="346292"/>
      </dsp:txXfrm>
    </dsp:sp>
    <dsp:sp modelId="{C07060EE-DDB6-457D-B483-540F787A6409}">
      <dsp:nvSpPr>
        <dsp:cNvPr id="0" name=""/>
        <dsp:cNvSpPr/>
      </dsp:nvSpPr>
      <dsp:spPr>
        <a:xfrm>
          <a:off x="0" y="1638268"/>
          <a:ext cx="2827148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762" tIns="20320" rIns="113792" bIns="20320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Agricultural cooperatives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Government bodies and NGOs focused on sustainability and agriculture</a:t>
          </a:r>
        </a:p>
      </dsp:txBody>
      <dsp:txXfrm>
        <a:off x="0" y="1638268"/>
        <a:ext cx="2827148" cy="5961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7D24C-2E32-44FC-8D11-BF7968FD38B8}">
      <dsp:nvSpPr>
        <dsp:cNvPr id="0" name=""/>
        <dsp:cNvSpPr/>
      </dsp:nvSpPr>
      <dsp:spPr>
        <a:xfrm>
          <a:off x="0" y="304260"/>
          <a:ext cx="219069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BF6C5-1BF5-4A4F-B135-DAE032EE4E24}">
      <dsp:nvSpPr>
        <dsp:cNvPr id="0" name=""/>
        <dsp:cNvSpPr/>
      </dsp:nvSpPr>
      <dsp:spPr>
        <a:xfrm>
          <a:off x="109534" y="23820"/>
          <a:ext cx="1533483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962" tIns="0" rIns="57962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Marketplace for Sourcing Grains for Ethanol Production</a:t>
          </a:r>
        </a:p>
      </dsp:txBody>
      <dsp:txXfrm>
        <a:off x="136914" y="51200"/>
        <a:ext cx="1478723" cy="506120"/>
      </dsp:txXfrm>
    </dsp:sp>
    <dsp:sp modelId="{F5720F5E-6901-4DF0-AE6D-4483C110AEBD}">
      <dsp:nvSpPr>
        <dsp:cNvPr id="0" name=""/>
        <dsp:cNvSpPr/>
      </dsp:nvSpPr>
      <dsp:spPr>
        <a:xfrm>
          <a:off x="0" y="1166100"/>
          <a:ext cx="219069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19D9B-7FE0-41FF-B8C9-5FC906880873}">
      <dsp:nvSpPr>
        <dsp:cNvPr id="0" name=""/>
        <dsp:cNvSpPr/>
      </dsp:nvSpPr>
      <dsp:spPr>
        <a:xfrm>
          <a:off x="109534" y="885660"/>
          <a:ext cx="1533483" cy="56088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962" tIns="0" rIns="57962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Quality Assurance for Grain Procurement</a:t>
          </a:r>
        </a:p>
      </dsp:txBody>
      <dsp:txXfrm>
        <a:off x="136914" y="913040"/>
        <a:ext cx="1478723" cy="506120"/>
      </dsp:txXfrm>
    </dsp:sp>
    <dsp:sp modelId="{FE6BF707-6086-4456-97C6-25DD959ECB39}">
      <dsp:nvSpPr>
        <dsp:cNvPr id="0" name=""/>
        <dsp:cNvSpPr/>
      </dsp:nvSpPr>
      <dsp:spPr>
        <a:xfrm>
          <a:off x="0" y="2027940"/>
          <a:ext cx="219069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FDF74-FB5D-4A3D-841A-1E339E42D9E8}">
      <dsp:nvSpPr>
        <dsp:cNvPr id="0" name=""/>
        <dsp:cNvSpPr/>
      </dsp:nvSpPr>
      <dsp:spPr>
        <a:xfrm>
          <a:off x="109534" y="1747500"/>
          <a:ext cx="1533483" cy="56088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962" tIns="0" rIns="57962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Consistent Sourcing for Industrial Needs</a:t>
          </a:r>
        </a:p>
      </dsp:txBody>
      <dsp:txXfrm>
        <a:off x="136914" y="1774880"/>
        <a:ext cx="1478723" cy="506120"/>
      </dsp:txXfrm>
    </dsp:sp>
    <dsp:sp modelId="{30FE1A79-70AB-4A85-83C9-15E5ADEBE9C4}">
      <dsp:nvSpPr>
        <dsp:cNvPr id="0" name=""/>
        <dsp:cNvSpPr/>
      </dsp:nvSpPr>
      <dsp:spPr>
        <a:xfrm>
          <a:off x="0" y="2889780"/>
          <a:ext cx="219069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8095E3-A590-4685-8544-0022CC106E8D}">
      <dsp:nvSpPr>
        <dsp:cNvPr id="0" name=""/>
        <dsp:cNvSpPr/>
      </dsp:nvSpPr>
      <dsp:spPr>
        <a:xfrm>
          <a:off x="109534" y="2609340"/>
          <a:ext cx="1533483" cy="5608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962" tIns="0" rIns="57962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Network of Transport Service Provider</a:t>
          </a:r>
        </a:p>
      </dsp:txBody>
      <dsp:txXfrm>
        <a:off x="136914" y="2636720"/>
        <a:ext cx="1478723" cy="506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1E0C9-C290-47F3-BBF1-8BCA4C953781}">
      <dsp:nvSpPr>
        <dsp:cNvPr id="0" name=""/>
        <dsp:cNvSpPr/>
      </dsp:nvSpPr>
      <dsp:spPr>
        <a:xfrm>
          <a:off x="0" y="344861"/>
          <a:ext cx="214334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3F39D-08AF-4CCA-A2D2-AA9C94451FE3}">
      <dsp:nvSpPr>
        <dsp:cNvPr id="0" name=""/>
        <dsp:cNvSpPr/>
      </dsp:nvSpPr>
      <dsp:spPr>
        <a:xfrm>
          <a:off x="535836" y="64421"/>
          <a:ext cx="1500341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709" tIns="0" rIns="56709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Comprehensive Marketplace for Spoiled Grains sale</a:t>
          </a:r>
        </a:p>
      </dsp:txBody>
      <dsp:txXfrm>
        <a:off x="563216" y="91801"/>
        <a:ext cx="1445581" cy="506120"/>
      </dsp:txXfrm>
    </dsp:sp>
    <dsp:sp modelId="{2ABCD895-C093-42A7-A98F-A872F22F69A3}">
      <dsp:nvSpPr>
        <dsp:cNvPr id="0" name=""/>
        <dsp:cNvSpPr/>
      </dsp:nvSpPr>
      <dsp:spPr>
        <a:xfrm>
          <a:off x="0" y="1206701"/>
          <a:ext cx="214334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73BFC-9DC2-4A64-9A4E-3A65CBEB1D88}">
      <dsp:nvSpPr>
        <dsp:cNvPr id="0" name=""/>
        <dsp:cNvSpPr/>
      </dsp:nvSpPr>
      <dsp:spPr>
        <a:xfrm>
          <a:off x="535836" y="926261"/>
          <a:ext cx="1500341" cy="56088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709" tIns="0" rIns="56709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Unwavering Payment Assurance for Farmers</a:t>
          </a:r>
        </a:p>
      </dsp:txBody>
      <dsp:txXfrm>
        <a:off x="563216" y="953641"/>
        <a:ext cx="1445581" cy="506120"/>
      </dsp:txXfrm>
    </dsp:sp>
    <dsp:sp modelId="{D08FE7F1-3048-4107-A9D6-010C9DCCBB83}">
      <dsp:nvSpPr>
        <dsp:cNvPr id="0" name=""/>
        <dsp:cNvSpPr/>
      </dsp:nvSpPr>
      <dsp:spPr>
        <a:xfrm>
          <a:off x="0" y="2068541"/>
          <a:ext cx="214334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EF5A2-FC79-4A02-B7E0-0B069AD25241}">
      <dsp:nvSpPr>
        <dsp:cNvPr id="0" name=""/>
        <dsp:cNvSpPr/>
      </dsp:nvSpPr>
      <dsp:spPr>
        <a:xfrm>
          <a:off x="535836" y="1788101"/>
          <a:ext cx="1500341" cy="56088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709" tIns="0" rIns="56709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Multilingual Capabilities for Effortless Navigation</a:t>
          </a:r>
        </a:p>
      </dsp:txBody>
      <dsp:txXfrm>
        <a:off x="563216" y="1815481"/>
        <a:ext cx="1445581" cy="506120"/>
      </dsp:txXfrm>
    </dsp:sp>
    <dsp:sp modelId="{0F403E3A-2629-4A1C-A8AE-7B633698065A}">
      <dsp:nvSpPr>
        <dsp:cNvPr id="0" name=""/>
        <dsp:cNvSpPr/>
      </dsp:nvSpPr>
      <dsp:spPr>
        <a:xfrm>
          <a:off x="0" y="2930381"/>
          <a:ext cx="2143345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ACEA7-5E34-4CAB-ABC8-EA933A71D8F4}">
      <dsp:nvSpPr>
        <dsp:cNvPr id="0" name=""/>
        <dsp:cNvSpPr/>
      </dsp:nvSpPr>
      <dsp:spPr>
        <a:xfrm>
          <a:off x="535836" y="2649941"/>
          <a:ext cx="1500341" cy="5608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6709" tIns="0" rIns="56709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Voice and Text-Based Communication Options</a:t>
          </a:r>
        </a:p>
      </dsp:txBody>
      <dsp:txXfrm>
        <a:off x="563216" y="2677321"/>
        <a:ext cx="1445581" cy="506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66E27-9F2A-4B62-8BD7-09C6BE871459}">
      <dsp:nvSpPr>
        <dsp:cNvPr id="0" name=""/>
        <dsp:cNvSpPr/>
      </dsp:nvSpPr>
      <dsp:spPr>
        <a:xfrm>
          <a:off x="63603" y="306884"/>
          <a:ext cx="1522190" cy="4756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197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Transaction fees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Charged from both buyer and seller</a:t>
          </a:r>
        </a:p>
      </dsp:txBody>
      <dsp:txXfrm>
        <a:off x="63603" y="306884"/>
        <a:ext cx="1522190" cy="475684"/>
      </dsp:txXfrm>
    </dsp:sp>
    <dsp:sp modelId="{5FAFD57E-F99E-4F75-918A-085C3E6D9303}">
      <dsp:nvSpPr>
        <dsp:cNvPr id="0" name=""/>
        <dsp:cNvSpPr/>
      </dsp:nvSpPr>
      <dsp:spPr>
        <a:xfrm>
          <a:off x="179" y="238174"/>
          <a:ext cx="332979" cy="499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79E08-4B63-47C2-93ED-D571168F68F2}">
      <dsp:nvSpPr>
        <dsp:cNvPr id="0" name=""/>
        <dsp:cNvSpPr/>
      </dsp:nvSpPr>
      <dsp:spPr>
        <a:xfrm>
          <a:off x="1728221" y="306884"/>
          <a:ext cx="1522190" cy="4756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197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⁠</a:t>
          </a:r>
          <a:r>
            <a:rPr lang="en-US" sz="900" b="1" kern="1200"/>
            <a:t>Ad Revenue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Income from website and app ads</a:t>
          </a:r>
        </a:p>
      </dsp:txBody>
      <dsp:txXfrm>
        <a:off x="1728221" y="306884"/>
        <a:ext cx="1522190" cy="475684"/>
      </dsp:txXfrm>
    </dsp:sp>
    <dsp:sp modelId="{775867CC-E897-4DCA-BD9C-884A6E1EBF17}">
      <dsp:nvSpPr>
        <dsp:cNvPr id="0" name=""/>
        <dsp:cNvSpPr/>
      </dsp:nvSpPr>
      <dsp:spPr>
        <a:xfrm>
          <a:off x="1664796" y="238174"/>
          <a:ext cx="332979" cy="499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C98AB-8936-4121-938B-B227926D40FF}">
      <dsp:nvSpPr>
        <dsp:cNvPr id="0" name=""/>
        <dsp:cNvSpPr/>
      </dsp:nvSpPr>
      <dsp:spPr>
        <a:xfrm>
          <a:off x="63603" y="905718"/>
          <a:ext cx="1522190" cy="4756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197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Platform Fee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 dirty="0"/>
            <a:t> for the Breweries and Distilleries</a:t>
          </a:r>
        </a:p>
      </dsp:txBody>
      <dsp:txXfrm>
        <a:off x="63603" y="905718"/>
        <a:ext cx="1522190" cy="475684"/>
      </dsp:txXfrm>
    </dsp:sp>
    <dsp:sp modelId="{1D7EAB42-1695-4F02-A180-2EF9BF446FF6}">
      <dsp:nvSpPr>
        <dsp:cNvPr id="0" name=""/>
        <dsp:cNvSpPr/>
      </dsp:nvSpPr>
      <dsp:spPr>
        <a:xfrm>
          <a:off x="179" y="837008"/>
          <a:ext cx="332979" cy="499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CA176-8D4C-4DC9-9586-2CF489074A2F}">
      <dsp:nvSpPr>
        <dsp:cNvPr id="0" name=""/>
        <dsp:cNvSpPr/>
      </dsp:nvSpPr>
      <dsp:spPr>
        <a:xfrm>
          <a:off x="1728221" y="905718"/>
          <a:ext cx="1522190" cy="47568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2197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⁠Subscription fees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kern="1200"/>
            <a:t>for Transportation service providers</a:t>
          </a:r>
        </a:p>
      </dsp:txBody>
      <dsp:txXfrm>
        <a:off x="1728221" y="905718"/>
        <a:ext cx="1522190" cy="475684"/>
      </dsp:txXfrm>
    </dsp:sp>
    <dsp:sp modelId="{E36B1C10-79B7-4182-B55F-8542D4B8F509}">
      <dsp:nvSpPr>
        <dsp:cNvPr id="0" name=""/>
        <dsp:cNvSpPr/>
      </dsp:nvSpPr>
      <dsp:spPr>
        <a:xfrm>
          <a:off x="1664796" y="837008"/>
          <a:ext cx="332979" cy="4994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06B6C-B6C3-4D55-A6BB-74F0482F5168}">
      <dsp:nvSpPr>
        <dsp:cNvPr id="0" name=""/>
        <dsp:cNvSpPr/>
      </dsp:nvSpPr>
      <dsp:spPr>
        <a:xfrm rot="10800000">
          <a:off x="788849" y="1147"/>
          <a:ext cx="2767651" cy="366938"/>
        </a:xfrm>
        <a:prstGeom prst="homePlat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10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App Development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Cost of app development and maintenance</a:t>
          </a:r>
        </a:p>
      </dsp:txBody>
      <dsp:txXfrm rot="10800000">
        <a:off x="880583" y="1147"/>
        <a:ext cx="2675917" cy="366938"/>
      </dsp:txXfrm>
    </dsp:sp>
    <dsp:sp modelId="{AF4AC428-5B06-49B5-AC37-7878487758FC}">
      <dsp:nvSpPr>
        <dsp:cNvPr id="0" name=""/>
        <dsp:cNvSpPr/>
      </dsp:nvSpPr>
      <dsp:spPr>
        <a:xfrm>
          <a:off x="605380" y="1147"/>
          <a:ext cx="366938" cy="36693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D5B56-345D-4CCE-9F49-262C01B7D7C3}">
      <dsp:nvSpPr>
        <dsp:cNvPr id="0" name=""/>
        <dsp:cNvSpPr/>
      </dsp:nvSpPr>
      <dsp:spPr>
        <a:xfrm rot="10800000">
          <a:off x="788849" y="477620"/>
          <a:ext cx="2767651" cy="366938"/>
        </a:xfrm>
        <a:prstGeom prst="homePlate">
          <a:avLst/>
        </a:prstGeom>
        <a:solidFill>
          <a:schemeClr val="accent4">
            <a:shade val="50000"/>
            <a:hueOff val="-104717"/>
            <a:satOff val="-3169"/>
            <a:lumOff val="208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10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Marketing &amp; Promotion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Cost of running marketing campaigns</a:t>
          </a:r>
          <a:endParaRPr lang="en-US" sz="900" kern="1200" dirty="0"/>
        </a:p>
      </dsp:txBody>
      <dsp:txXfrm rot="10800000">
        <a:off x="880583" y="477620"/>
        <a:ext cx="2675917" cy="366938"/>
      </dsp:txXfrm>
    </dsp:sp>
    <dsp:sp modelId="{F82AD9A9-2DA6-4139-9650-DFB61F8AAA0D}">
      <dsp:nvSpPr>
        <dsp:cNvPr id="0" name=""/>
        <dsp:cNvSpPr/>
      </dsp:nvSpPr>
      <dsp:spPr>
        <a:xfrm>
          <a:off x="605380" y="477620"/>
          <a:ext cx="366938" cy="36693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93737E-DCF0-4BE3-9F58-9512EB7D3EA0}">
      <dsp:nvSpPr>
        <dsp:cNvPr id="0" name=""/>
        <dsp:cNvSpPr/>
      </dsp:nvSpPr>
      <dsp:spPr>
        <a:xfrm rot="10800000">
          <a:off x="788849" y="954092"/>
          <a:ext cx="2767651" cy="366938"/>
        </a:xfrm>
        <a:prstGeom prst="homePlate">
          <a:avLst/>
        </a:prstGeom>
        <a:solidFill>
          <a:schemeClr val="accent4">
            <a:shade val="50000"/>
            <a:hueOff val="-209434"/>
            <a:satOff val="-6337"/>
            <a:lumOff val="416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10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Human Resource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Salaries and employee benefits</a:t>
          </a:r>
          <a:endParaRPr lang="en-US" sz="900" kern="1200" dirty="0"/>
        </a:p>
      </dsp:txBody>
      <dsp:txXfrm rot="10800000">
        <a:off x="880583" y="954092"/>
        <a:ext cx="2675917" cy="366938"/>
      </dsp:txXfrm>
    </dsp:sp>
    <dsp:sp modelId="{DF4710A8-8593-47FD-B4D4-B58597AA4B26}">
      <dsp:nvSpPr>
        <dsp:cNvPr id="0" name=""/>
        <dsp:cNvSpPr/>
      </dsp:nvSpPr>
      <dsp:spPr>
        <a:xfrm>
          <a:off x="605380" y="954092"/>
          <a:ext cx="366938" cy="36693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1E82F-FB6D-4D3E-9BD1-E4F5B2C72F71}">
      <dsp:nvSpPr>
        <dsp:cNvPr id="0" name=""/>
        <dsp:cNvSpPr/>
      </dsp:nvSpPr>
      <dsp:spPr>
        <a:xfrm rot="10800000">
          <a:off x="788849" y="1430565"/>
          <a:ext cx="2767651" cy="366938"/>
        </a:xfrm>
        <a:prstGeom prst="homePlate">
          <a:avLst/>
        </a:prstGeom>
        <a:solidFill>
          <a:schemeClr val="accent4">
            <a:shade val="50000"/>
            <a:hueOff val="-104717"/>
            <a:satOff val="-3169"/>
            <a:lumOff val="208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810" tIns="38100" rIns="7112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Miscellaneous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Market research and other expenses</a:t>
          </a:r>
          <a:endParaRPr lang="en-US" sz="900" kern="1200" dirty="0"/>
        </a:p>
      </dsp:txBody>
      <dsp:txXfrm rot="10800000">
        <a:off x="880583" y="1430565"/>
        <a:ext cx="2675917" cy="366938"/>
      </dsp:txXfrm>
    </dsp:sp>
    <dsp:sp modelId="{A7087994-BF92-42F0-8992-873D932BC318}">
      <dsp:nvSpPr>
        <dsp:cNvPr id="0" name=""/>
        <dsp:cNvSpPr/>
      </dsp:nvSpPr>
      <dsp:spPr>
        <a:xfrm>
          <a:off x="605380" y="1430565"/>
          <a:ext cx="366938" cy="36693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30B48-5FD6-4CF4-A1B4-2ABA9AB498A1}">
      <dsp:nvSpPr>
        <dsp:cNvPr id="0" name=""/>
        <dsp:cNvSpPr/>
      </dsp:nvSpPr>
      <dsp:spPr>
        <a:xfrm>
          <a:off x="316196" y="0"/>
          <a:ext cx="3583562" cy="1090472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2E004-B234-4F27-83CA-C14284E20A90}">
      <dsp:nvSpPr>
        <dsp:cNvPr id="0" name=""/>
        <dsp:cNvSpPr/>
      </dsp:nvSpPr>
      <dsp:spPr>
        <a:xfrm>
          <a:off x="598" y="327141"/>
          <a:ext cx="2015567" cy="43618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Create compelling SMS content that emphasizes the key benefits of the platform</a:t>
          </a:r>
        </a:p>
      </dsp:txBody>
      <dsp:txXfrm>
        <a:off x="21891" y="348434"/>
        <a:ext cx="1972981" cy="393602"/>
      </dsp:txXfrm>
    </dsp:sp>
    <dsp:sp modelId="{423E44DB-FDF9-4B8B-842F-54C5883CC214}">
      <dsp:nvSpPr>
        <dsp:cNvPr id="0" name=""/>
        <dsp:cNvSpPr/>
      </dsp:nvSpPr>
      <dsp:spPr>
        <a:xfrm>
          <a:off x="2199790" y="327141"/>
          <a:ext cx="2015567" cy="43618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SMS in regional languages to expand the reach and enhance connectivity with local farmers</a:t>
          </a:r>
        </a:p>
      </dsp:txBody>
      <dsp:txXfrm>
        <a:off x="2221083" y="348434"/>
        <a:ext cx="1972981" cy="3936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463EF-4F22-47BC-A556-36FED0FBE979}">
      <dsp:nvSpPr>
        <dsp:cNvPr id="0" name=""/>
        <dsp:cNvSpPr/>
      </dsp:nvSpPr>
      <dsp:spPr>
        <a:xfrm>
          <a:off x="0" y="656"/>
          <a:ext cx="35300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6FF7CA-3FD9-4ABC-8F8C-44CEE256F54A}">
      <dsp:nvSpPr>
        <dsp:cNvPr id="0" name=""/>
        <dsp:cNvSpPr/>
      </dsp:nvSpPr>
      <dsp:spPr>
        <a:xfrm>
          <a:off x="0" y="656"/>
          <a:ext cx="3530026" cy="447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Prioritize locations were target industries</a:t>
          </a:r>
        </a:p>
      </dsp:txBody>
      <dsp:txXfrm>
        <a:off x="0" y="656"/>
        <a:ext cx="3530026" cy="447855"/>
      </dsp:txXfrm>
    </dsp:sp>
    <dsp:sp modelId="{EF3B1A5A-224A-42C0-8D17-950439BCA94B}">
      <dsp:nvSpPr>
        <dsp:cNvPr id="0" name=""/>
        <dsp:cNvSpPr/>
      </dsp:nvSpPr>
      <dsp:spPr>
        <a:xfrm>
          <a:off x="0" y="448512"/>
          <a:ext cx="35300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CD9CBD-882D-4792-9C68-E47C34DEF08D}">
      <dsp:nvSpPr>
        <dsp:cNvPr id="0" name=""/>
        <dsp:cNvSpPr/>
      </dsp:nvSpPr>
      <dsp:spPr>
        <a:xfrm>
          <a:off x="0" y="448512"/>
          <a:ext cx="3530026" cy="447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User-friendly kiosks equipped with computers</a:t>
          </a:r>
        </a:p>
      </dsp:txBody>
      <dsp:txXfrm>
        <a:off x="0" y="448512"/>
        <a:ext cx="3530026" cy="447855"/>
      </dsp:txXfrm>
    </dsp:sp>
    <dsp:sp modelId="{0454C23C-A154-45CD-9DCD-98C2935FFDC2}">
      <dsp:nvSpPr>
        <dsp:cNvPr id="0" name=""/>
        <dsp:cNvSpPr/>
      </dsp:nvSpPr>
      <dsp:spPr>
        <a:xfrm>
          <a:off x="0" y="896367"/>
          <a:ext cx="353002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BAB706-1AA4-41D8-B303-D58B7F63183C}">
      <dsp:nvSpPr>
        <dsp:cNvPr id="0" name=""/>
        <dsp:cNvSpPr/>
      </dsp:nvSpPr>
      <dsp:spPr>
        <a:xfrm>
          <a:off x="0" y="896367"/>
          <a:ext cx="3530026" cy="447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Collect feedback from users to improve the platform and address</a:t>
          </a:r>
        </a:p>
      </dsp:txBody>
      <dsp:txXfrm>
        <a:off x="0" y="896367"/>
        <a:ext cx="3530026" cy="4478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C251C4-0E87-4050-AE86-B87AC808BE6E}">
      <dsp:nvSpPr>
        <dsp:cNvPr id="0" name=""/>
        <dsp:cNvSpPr/>
      </dsp:nvSpPr>
      <dsp:spPr>
        <a:xfrm>
          <a:off x="4708" y="0"/>
          <a:ext cx="904316" cy="11193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Partner with local mandis and APMCs to identify farmers with spoiled crops</a:t>
          </a:r>
        </a:p>
      </dsp:txBody>
      <dsp:txXfrm>
        <a:off x="31195" y="26487"/>
        <a:ext cx="851342" cy="1066327"/>
      </dsp:txXfrm>
    </dsp:sp>
    <dsp:sp modelId="{EDBEC2D2-8310-4F5C-8F1B-87A04352D754}">
      <dsp:nvSpPr>
        <dsp:cNvPr id="0" name=""/>
        <dsp:cNvSpPr/>
      </dsp:nvSpPr>
      <dsp:spPr>
        <a:xfrm>
          <a:off x="999456" y="447515"/>
          <a:ext cx="191715" cy="224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5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999456" y="492369"/>
        <a:ext cx="134201" cy="134562"/>
      </dsp:txXfrm>
    </dsp:sp>
    <dsp:sp modelId="{C42646A4-8DAA-4A6E-8B93-8AC7358273FE}">
      <dsp:nvSpPr>
        <dsp:cNvPr id="0" name=""/>
        <dsp:cNvSpPr/>
      </dsp:nvSpPr>
      <dsp:spPr>
        <a:xfrm>
          <a:off x="1270751" y="0"/>
          <a:ext cx="904316" cy="11193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 mandi networks to promote platform adoption among farmers</a:t>
          </a:r>
        </a:p>
      </dsp:txBody>
      <dsp:txXfrm>
        <a:off x="1297238" y="26487"/>
        <a:ext cx="851342" cy="1066327"/>
      </dsp:txXfrm>
    </dsp:sp>
    <dsp:sp modelId="{A54AC1F3-B1CA-4B68-85BE-51FE75ED7F1B}">
      <dsp:nvSpPr>
        <dsp:cNvPr id="0" name=""/>
        <dsp:cNvSpPr/>
      </dsp:nvSpPr>
      <dsp:spPr>
        <a:xfrm>
          <a:off x="2265499" y="447515"/>
          <a:ext cx="191715" cy="224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5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65499" y="492369"/>
        <a:ext cx="134201" cy="134562"/>
      </dsp:txXfrm>
    </dsp:sp>
    <dsp:sp modelId="{52C41A15-D570-4676-883C-10BEA238D6C4}">
      <dsp:nvSpPr>
        <dsp:cNvPr id="0" name=""/>
        <dsp:cNvSpPr/>
      </dsp:nvSpPr>
      <dsp:spPr>
        <a:xfrm>
          <a:off x="2536794" y="0"/>
          <a:ext cx="904316" cy="111930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Coordinate with mandi officials to streamline the process of collecting and selling spoiled grains.</a:t>
          </a:r>
        </a:p>
      </dsp:txBody>
      <dsp:txXfrm>
        <a:off x="2563281" y="26487"/>
        <a:ext cx="851342" cy="10663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22EA2-BFAC-428F-BC49-1AAD0F66132E}">
      <dsp:nvSpPr>
        <dsp:cNvPr id="0" name=""/>
        <dsp:cNvSpPr/>
      </dsp:nvSpPr>
      <dsp:spPr>
        <a:xfrm>
          <a:off x="0" y="0"/>
          <a:ext cx="30570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5D880-C8EF-4A51-8169-7FDD0A770B95}">
      <dsp:nvSpPr>
        <dsp:cNvPr id="0" name=""/>
        <dsp:cNvSpPr/>
      </dsp:nvSpPr>
      <dsp:spPr>
        <a:xfrm>
          <a:off x="0" y="0"/>
          <a:ext cx="3057097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Collaborate with agricultural and industrial associations to expand platform outreach</a:t>
          </a:r>
        </a:p>
      </dsp:txBody>
      <dsp:txXfrm>
        <a:off x="0" y="0"/>
        <a:ext cx="3057097" cy="507831"/>
      </dsp:txXfrm>
    </dsp:sp>
    <dsp:sp modelId="{AAED6DCD-ACD1-41B1-8C6B-3643C6BF0ED1}">
      <dsp:nvSpPr>
        <dsp:cNvPr id="0" name=""/>
        <dsp:cNvSpPr/>
      </dsp:nvSpPr>
      <dsp:spPr>
        <a:xfrm>
          <a:off x="0" y="507831"/>
          <a:ext cx="30570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0A98B-E65D-49F3-BDB9-06AD2F98D0A3}">
      <dsp:nvSpPr>
        <dsp:cNvPr id="0" name=""/>
        <dsp:cNvSpPr/>
      </dsp:nvSpPr>
      <dsp:spPr>
        <a:xfrm>
          <a:off x="0" y="507831"/>
          <a:ext cx="3057097" cy="507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222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5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Leverage relationships with chambers of commerce to enhance credibility and visibility</a:t>
          </a:r>
        </a:p>
      </dsp:txBody>
      <dsp:txXfrm>
        <a:off x="0" y="507831"/>
        <a:ext cx="3057097" cy="50783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462EA-306A-45B1-8707-30FE55D9D478}">
      <dsp:nvSpPr>
        <dsp:cNvPr id="0" name=""/>
        <dsp:cNvSpPr/>
      </dsp:nvSpPr>
      <dsp:spPr>
        <a:xfrm>
          <a:off x="0" y="3298"/>
          <a:ext cx="3063479" cy="397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Partner with agricultural and environmental NGOs to promote sustainability</a:t>
          </a:r>
        </a:p>
      </dsp:txBody>
      <dsp:txXfrm>
        <a:off x="19419" y="22717"/>
        <a:ext cx="3024641" cy="358962"/>
      </dsp:txXfrm>
    </dsp:sp>
    <dsp:sp modelId="{0A405636-F2BC-48BE-9C57-60F776E664A3}">
      <dsp:nvSpPr>
        <dsp:cNvPr id="0" name=""/>
        <dsp:cNvSpPr/>
      </dsp:nvSpPr>
      <dsp:spPr>
        <a:xfrm>
          <a:off x="0" y="429898"/>
          <a:ext cx="3063479" cy="39780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Pursue government grants and funding for platform development and expansion</a:t>
          </a:r>
        </a:p>
      </dsp:txBody>
      <dsp:txXfrm>
        <a:off x="19419" y="449317"/>
        <a:ext cx="3024641" cy="358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F831F-67E2-4240-B39A-E3F6531A1D51}" type="datetimeFigureOut">
              <a:rPr lang="en-US" smtClean="0"/>
              <a:t>7/28/2024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CBA15-F251-4870-92B3-7FF159F36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2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CBA15-F251-4870-92B3-7FF159F361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9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CBA15-F251-4870-92B3-7FF159F361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75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CBA15-F251-4870-92B3-7FF159F361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1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E00-9E71-0B29-99B1-64FEA8674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E9FBA-885C-5738-F63B-75C5AB663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0B445-A9DE-F057-FDB2-B7C7D676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C561-CE7D-4910-98EA-3E0615D92B32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952D-6D1D-6423-51D3-E2EC9A46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E7B4A-4072-2CFA-785B-7B20980D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62472-A145-4DB4-9C25-A8F80FB2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9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651" y="380"/>
            <a:ext cx="380669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microsoft.com/office/2007/relationships/diagramDrawing" Target="../diagrams/drawing1.xml"/><Relationship Id="rId18" Type="http://schemas.microsoft.com/office/2007/relationships/diagramDrawing" Target="../diagrams/drawing2.xml"/><Relationship Id="rId26" Type="http://schemas.openxmlformats.org/officeDocument/2006/relationships/image" Target="../media/image15.png"/><Relationship Id="rId3" Type="http://schemas.openxmlformats.org/officeDocument/2006/relationships/image" Target="../media/image8.png"/><Relationship Id="rId21" Type="http://schemas.openxmlformats.org/officeDocument/2006/relationships/diagramQuickStyle" Target="../diagrams/quickStyle3.xml"/><Relationship Id="rId7" Type="http://schemas.openxmlformats.org/officeDocument/2006/relationships/image" Target="../media/image12.png"/><Relationship Id="rId12" Type="http://schemas.openxmlformats.org/officeDocument/2006/relationships/diagramColors" Target="../diagrams/colors1.xml"/><Relationship Id="rId17" Type="http://schemas.openxmlformats.org/officeDocument/2006/relationships/diagramColors" Target="../diagrams/colors2.xml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diagramQuickStyle" Target="../diagrams/quickStyle2.xml"/><Relationship Id="rId20" Type="http://schemas.openxmlformats.org/officeDocument/2006/relationships/diagramLayout" Target="../diagrams/layout3.xml"/><Relationship Id="rId29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diagramQuickStyle" Target="../diagrams/quickStyle1.xml"/><Relationship Id="rId24" Type="http://schemas.openxmlformats.org/officeDocument/2006/relationships/image" Target="../media/image13.jpeg"/><Relationship Id="rId5" Type="http://schemas.openxmlformats.org/officeDocument/2006/relationships/image" Target="../media/image10.png"/><Relationship Id="rId15" Type="http://schemas.openxmlformats.org/officeDocument/2006/relationships/diagramLayout" Target="../diagrams/layout2.xml"/><Relationship Id="rId23" Type="http://schemas.microsoft.com/office/2007/relationships/diagramDrawing" Target="../diagrams/drawing3.xml"/><Relationship Id="rId28" Type="http://schemas.openxmlformats.org/officeDocument/2006/relationships/image" Target="../media/image17.jpeg"/><Relationship Id="rId10" Type="http://schemas.openxmlformats.org/officeDocument/2006/relationships/diagramLayout" Target="../diagrams/layout1.xml"/><Relationship Id="rId19" Type="http://schemas.openxmlformats.org/officeDocument/2006/relationships/diagramData" Target="../diagrams/data3.xml"/><Relationship Id="rId4" Type="http://schemas.openxmlformats.org/officeDocument/2006/relationships/image" Target="../media/image9.png"/><Relationship Id="rId9" Type="http://schemas.openxmlformats.org/officeDocument/2006/relationships/diagramData" Target="../diagrams/data1.xml"/><Relationship Id="rId14" Type="http://schemas.openxmlformats.org/officeDocument/2006/relationships/diagramData" Target="../diagrams/data2.xml"/><Relationship Id="rId22" Type="http://schemas.openxmlformats.org/officeDocument/2006/relationships/diagramColors" Target="../diagrams/colors3.xml"/><Relationship Id="rId27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microsoft.com/office/2007/relationships/diagramDrawing" Target="../diagrams/drawing5.xml"/><Relationship Id="rId26" Type="http://schemas.openxmlformats.org/officeDocument/2006/relationships/diagramData" Target="../diagrams/data7.xml"/><Relationship Id="rId3" Type="http://schemas.openxmlformats.org/officeDocument/2006/relationships/diagramData" Target="../diagrams/data4.xml"/><Relationship Id="rId21" Type="http://schemas.openxmlformats.org/officeDocument/2006/relationships/diagramQuickStyle" Target="../diagrams/quickStyle6.xml"/><Relationship Id="rId34" Type="http://schemas.openxmlformats.org/officeDocument/2006/relationships/diagramColors" Target="../diagrams/colors8.xml"/><Relationship Id="rId7" Type="http://schemas.microsoft.com/office/2007/relationships/diagramDrawing" Target="../diagrams/drawing4.xml"/><Relationship Id="rId12" Type="http://schemas.openxmlformats.org/officeDocument/2006/relationships/image" Target="../media/image23.png"/><Relationship Id="rId17" Type="http://schemas.openxmlformats.org/officeDocument/2006/relationships/diagramColors" Target="../diagrams/colors5.xml"/><Relationship Id="rId25" Type="http://schemas.microsoft.com/office/2007/relationships/hdphoto" Target="../media/hdphoto2.wdp"/><Relationship Id="rId33" Type="http://schemas.openxmlformats.org/officeDocument/2006/relationships/diagramQuickStyle" Target="../diagrams/quickStyle8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5.xml"/><Relationship Id="rId20" Type="http://schemas.openxmlformats.org/officeDocument/2006/relationships/diagramLayout" Target="../diagrams/layout6.xml"/><Relationship Id="rId29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22.png"/><Relationship Id="rId24" Type="http://schemas.openxmlformats.org/officeDocument/2006/relationships/image" Target="../media/image25.png"/><Relationship Id="rId32" Type="http://schemas.openxmlformats.org/officeDocument/2006/relationships/diagramLayout" Target="../diagrams/layout8.xml"/><Relationship Id="rId5" Type="http://schemas.openxmlformats.org/officeDocument/2006/relationships/diagramQuickStyle" Target="../diagrams/quickStyle4.xml"/><Relationship Id="rId15" Type="http://schemas.openxmlformats.org/officeDocument/2006/relationships/diagramLayout" Target="../diagrams/layout5.xml"/><Relationship Id="rId23" Type="http://schemas.microsoft.com/office/2007/relationships/diagramDrawing" Target="../diagrams/drawing6.xml"/><Relationship Id="rId28" Type="http://schemas.openxmlformats.org/officeDocument/2006/relationships/diagramQuickStyle" Target="../diagrams/quickStyle7.xml"/><Relationship Id="rId10" Type="http://schemas.openxmlformats.org/officeDocument/2006/relationships/image" Target="../media/image21.png"/><Relationship Id="rId19" Type="http://schemas.openxmlformats.org/officeDocument/2006/relationships/diagramData" Target="../diagrams/data6.xml"/><Relationship Id="rId31" Type="http://schemas.openxmlformats.org/officeDocument/2006/relationships/diagramData" Target="../diagrams/data8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0.jpeg"/><Relationship Id="rId14" Type="http://schemas.openxmlformats.org/officeDocument/2006/relationships/diagramData" Target="../diagrams/data5.xml"/><Relationship Id="rId22" Type="http://schemas.openxmlformats.org/officeDocument/2006/relationships/diagramColors" Target="../diagrams/colors6.xml"/><Relationship Id="rId27" Type="http://schemas.openxmlformats.org/officeDocument/2006/relationships/diagramLayout" Target="../diagrams/layout7.xml"/><Relationship Id="rId30" Type="http://schemas.microsoft.com/office/2007/relationships/diagramDrawing" Target="../diagrams/drawing7.xml"/><Relationship Id="rId35" Type="http://schemas.microsoft.com/office/2007/relationships/diagramDrawing" Target="../diagrams/drawing8.xml"/><Relationship Id="rId8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jpeg"/><Relationship Id="rId18" Type="http://schemas.openxmlformats.org/officeDocument/2006/relationships/image" Target="../media/image52.png"/><Relationship Id="rId26" Type="http://schemas.microsoft.com/office/2007/relationships/diagramDrawing" Target="../diagrams/drawing10.xml"/><Relationship Id="rId39" Type="http://schemas.openxmlformats.org/officeDocument/2006/relationships/image" Target="../media/image57.jpeg"/><Relationship Id="rId21" Type="http://schemas.openxmlformats.org/officeDocument/2006/relationships/image" Target="../media/image54.png"/><Relationship Id="rId34" Type="http://schemas.openxmlformats.org/officeDocument/2006/relationships/diagramData" Target="../diagrams/data12.xml"/><Relationship Id="rId42" Type="http://schemas.openxmlformats.org/officeDocument/2006/relationships/image" Target="../media/image60.png"/><Relationship Id="rId47" Type="http://schemas.microsoft.com/office/2007/relationships/diagramDrawing" Target="../diagrams/drawing13.xml"/><Relationship Id="rId50" Type="http://schemas.openxmlformats.org/officeDocument/2006/relationships/image" Target="../media/image63.jpe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0.jpeg"/><Relationship Id="rId29" Type="http://schemas.openxmlformats.org/officeDocument/2006/relationships/diagramLayout" Target="../diagrams/layout11.xml"/><Relationship Id="rId11" Type="http://schemas.openxmlformats.org/officeDocument/2006/relationships/image" Target="../media/image45.jpeg"/><Relationship Id="rId24" Type="http://schemas.openxmlformats.org/officeDocument/2006/relationships/diagramQuickStyle" Target="../diagrams/quickStyle10.xml"/><Relationship Id="rId32" Type="http://schemas.microsoft.com/office/2007/relationships/diagramDrawing" Target="../diagrams/drawing11.xml"/><Relationship Id="rId37" Type="http://schemas.openxmlformats.org/officeDocument/2006/relationships/diagramColors" Target="../diagrams/colors12.xml"/><Relationship Id="rId40" Type="http://schemas.openxmlformats.org/officeDocument/2006/relationships/image" Target="../media/image58.png"/><Relationship Id="rId45" Type="http://schemas.openxmlformats.org/officeDocument/2006/relationships/diagramQuickStyle" Target="../diagrams/quickStyle13.xml"/><Relationship Id="rId5" Type="http://schemas.openxmlformats.org/officeDocument/2006/relationships/diagramData" Target="../diagrams/data9.xml"/><Relationship Id="rId15" Type="http://schemas.openxmlformats.org/officeDocument/2006/relationships/image" Target="../media/image49.png"/><Relationship Id="rId23" Type="http://schemas.openxmlformats.org/officeDocument/2006/relationships/diagramLayout" Target="../diagrams/layout10.xml"/><Relationship Id="rId28" Type="http://schemas.openxmlformats.org/officeDocument/2006/relationships/diagramData" Target="../diagrams/data11.xml"/><Relationship Id="rId36" Type="http://schemas.openxmlformats.org/officeDocument/2006/relationships/diagramQuickStyle" Target="../diagrams/quickStyle12.xml"/><Relationship Id="rId49" Type="http://schemas.openxmlformats.org/officeDocument/2006/relationships/image" Target="../media/image62.jpeg"/><Relationship Id="rId10" Type="http://schemas.openxmlformats.org/officeDocument/2006/relationships/image" Target="../media/image44.png"/><Relationship Id="rId19" Type="http://schemas.microsoft.com/office/2007/relationships/hdphoto" Target="../media/hdphoto3.wdp"/><Relationship Id="rId31" Type="http://schemas.openxmlformats.org/officeDocument/2006/relationships/diagramColors" Target="../diagrams/colors11.xml"/><Relationship Id="rId44" Type="http://schemas.openxmlformats.org/officeDocument/2006/relationships/diagramLayout" Target="../diagrams/layout13.xml"/><Relationship Id="rId4" Type="http://schemas.openxmlformats.org/officeDocument/2006/relationships/image" Target="../media/image43.png"/><Relationship Id="rId9" Type="http://schemas.microsoft.com/office/2007/relationships/diagramDrawing" Target="../diagrams/drawing9.xml"/><Relationship Id="rId14" Type="http://schemas.openxmlformats.org/officeDocument/2006/relationships/image" Target="../media/image48.jpeg"/><Relationship Id="rId22" Type="http://schemas.openxmlformats.org/officeDocument/2006/relationships/diagramData" Target="../diagrams/data10.xml"/><Relationship Id="rId27" Type="http://schemas.openxmlformats.org/officeDocument/2006/relationships/image" Target="../media/image55.png"/><Relationship Id="rId30" Type="http://schemas.openxmlformats.org/officeDocument/2006/relationships/diagramQuickStyle" Target="../diagrams/quickStyle11.xml"/><Relationship Id="rId35" Type="http://schemas.openxmlformats.org/officeDocument/2006/relationships/diagramLayout" Target="../diagrams/layout12.xml"/><Relationship Id="rId43" Type="http://schemas.openxmlformats.org/officeDocument/2006/relationships/diagramData" Target="../diagrams/data13.xml"/><Relationship Id="rId48" Type="http://schemas.openxmlformats.org/officeDocument/2006/relationships/image" Target="../media/image61.jpeg"/><Relationship Id="rId8" Type="http://schemas.openxmlformats.org/officeDocument/2006/relationships/diagramColors" Target="../diagrams/colors9.xml"/><Relationship Id="rId51" Type="http://schemas.openxmlformats.org/officeDocument/2006/relationships/image" Target="../media/image64.jpeg"/><Relationship Id="rId3" Type="http://schemas.openxmlformats.org/officeDocument/2006/relationships/image" Target="../media/image42.png"/><Relationship Id="rId12" Type="http://schemas.openxmlformats.org/officeDocument/2006/relationships/image" Target="../media/image46.jpeg"/><Relationship Id="rId17" Type="http://schemas.openxmlformats.org/officeDocument/2006/relationships/image" Target="../media/image51.png"/><Relationship Id="rId25" Type="http://schemas.openxmlformats.org/officeDocument/2006/relationships/diagramColors" Target="../diagrams/colors10.xml"/><Relationship Id="rId33" Type="http://schemas.openxmlformats.org/officeDocument/2006/relationships/image" Target="../media/image56.jpeg"/><Relationship Id="rId38" Type="http://schemas.microsoft.com/office/2007/relationships/diagramDrawing" Target="../diagrams/drawing12.xml"/><Relationship Id="rId46" Type="http://schemas.openxmlformats.org/officeDocument/2006/relationships/diagramColors" Target="../diagrams/colors13.xml"/><Relationship Id="rId20" Type="http://schemas.openxmlformats.org/officeDocument/2006/relationships/image" Target="../media/image53.jpeg"/><Relationship Id="rId41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CE07F21-4916-284E-57F8-7558D7462A36}"/>
              </a:ext>
            </a:extLst>
          </p:cNvPr>
          <p:cNvSpPr txBox="1"/>
          <p:nvPr/>
        </p:nvSpPr>
        <p:spPr>
          <a:xfrm>
            <a:off x="2224522" y="432884"/>
            <a:ext cx="7929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>
                <a:solidFill>
                  <a:srgbClr val="383838"/>
                </a:solidFill>
                <a:effectLst/>
                <a:highlight>
                  <a:srgbClr val="FFFFFF"/>
                </a:highlight>
                <a:latin typeface="Inter"/>
              </a:rPr>
              <a:t>The Quest: Impact Innovators Challenge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3DB1A-1BF6-9DD7-13A4-C9CFEEAE8C70}"/>
              </a:ext>
            </a:extLst>
          </p:cNvPr>
          <p:cNvSpPr txBox="1"/>
          <p:nvPr/>
        </p:nvSpPr>
        <p:spPr>
          <a:xfrm>
            <a:off x="532264" y="2856372"/>
            <a:ext cx="3840692" cy="3791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4A2043-BC2A-949A-D53A-E34B622767CC}"/>
              </a:ext>
            </a:extLst>
          </p:cNvPr>
          <p:cNvSpPr txBox="1"/>
          <p:nvPr/>
        </p:nvSpPr>
        <p:spPr>
          <a:xfrm>
            <a:off x="4151730" y="2141318"/>
            <a:ext cx="38885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</a:t>
            </a:r>
            <a:r>
              <a:rPr lang="en-US" sz="2200" b="1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The Philosopher’s Stone</a:t>
            </a:r>
            <a:endParaRPr lang="en-IN" sz="2200" b="1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5" name="Picture 14" descr="A logo with a blue yellow and green circle&#10;&#10;Description automatically generated">
            <a:extLst>
              <a:ext uri="{FF2B5EF4-FFF2-40B4-BE49-F238E27FC236}">
                <a16:creationId xmlns:a16="http://schemas.microsoft.com/office/drawing/2014/main" id="{B2754088-DE78-8653-A4E4-715EA2F6A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15" y="55280"/>
            <a:ext cx="876511" cy="12056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EC88E3-1FCA-999E-FAD9-30E805F081D8}"/>
              </a:ext>
            </a:extLst>
          </p:cNvPr>
          <p:cNvSpPr txBox="1"/>
          <p:nvPr/>
        </p:nvSpPr>
        <p:spPr>
          <a:xfrm>
            <a:off x="1617625" y="2947284"/>
            <a:ext cx="200145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Members </a:t>
            </a:r>
            <a:endParaRPr lang="en-IN" b="1"/>
          </a:p>
        </p:txBody>
      </p:sp>
      <p:pic>
        <p:nvPicPr>
          <p:cNvPr id="17" name="Picture 16" descr="A cartoon of a child wearing glasses&#10;&#10;Description automatically generated">
            <a:extLst>
              <a:ext uri="{FF2B5EF4-FFF2-40B4-BE49-F238E27FC236}">
                <a16:creationId xmlns:a16="http://schemas.microsoft.com/office/drawing/2014/main" id="{DCB3179D-B7F8-C0F6-1BA7-5B29E216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26" y="5251846"/>
            <a:ext cx="1086504" cy="1086504"/>
          </a:xfrm>
          <a:prstGeom prst="rect">
            <a:avLst/>
          </a:prstGeom>
        </p:spPr>
      </p:pic>
      <p:pic>
        <p:nvPicPr>
          <p:cNvPr id="18" name="Picture 17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B729B846-E0EB-92B9-A88A-A20B496DB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116" y="3368745"/>
            <a:ext cx="1166332" cy="1166332"/>
          </a:xfrm>
          <a:prstGeom prst="rect">
            <a:avLst/>
          </a:prstGeom>
        </p:spPr>
      </p:pic>
      <p:pic>
        <p:nvPicPr>
          <p:cNvPr id="1030" name="Picture 6" descr="Boy Special Lineal color icon">
            <a:extLst>
              <a:ext uri="{FF2B5EF4-FFF2-40B4-BE49-F238E27FC236}">
                <a16:creationId xmlns:a16="http://schemas.microsoft.com/office/drawing/2014/main" id="{9086D8FE-A243-85EE-4397-4200D506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63" y="3430238"/>
            <a:ext cx="1062164" cy="106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C933A1-DCC8-0832-0C5D-8F61CEE51327}"/>
              </a:ext>
            </a:extLst>
          </p:cNvPr>
          <p:cNvSpPr txBox="1"/>
          <p:nvPr/>
        </p:nvSpPr>
        <p:spPr>
          <a:xfrm>
            <a:off x="744667" y="6290270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Mayank Sharma</a:t>
            </a:r>
            <a:endParaRPr lang="en-IN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E54E8-6D47-C91A-64BC-0657BF9FF045}"/>
              </a:ext>
            </a:extLst>
          </p:cNvPr>
          <p:cNvSpPr txBox="1"/>
          <p:nvPr/>
        </p:nvSpPr>
        <p:spPr>
          <a:xfrm>
            <a:off x="988596" y="4518915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Achal Mittal</a:t>
            </a:r>
            <a:endParaRPr lang="en-IN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3C99-EFAA-6C15-1F8E-3524DA0F6BF9}"/>
              </a:ext>
            </a:extLst>
          </p:cNvPr>
          <p:cNvSpPr txBox="1"/>
          <p:nvPr/>
        </p:nvSpPr>
        <p:spPr>
          <a:xfrm>
            <a:off x="2743200" y="6306431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Pari Goyal</a:t>
            </a:r>
            <a:endParaRPr lang="en-IN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154375-2F06-431F-8CC2-014FF18826F4}"/>
              </a:ext>
            </a:extLst>
          </p:cNvPr>
          <p:cNvSpPr txBox="1"/>
          <p:nvPr/>
        </p:nvSpPr>
        <p:spPr>
          <a:xfrm>
            <a:off x="256353" y="1581537"/>
            <a:ext cx="1143684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Transforming Agricultural Waste: Connecting Farmers with Alcohol Industry for Sustainable Solutions</a:t>
            </a:r>
            <a:endParaRPr lang="en-IN" sz="2000" b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D1242A-E799-2624-FB49-4C6D3521BCD1}"/>
              </a:ext>
            </a:extLst>
          </p:cNvPr>
          <p:cNvSpPr txBox="1"/>
          <p:nvPr/>
        </p:nvSpPr>
        <p:spPr>
          <a:xfrm>
            <a:off x="2618352" y="4518915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Divyansh Jindal</a:t>
            </a:r>
            <a:endParaRPr lang="en-IN" b="1"/>
          </a:p>
        </p:txBody>
      </p:sp>
      <p:pic>
        <p:nvPicPr>
          <p:cNvPr id="5" name="Picture 6" descr="Woman holding something Vectors &amp; Illustrations for Free Download | Freepik">
            <a:extLst>
              <a:ext uri="{FF2B5EF4-FFF2-40B4-BE49-F238E27FC236}">
                <a16:creationId xmlns:a16="http://schemas.microsoft.com/office/drawing/2014/main" id="{8DE6060C-05CE-C7AC-7C15-F8A22FDFB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2" b="28274"/>
          <a:stretch/>
        </p:blipFill>
        <p:spPr bwMode="auto">
          <a:xfrm>
            <a:off x="2811375" y="5203376"/>
            <a:ext cx="905092" cy="108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aste Management for Agriculture: Why It Matters">
            <a:extLst>
              <a:ext uri="{FF2B5EF4-FFF2-40B4-BE49-F238E27FC236}">
                <a16:creationId xmlns:a16="http://schemas.microsoft.com/office/drawing/2014/main" id="{E43B9250-FCCE-5BE2-5878-84076FFE8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745" y="2901004"/>
            <a:ext cx="6688136" cy="37650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76" name="Picture 4" descr="The Quest: Impact Innovators Challenge 2024 / competitions">
            <a:extLst>
              <a:ext uri="{FF2B5EF4-FFF2-40B4-BE49-F238E27FC236}">
                <a16:creationId xmlns:a16="http://schemas.microsoft.com/office/drawing/2014/main" id="{9D77C992-6233-7117-CB34-896882934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193" y="55280"/>
            <a:ext cx="1205610" cy="12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07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271162" y="26642"/>
            <a:ext cx="380669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solidFill>
                  <a:schemeClr val="tx2"/>
                </a:solidFill>
              </a:rPr>
              <a:t>Market Overview</a:t>
            </a:r>
            <a:endParaRPr sz="2800" b="1" spc="-10">
              <a:solidFill>
                <a:schemeClr val="tx2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149979"/>
            <a:ext cx="4758262" cy="22776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824985" y="785622"/>
            <a:ext cx="1730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b="1" i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2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074402" y="770890"/>
            <a:ext cx="1772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RISKS</a:t>
            </a:r>
            <a:r>
              <a:rPr sz="1600" b="1" i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b="1" i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1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0" y="1313675"/>
            <a:ext cx="12198350" cy="717550"/>
            <a:chOff x="0" y="1313675"/>
            <a:chExt cx="12198350" cy="717550"/>
          </a:xfrm>
        </p:grpSpPr>
        <p:sp>
          <p:nvSpPr>
            <p:cNvPr id="62" name="object 62"/>
            <p:cNvSpPr/>
            <p:nvPr/>
          </p:nvSpPr>
          <p:spPr>
            <a:xfrm>
              <a:off x="22859" y="1341120"/>
              <a:ext cx="12169140" cy="22860"/>
            </a:xfrm>
            <a:custGeom>
              <a:avLst/>
              <a:gdLst/>
              <a:ahLst/>
              <a:cxnLst/>
              <a:rect l="l" t="t" r="r" b="b"/>
              <a:pathLst>
                <a:path w="12169140" h="22859">
                  <a:moveTo>
                    <a:pt x="0" y="0"/>
                  </a:moveTo>
                  <a:lnTo>
                    <a:pt x="12169140" y="22577"/>
                  </a:lnTo>
                </a:path>
              </a:pathLst>
            </a:custGeom>
            <a:ln w="1270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13675"/>
              <a:ext cx="2425446" cy="717054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253936" y="1479306"/>
            <a:ext cx="200715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>
                <a:solidFill>
                  <a:srgbClr val="FFFFFF"/>
                </a:solidFill>
                <a:latin typeface="Calibri"/>
                <a:cs typeface="Calibri"/>
              </a:rPr>
              <a:t>Key Facts Pertaining to the</a:t>
            </a:r>
            <a:endParaRPr sz="12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lang="en-US" sz="1200" b="1" spc="-10">
                <a:solidFill>
                  <a:srgbClr val="FFFFFF"/>
                </a:solidFill>
                <a:latin typeface="Calibri"/>
                <a:cs typeface="Calibri"/>
              </a:rPr>
              <a:t>Crop Failure Market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1438" y="2033778"/>
            <a:ext cx="2113806" cy="21287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b="1" i="1">
                <a:solidFill>
                  <a:srgbClr val="767070"/>
                </a:solidFill>
                <a:latin typeface="Calibri"/>
                <a:cs typeface="Calibri"/>
              </a:rPr>
              <a:t>Sources</a:t>
            </a:r>
            <a:r>
              <a:rPr sz="1200" i="1">
                <a:solidFill>
                  <a:srgbClr val="767070"/>
                </a:solidFill>
                <a:latin typeface="Calibri"/>
                <a:cs typeface="Calibri"/>
              </a:rPr>
              <a:t>:</a:t>
            </a:r>
            <a:r>
              <a:rPr sz="1200" i="1" spc="-10">
                <a:solidFill>
                  <a:srgbClr val="767070"/>
                </a:solidFill>
                <a:latin typeface="Calibri"/>
                <a:cs typeface="Calibri"/>
              </a:rPr>
              <a:t> </a:t>
            </a:r>
            <a:r>
              <a:rPr lang="en-IN" sz="1000" i="1" spc="-10">
                <a:solidFill>
                  <a:schemeClr val="bg2">
                    <a:lumMod val="10000"/>
                  </a:schemeClr>
                </a:solidFill>
                <a:latin typeface="+mn-lt"/>
              </a:rPr>
              <a:t>PIB,  ICAR , UNEP, Statista</a:t>
            </a:r>
            <a:endParaRPr lang="en-US" sz="1000" i="1" spc="-10">
              <a:solidFill>
                <a:schemeClr val="bg2">
                  <a:lumMod val="10000"/>
                </a:schemeClr>
              </a:solidFill>
              <a:latin typeface="+mn-lt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79099" y="1403736"/>
            <a:ext cx="1935971" cy="866263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700" b="1" spc="-10">
                <a:solidFill>
                  <a:srgbClr val="006BAA"/>
                </a:solidFill>
                <a:latin typeface="Calibri"/>
                <a:cs typeface="Calibri"/>
              </a:rPr>
              <a:t>197.81 lakh Tons</a:t>
            </a:r>
          </a:p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300">
                <a:solidFill>
                  <a:srgbClr val="3A3838"/>
                </a:solidFill>
                <a:latin typeface="Calibri"/>
                <a:cs typeface="Calibri"/>
              </a:rPr>
              <a:t>Grains wasted in the FY 2022-23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-8762" y="2336673"/>
            <a:ext cx="12210415" cy="4525010"/>
            <a:chOff x="-8762" y="2336673"/>
            <a:chExt cx="12210415" cy="4525010"/>
          </a:xfrm>
        </p:grpSpPr>
        <p:sp>
          <p:nvSpPr>
            <p:cNvPr id="76" name="object 76"/>
            <p:cNvSpPr/>
            <p:nvPr/>
          </p:nvSpPr>
          <p:spPr>
            <a:xfrm>
              <a:off x="762" y="2346198"/>
              <a:ext cx="12191365" cy="22860"/>
            </a:xfrm>
            <a:custGeom>
              <a:avLst/>
              <a:gdLst/>
              <a:ahLst/>
              <a:cxnLst/>
              <a:rect l="l" t="t" r="r" b="b"/>
              <a:pathLst>
                <a:path w="12191365" h="22860">
                  <a:moveTo>
                    <a:pt x="0" y="0"/>
                  </a:moveTo>
                  <a:lnTo>
                    <a:pt x="12191238" y="22618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62171" y="2345436"/>
              <a:ext cx="13970" cy="4512945"/>
            </a:xfrm>
            <a:custGeom>
              <a:avLst/>
              <a:gdLst/>
              <a:ahLst/>
              <a:cxnLst/>
              <a:rect l="l" t="t" r="r" b="b"/>
              <a:pathLst>
                <a:path w="13970" h="4512945">
                  <a:moveTo>
                    <a:pt x="0" y="0"/>
                  </a:moveTo>
                  <a:lnTo>
                    <a:pt x="13913" y="4512562"/>
                  </a:lnTo>
                </a:path>
              </a:pathLst>
            </a:custGeom>
            <a:ln w="6350">
              <a:solidFill>
                <a:srgbClr val="006BAA"/>
              </a:solidFill>
              <a:prstDash val="sys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926269" y="2495257"/>
            <a:ext cx="2277766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Farmers Pain Points</a:t>
            </a:r>
            <a:endParaRPr lang="en-US" sz="140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605C39-A254-7CAD-70DB-D25A5AE9C6B9}"/>
              </a:ext>
            </a:extLst>
          </p:cNvPr>
          <p:cNvGrpSpPr/>
          <p:nvPr/>
        </p:nvGrpSpPr>
        <p:grpSpPr>
          <a:xfrm>
            <a:off x="102107" y="2465832"/>
            <a:ext cx="306705" cy="306705"/>
            <a:chOff x="102107" y="2465832"/>
            <a:chExt cx="306705" cy="306705"/>
          </a:xfrm>
        </p:grpSpPr>
        <p:grpSp>
          <p:nvGrpSpPr>
            <p:cNvPr id="83" name="object 83"/>
            <p:cNvGrpSpPr/>
            <p:nvPr/>
          </p:nvGrpSpPr>
          <p:grpSpPr>
            <a:xfrm>
              <a:off x="102107" y="2465832"/>
              <a:ext cx="306705" cy="306705"/>
              <a:chOff x="102107" y="2465832"/>
              <a:chExt cx="306705" cy="306705"/>
            </a:xfrm>
          </p:grpSpPr>
          <p:sp>
            <p:nvSpPr>
              <p:cNvPr id="84" name="object 84"/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153162" y="0"/>
                    </a:moveTo>
                    <a:lnTo>
                      <a:pt x="104748" y="7808"/>
                    </a:lnTo>
                    <a:lnTo>
                      <a:pt x="62704" y="29553"/>
                    </a:lnTo>
                    <a:lnTo>
                      <a:pt x="29549" y="62709"/>
                    </a:lnTo>
                    <a:lnTo>
                      <a:pt x="7807" y="104753"/>
                    </a:lnTo>
                    <a:lnTo>
                      <a:pt x="0" y="153162"/>
                    </a:lnTo>
                    <a:lnTo>
                      <a:pt x="7807" y="201570"/>
                    </a:lnTo>
                    <a:lnTo>
                      <a:pt x="29549" y="243614"/>
                    </a:lnTo>
                    <a:lnTo>
                      <a:pt x="62704" y="276770"/>
                    </a:lnTo>
                    <a:lnTo>
                      <a:pt x="104748" y="298515"/>
                    </a:lnTo>
                    <a:lnTo>
                      <a:pt x="153162" y="306323"/>
                    </a:lnTo>
                    <a:lnTo>
                      <a:pt x="201575" y="298515"/>
                    </a:lnTo>
                    <a:lnTo>
                      <a:pt x="243619" y="276770"/>
                    </a:lnTo>
                    <a:lnTo>
                      <a:pt x="276774" y="243614"/>
                    </a:lnTo>
                    <a:lnTo>
                      <a:pt x="298516" y="201570"/>
                    </a:lnTo>
                    <a:lnTo>
                      <a:pt x="306323" y="153162"/>
                    </a:lnTo>
                    <a:lnTo>
                      <a:pt x="298516" y="104753"/>
                    </a:lnTo>
                    <a:lnTo>
                      <a:pt x="276774" y="62709"/>
                    </a:lnTo>
                    <a:lnTo>
                      <a:pt x="243619" y="29553"/>
                    </a:lnTo>
                    <a:lnTo>
                      <a:pt x="201575" y="7808"/>
                    </a:lnTo>
                    <a:lnTo>
                      <a:pt x="153162" y="0"/>
                    </a:lnTo>
                    <a:close/>
                  </a:path>
                </a:pathLst>
              </a:custGeom>
              <a:solidFill>
                <a:srgbClr val="1F4E7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0" y="153162"/>
                    </a:moveTo>
                    <a:lnTo>
                      <a:pt x="7807" y="104753"/>
                    </a:lnTo>
                    <a:lnTo>
                      <a:pt x="29549" y="62709"/>
                    </a:lnTo>
                    <a:lnTo>
                      <a:pt x="62704" y="29553"/>
                    </a:lnTo>
                    <a:lnTo>
                      <a:pt x="104748" y="7808"/>
                    </a:lnTo>
                    <a:lnTo>
                      <a:pt x="153162" y="0"/>
                    </a:lnTo>
                    <a:lnTo>
                      <a:pt x="201575" y="7808"/>
                    </a:lnTo>
                    <a:lnTo>
                      <a:pt x="243619" y="29553"/>
                    </a:lnTo>
                    <a:lnTo>
                      <a:pt x="276774" y="62709"/>
                    </a:lnTo>
                    <a:lnTo>
                      <a:pt x="298516" y="104753"/>
                    </a:lnTo>
                    <a:lnTo>
                      <a:pt x="306323" y="153162"/>
                    </a:lnTo>
                    <a:lnTo>
                      <a:pt x="298516" y="201570"/>
                    </a:lnTo>
                    <a:lnTo>
                      <a:pt x="276774" y="243614"/>
                    </a:lnTo>
                    <a:lnTo>
                      <a:pt x="243619" y="276770"/>
                    </a:lnTo>
                    <a:lnTo>
                      <a:pt x="201575" y="298515"/>
                    </a:lnTo>
                    <a:lnTo>
                      <a:pt x="153162" y="306323"/>
                    </a:lnTo>
                    <a:lnTo>
                      <a:pt x="104748" y="298515"/>
                    </a:lnTo>
                    <a:lnTo>
                      <a:pt x="62704" y="276770"/>
                    </a:lnTo>
                    <a:lnTo>
                      <a:pt x="29549" y="243614"/>
                    </a:lnTo>
                    <a:lnTo>
                      <a:pt x="7807" y="201570"/>
                    </a:lnTo>
                    <a:lnTo>
                      <a:pt x="0" y="153162"/>
                    </a:lnTo>
                    <a:close/>
                  </a:path>
                </a:pathLst>
              </a:custGeom>
              <a:ln w="12700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6" name="object 86"/>
            <p:cNvSpPr txBox="1"/>
            <p:nvPr/>
          </p:nvSpPr>
          <p:spPr>
            <a:xfrm>
              <a:off x="197612" y="2487930"/>
              <a:ext cx="116205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b="1" spc="-50">
                  <a:solidFill>
                    <a:srgbClr val="FFFFFF"/>
                  </a:solidFill>
                  <a:latin typeface="Calibri"/>
                  <a:cs typeface="Calibri"/>
                </a:rPr>
                <a:t>1</a:t>
              </a:r>
              <a:endParaRPr sz="1400">
                <a:latin typeface="Calibri"/>
                <a:cs typeface="Calibri"/>
              </a:endParaRPr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910234" y="4632197"/>
            <a:ext cx="257997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Insights</a:t>
            </a:r>
            <a:r>
              <a:rPr sz="1400" b="1" spc="-5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4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from</a:t>
            </a:r>
            <a:r>
              <a:rPr sz="1400" b="1" spc="-6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lang="en-US" sz="1400" b="1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Secondary</a:t>
            </a:r>
            <a:r>
              <a:rPr sz="1400" b="1" spc="-4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Research</a:t>
            </a:r>
            <a:endParaRPr sz="140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94234" y="4579365"/>
            <a:ext cx="319405" cy="319405"/>
            <a:chOff x="94234" y="4579365"/>
            <a:chExt cx="319405" cy="319405"/>
          </a:xfrm>
        </p:grpSpPr>
        <p:sp>
          <p:nvSpPr>
            <p:cNvPr id="91" name="object 91"/>
            <p:cNvSpPr/>
            <p:nvPr/>
          </p:nvSpPr>
          <p:spPr>
            <a:xfrm>
              <a:off x="100584" y="4585715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4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1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1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0584" y="4585715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4">
                  <a:moveTo>
                    <a:pt x="0" y="153161"/>
                  </a:moveTo>
                  <a:lnTo>
                    <a:pt x="7807" y="104753"/>
                  </a:lnTo>
                  <a:lnTo>
                    <a:pt x="29549" y="62709"/>
                  </a:lnTo>
                  <a:lnTo>
                    <a:pt x="62704" y="29553"/>
                  </a:lnTo>
                  <a:lnTo>
                    <a:pt x="104748" y="7808"/>
                  </a:lnTo>
                  <a:lnTo>
                    <a:pt x="153162" y="0"/>
                  </a:lnTo>
                  <a:lnTo>
                    <a:pt x="201575" y="7808"/>
                  </a:lnTo>
                  <a:lnTo>
                    <a:pt x="243619" y="29553"/>
                  </a:lnTo>
                  <a:lnTo>
                    <a:pt x="276774" y="62709"/>
                  </a:lnTo>
                  <a:lnTo>
                    <a:pt x="298516" y="104753"/>
                  </a:lnTo>
                  <a:lnTo>
                    <a:pt x="306323" y="153161"/>
                  </a:lnTo>
                  <a:lnTo>
                    <a:pt x="298516" y="201570"/>
                  </a:lnTo>
                  <a:lnTo>
                    <a:pt x="276774" y="243614"/>
                  </a:lnTo>
                  <a:lnTo>
                    <a:pt x="243619" y="276770"/>
                  </a:lnTo>
                  <a:lnTo>
                    <a:pt x="201575" y="298515"/>
                  </a:lnTo>
                  <a:lnTo>
                    <a:pt x="153162" y="306323"/>
                  </a:lnTo>
                  <a:lnTo>
                    <a:pt x="104748" y="298515"/>
                  </a:lnTo>
                  <a:lnTo>
                    <a:pt x="62704" y="276770"/>
                  </a:lnTo>
                  <a:lnTo>
                    <a:pt x="29549" y="243614"/>
                  </a:lnTo>
                  <a:lnTo>
                    <a:pt x="7807" y="201570"/>
                  </a:lnTo>
                  <a:lnTo>
                    <a:pt x="0" y="153161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96392" y="4608067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4" name="object 9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942" y="4614742"/>
            <a:ext cx="292467" cy="292467"/>
          </a:xfrm>
          <a:prstGeom prst="rect">
            <a:avLst/>
          </a:prstGeom>
        </p:spPr>
      </p:pic>
      <p:sp>
        <p:nvSpPr>
          <p:cNvPr id="95" name="object 95"/>
          <p:cNvSpPr txBox="1"/>
          <p:nvPr/>
        </p:nvSpPr>
        <p:spPr>
          <a:xfrm>
            <a:off x="187248" y="5033213"/>
            <a:ext cx="352499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 b="1">
                <a:solidFill>
                  <a:srgbClr val="1F4E79"/>
                </a:solidFill>
                <a:latin typeface="Calibri"/>
                <a:cs typeface="Calibri"/>
              </a:rPr>
              <a:t>Government schemes </a:t>
            </a:r>
            <a:r>
              <a:rPr lang="en-US" sz="1400">
                <a:solidFill>
                  <a:schemeClr val="tx1"/>
                </a:solidFill>
                <a:latin typeface="Calibri"/>
                <a:cs typeface="Calibri"/>
              </a:rPr>
              <a:t>exist to mitigate crop failures, including subsidies and insurance</a:t>
            </a:r>
            <a:endParaRPr sz="14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87246" y="5518527"/>
            <a:ext cx="343882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5080" indent="-1714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lang="en-US" sz="1400" b="1">
                <a:solidFill>
                  <a:srgbClr val="1F4E79"/>
                </a:solidFill>
                <a:latin typeface="Calibri"/>
                <a:cs typeface="Calibri"/>
              </a:rPr>
              <a:t>Climate events </a:t>
            </a:r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like </a:t>
            </a:r>
            <a:r>
              <a:rPr lang="en-US" sz="1400" b="1">
                <a:solidFill>
                  <a:schemeClr val="tx2"/>
                </a:solidFill>
                <a:latin typeface="Calibri"/>
                <a:cs typeface="Calibri"/>
              </a:rPr>
              <a:t>droughts and floods </a:t>
            </a:r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are increasing, leading to higher crop failures</a:t>
            </a:r>
            <a:endParaRPr sz="1400">
              <a:solidFill>
                <a:schemeClr val="tx2">
                  <a:lumMod val="5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87247" y="5982118"/>
            <a:ext cx="34888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>
                <a:solidFill>
                  <a:schemeClr val="tx1"/>
                </a:solidFill>
                <a:latin typeface="Calibri"/>
                <a:cs typeface="Calibri"/>
              </a:rPr>
              <a:t>Spoiled grains are often used as </a:t>
            </a:r>
            <a:r>
              <a:rPr lang="en-US" sz="1400" b="1">
                <a:solidFill>
                  <a:srgbClr val="1F4E79"/>
                </a:solidFill>
                <a:latin typeface="Calibri"/>
                <a:cs typeface="Calibri"/>
              </a:rPr>
              <a:t>low-value animal feed</a:t>
            </a:r>
            <a:r>
              <a:rPr lang="en-US" sz="1400">
                <a:solidFill>
                  <a:schemeClr val="tx1"/>
                </a:solidFill>
                <a:latin typeface="Calibri"/>
                <a:cs typeface="Calibri"/>
              </a:rPr>
              <a:t>, generating minimal income</a:t>
            </a:r>
            <a:endParaRPr sz="14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87248" y="6527089"/>
            <a:ext cx="275526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>
                <a:solidFill>
                  <a:schemeClr val="tx1"/>
                </a:solidFill>
                <a:latin typeface="Calibri"/>
                <a:cs typeface="Calibri"/>
              </a:rPr>
              <a:t>Significant</a:t>
            </a:r>
            <a:r>
              <a:rPr lang="en-US" sz="1400" b="1">
                <a:solidFill>
                  <a:srgbClr val="1F4E79"/>
                </a:solidFill>
                <a:latin typeface="Calibri"/>
                <a:cs typeface="Calibri"/>
              </a:rPr>
              <a:t> annual financial losses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3841750" y="2438145"/>
            <a:ext cx="320675" cy="319405"/>
            <a:chOff x="3841750" y="2438145"/>
            <a:chExt cx="320675" cy="319405"/>
          </a:xfrm>
        </p:grpSpPr>
        <p:sp>
          <p:nvSpPr>
            <p:cNvPr id="101" name="object 101"/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4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4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8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0" y="153162"/>
                  </a:moveTo>
                  <a:lnTo>
                    <a:pt x="7851" y="104753"/>
                  </a:lnTo>
                  <a:lnTo>
                    <a:pt x="29711" y="62709"/>
                  </a:lnTo>
                  <a:lnTo>
                    <a:pt x="63038" y="29553"/>
                  </a:lnTo>
                  <a:lnTo>
                    <a:pt x="105290" y="7808"/>
                  </a:lnTo>
                  <a:lnTo>
                    <a:pt x="153924" y="0"/>
                  </a:lnTo>
                  <a:lnTo>
                    <a:pt x="202557" y="7808"/>
                  </a:lnTo>
                  <a:lnTo>
                    <a:pt x="244809" y="29553"/>
                  </a:lnTo>
                  <a:lnTo>
                    <a:pt x="278136" y="62709"/>
                  </a:lnTo>
                  <a:lnTo>
                    <a:pt x="299996" y="104753"/>
                  </a:lnTo>
                  <a:lnTo>
                    <a:pt x="307848" y="153162"/>
                  </a:lnTo>
                  <a:lnTo>
                    <a:pt x="299996" y="201570"/>
                  </a:lnTo>
                  <a:lnTo>
                    <a:pt x="278136" y="243614"/>
                  </a:lnTo>
                  <a:lnTo>
                    <a:pt x="244809" y="276770"/>
                  </a:lnTo>
                  <a:lnTo>
                    <a:pt x="202557" y="298515"/>
                  </a:lnTo>
                  <a:lnTo>
                    <a:pt x="153924" y="306324"/>
                  </a:lnTo>
                  <a:lnTo>
                    <a:pt x="105290" y="298515"/>
                  </a:lnTo>
                  <a:lnTo>
                    <a:pt x="63038" y="276770"/>
                  </a:lnTo>
                  <a:lnTo>
                    <a:pt x="29711" y="243614"/>
                  </a:lnTo>
                  <a:lnTo>
                    <a:pt x="7851" y="201570"/>
                  </a:lnTo>
                  <a:lnTo>
                    <a:pt x="0" y="15316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3944492" y="2467101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641592" y="2779776"/>
            <a:ext cx="1188720" cy="2654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315"/>
              </a:spcBef>
            </a:pPr>
            <a:r>
              <a:rPr sz="1100" b="1">
                <a:solidFill>
                  <a:srgbClr val="FFFFFF"/>
                </a:solidFill>
                <a:latin typeface="Calibri"/>
                <a:cs typeface="Calibri"/>
              </a:rPr>
              <a:t>Target</a:t>
            </a:r>
            <a:r>
              <a:rPr sz="11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Segment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8097011" y="2781300"/>
            <a:ext cx="822960" cy="2654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320"/>
              </a:spcBef>
            </a:pPr>
            <a:r>
              <a:rPr sz="1100" b="1" spc="-1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7394325" y="2385448"/>
            <a:ext cx="13970" cy="4490085"/>
          </a:xfrm>
          <a:custGeom>
            <a:avLst/>
            <a:gdLst/>
            <a:ahLst/>
            <a:cxnLst/>
            <a:rect l="l" t="t" r="r" b="b"/>
            <a:pathLst>
              <a:path w="13970" h="4490084">
                <a:moveTo>
                  <a:pt x="0" y="0"/>
                </a:moveTo>
                <a:lnTo>
                  <a:pt x="13843" y="4489701"/>
                </a:lnTo>
              </a:path>
            </a:pathLst>
          </a:custGeom>
          <a:ln w="6350">
            <a:solidFill>
              <a:srgbClr val="006BAA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9435210" y="2487930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D99A819-4721-9506-3DCA-7FC6AEEDCA96}"/>
              </a:ext>
            </a:extLst>
          </p:cNvPr>
          <p:cNvSpPr txBox="1"/>
          <p:nvPr/>
        </p:nvSpPr>
        <p:spPr>
          <a:xfrm>
            <a:off x="45720" y="480438"/>
            <a:ext cx="12100560" cy="769441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Statement</a:t>
            </a:r>
          </a:p>
          <a:p>
            <a:pPr algn="just"/>
            <a:r>
              <a:rPr lang="en-US" sz="1300" b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Indian farmers </a:t>
            </a:r>
            <a:r>
              <a:rPr lang="en-US" sz="1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struggle to sell spoiled grains, worsened by climate change, while </a:t>
            </a:r>
            <a:r>
              <a:rPr lang="en-US" sz="1300" b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distilleries and biofuel businesses </a:t>
            </a:r>
            <a:r>
              <a:rPr lang="en-US" sz="13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 raw material shortages. An online platform connecting farmers with these industries can provide a new sales channel and streamline raw material sourcing.</a:t>
            </a:r>
          </a:p>
        </p:txBody>
      </p:sp>
      <p:sp>
        <p:nvSpPr>
          <p:cNvPr id="160" name="object 24">
            <a:extLst>
              <a:ext uri="{FF2B5EF4-FFF2-40B4-BE49-F238E27FC236}">
                <a16:creationId xmlns:a16="http://schemas.microsoft.com/office/drawing/2014/main" id="{36A8FB52-3FB2-A14B-9AA3-4CBF7EE5F5FE}"/>
              </a:ext>
            </a:extLst>
          </p:cNvPr>
          <p:cNvSpPr/>
          <p:nvPr/>
        </p:nvSpPr>
        <p:spPr>
          <a:xfrm>
            <a:off x="7557972" y="143278"/>
            <a:ext cx="4758262" cy="22776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66">
            <a:extLst>
              <a:ext uri="{FF2B5EF4-FFF2-40B4-BE49-F238E27FC236}">
                <a16:creationId xmlns:a16="http://schemas.microsoft.com/office/drawing/2014/main" id="{0A943534-32D1-A3A4-D816-1794665AD355}"/>
              </a:ext>
            </a:extLst>
          </p:cNvPr>
          <p:cNvSpPr txBox="1"/>
          <p:nvPr/>
        </p:nvSpPr>
        <p:spPr>
          <a:xfrm>
            <a:off x="4329339" y="1394663"/>
            <a:ext cx="2062567" cy="866263"/>
          </a:xfrm>
          <a:prstGeom prst="rect">
            <a:avLst/>
          </a:prstGeom>
        </p:spPr>
        <p:txBody>
          <a:bodyPr vert="horz" wrap="square" lIns="0" tIns="83185" rIns="0" bIns="0" rtlCol="0" anchor="t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700" b="1" spc="-10">
                <a:solidFill>
                  <a:srgbClr val="006BAA"/>
                </a:solidFill>
                <a:latin typeface="Calibri"/>
                <a:cs typeface="Calibri"/>
              </a:rPr>
              <a:t>6%</a:t>
            </a:r>
          </a:p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300">
                <a:solidFill>
                  <a:srgbClr val="3A3838"/>
                </a:solidFill>
                <a:latin typeface="Calibri"/>
                <a:cs typeface="Calibri"/>
              </a:rPr>
              <a:t>Total crop yield that goes to waste (in FY 2021-22)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4" name="object 66">
            <a:extLst>
              <a:ext uri="{FF2B5EF4-FFF2-40B4-BE49-F238E27FC236}">
                <a16:creationId xmlns:a16="http://schemas.microsoft.com/office/drawing/2014/main" id="{AAAA429A-416E-1975-C073-A4568BCD1147}"/>
              </a:ext>
            </a:extLst>
          </p:cNvPr>
          <p:cNvSpPr txBox="1"/>
          <p:nvPr/>
        </p:nvSpPr>
        <p:spPr>
          <a:xfrm>
            <a:off x="6391906" y="1418246"/>
            <a:ext cx="3285493" cy="10355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700" b="1" spc="-10">
                <a:solidFill>
                  <a:srgbClr val="006BAA"/>
                </a:solidFill>
                <a:latin typeface="Calibri"/>
                <a:cs typeface="Calibri"/>
              </a:rPr>
              <a:t>300 Lakh Tons</a:t>
            </a:r>
          </a:p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300">
                <a:solidFill>
                  <a:srgbClr val="3A3838"/>
                </a:solidFill>
                <a:latin typeface="Calibri"/>
                <a:cs typeface="Calibri"/>
              </a:rPr>
              <a:t>Annual Demand for distilleries &amp; breweries(all beverages are food crop based)</a:t>
            </a:r>
            <a:br>
              <a:rPr lang="en-US" sz="1300">
                <a:solidFill>
                  <a:srgbClr val="3A3838"/>
                </a:solidFill>
                <a:latin typeface="Calibri"/>
                <a:cs typeface="Calibri"/>
              </a:rPr>
            </a:br>
            <a:r>
              <a:rPr lang="en-US" sz="1300">
                <a:solidFill>
                  <a:srgbClr val="3A3838"/>
                </a:solidFill>
                <a:latin typeface="Calibri"/>
                <a:cs typeface="Calibri"/>
              </a:rPr>
              <a:t> 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7" name="object 66">
            <a:extLst>
              <a:ext uri="{FF2B5EF4-FFF2-40B4-BE49-F238E27FC236}">
                <a16:creationId xmlns:a16="http://schemas.microsoft.com/office/drawing/2014/main" id="{2196073D-D8A6-582D-06EC-9A8D5A4B02FA}"/>
              </a:ext>
            </a:extLst>
          </p:cNvPr>
          <p:cNvSpPr txBox="1"/>
          <p:nvPr/>
        </p:nvSpPr>
        <p:spPr>
          <a:xfrm>
            <a:off x="9657149" y="1447226"/>
            <a:ext cx="2242821" cy="745717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1700" b="1" spc="-10">
                <a:solidFill>
                  <a:srgbClr val="006BAA"/>
                </a:solidFill>
                <a:latin typeface="Calibri"/>
                <a:cs typeface="Calibri"/>
              </a:rPr>
              <a:t>505 Crore Liters </a:t>
            </a:r>
            <a:br>
              <a:rPr lang="en-US" sz="1300">
                <a:solidFill>
                  <a:srgbClr val="3A3838"/>
                </a:solidFill>
                <a:latin typeface="Calibri"/>
                <a:cs typeface="Calibri"/>
              </a:rPr>
            </a:br>
            <a:r>
              <a:rPr lang="en-US" sz="1300">
                <a:solidFill>
                  <a:srgbClr val="3A3838"/>
                </a:solidFill>
                <a:latin typeface="Calibri"/>
                <a:cs typeface="Calibri"/>
              </a:rPr>
              <a:t>Annual Biofuel Production Capacity (Utilizing food grains  )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169" name="Graphic 168" descr="Farmer male with solid fill">
            <a:extLst>
              <a:ext uri="{FF2B5EF4-FFF2-40B4-BE49-F238E27FC236}">
                <a16:creationId xmlns:a16="http://schemas.microsoft.com/office/drawing/2014/main" id="{D7482EF9-6FEC-E565-F1AF-17896EC9DC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43171" y="2434779"/>
            <a:ext cx="413777" cy="413777"/>
          </a:xfrm>
          <a:prstGeom prst="rect">
            <a:avLst/>
          </a:prstGeom>
        </p:spPr>
      </p:pic>
      <p:sp>
        <p:nvSpPr>
          <p:cNvPr id="172" name="object 82">
            <a:extLst>
              <a:ext uri="{FF2B5EF4-FFF2-40B4-BE49-F238E27FC236}">
                <a16:creationId xmlns:a16="http://schemas.microsoft.com/office/drawing/2014/main" id="{E0ADEB2C-E820-25EC-3B69-234CD57F1B8F}"/>
              </a:ext>
            </a:extLst>
          </p:cNvPr>
          <p:cNvSpPr txBox="1"/>
          <p:nvPr/>
        </p:nvSpPr>
        <p:spPr>
          <a:xfrm>
            <a:off x="4395799" y="2466091"/>
            <a:ext cx="2277766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Spoiled Grain Utilization Ways</a:t>
            </a:r>
            <a:endParaRPr sz="140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80E8C6-CBBE-8437-93E8-C70BD330DD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l="14773" r="10669" b="9048"/>
          <a:stretch/>
        </p:blipFill>
        <p:spPr>
          <a:xfrm>
            <a:off x="3890501" y="2823431"/>
            <a:ext cx="3343566" cy="2231198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  <p:graphicFrame>
        <p:nvGraphicFramePr>
          <p:cNvPr id="176" name="Diagram 175">
            <a:extLst>
              <a:ext uri="{FF2B5EF4-FFF2-40B4-BE49-F238E27FC236}">
                <a16:creationId xmlns:a16="http://schemas.microsoft.com/office/drawing/2014/main" id="{E7F95AE5-0FBE-4D55-CC09-D39B9BABF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448852"/>
              </p:ext>
            </p:extLst>
          </p:nvPr>
        </p:nvGraphicFramePr>
        <p:xfrm>
          <a:off x="187248" y="2823225"/>
          <a:ext cx="3302964" cy="1679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177" name="object 100">
            <a:extLst>
              <a:ext uri="{FF2B5EF4-FFF2-40B4-BE49-F238E27FC236}">
                <a16:creationId xmlns:a16="http://schemas.microsoft.com/office/drawing/2014/main" id="{24FE0735-648F-68F5-B562-132940851292}"/>
              </a:ext>
            </a:extLst>
          </p:cNvPr>
          <p:cNvGrpSpPr/>
          <p:nvPr/>
        </p:nvGrpSpPr>
        <p:grpSpPr>
          <a:xfrm>
            <a:off x="7487441" y="2413569"/>
            <a:ext cx="320675" cy="319405"/>
            <a:chOff x="3841750" y="2438145"/>
            <a:chExt cx="320675" cy="319405"/>
          </a:xfrm>
        </p:grpSpPr>
        <p:sp>
          <p:nvSpPr>
            <p:cNvPr id="178" name="object 101">
              <a:extLst>
                <a:ext uri="{FF2B5EF4-FFF2-40B4-BE49-F238E27FC236}">
                  <a16:creationId xmlns:a16="http://schemas.microsoft.com/office/drawing/2014/main" id="{FB5B62E4-EA84-2A8D-1D09-637AB5F1CDC6}"/>
                </a:ext>
              </a:extLst>
            </p:cNvPr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4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4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8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02">
              <a:extLst>
                <a:ext uri="{FF2B5EF4-FFF2-40B4-BE49-F238E27FC236}">
                  <a16:creationId xmlns:a16="http://schemas.microsoft.com/office/drawing/2014/main" id="{C81FD909-6458-690C-F6B2-1AB7778072D3}"/>
                </a:ext>
              </a:extLst>
            </p:cNvPr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0" y="153162"/>
                  </a:moveTo>
                  <a:lnTo>
                    <a:pt x="7851" y="104753"/>
                  </a:lnTo>
                  <a:lnTo>
                    <a:pt x="29711" y="62709"/>
                  </a:lnTo>
                  <a:lnTo>
                    <a:pt x="63038" y="29553"/>
                  </a:lnTo>
                  <a:lnTo>
                    <a:pt x="105290" y="7808"/>
                  </a:lnTo>
                  <a:lnTo>
                    <a:pt x="153924" y="0"/>
                  </a:lnTo>
                  <a:lnTo>
                    <a:pt x="202557" y="7808"/>
                  </a:lnTo>
                  <a:lnTo>
                    <a:pt x="244809" y="29553"/>
                  </a:lnTo>
                  <a:lnTo>
                    <a:pt x="278136" y="62709"/>
                  </a:lnTo>
                  <a:lnTo>
                    <a:pt x="299996" y="104753"/>
                  </a:lnTo>
                  <a:lnTo>
                    <a:pt x="307848" y="153162"/>
                  </a:lnTo>
                  <a:lnTo>
                    <a:pt x="299996" y="201570"/>
                  </a:lnTo>
                  <a:lnTo>
                    <a:pt x="278136" y="243614"/>
                  </a:lnTo>
                  <a:lnTo>
                    <a:pt x="244809" y="276770"/>
                  </a:lnTo>
                  <a:lnTo>
                    <a:pt x="202557" y="298515"/>
                  </a:lnTo>
                  <a:lnTo>
                    <a:pt x="153924" y="306324"/>
                  </a:lnTo>
                  <a:lnTo>
                    <a:pt x="105290" y="298515"/>
                  </a:lnTo>
                  <a:lnTo>
                    <a:pt x="63038" y="276770"/>
                  </a:lnTo>
                  <a:lnTo>
                    <a:pt x="29711" y="243614"/>
                  </a:lnTo>
                  <a:lnTo>
                    <a:pt x="7851" y="201570"/>
                  </a:lnTo>
                  <a:lnTo>
                    <a:pt x="0" y="15316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03">
            <a:extLst>
              <a:ext uri="{FF2B5EF4-FFF2-40B4-BE49-F238E27FC236}">
                <a16:creationId xmlns:a16="http://schemas.microsoft.com/office/drawing/2014/main" id="{09BCABA2-A7DE-7A51-7E22-476C84967EE6}"/>
              </a:ext>
            </a:extLst>
          </p:cNvPr>
          <p:cNvSpPr txBox="1"/>
          <p:nvPr/>
        </p:nvSpPr>
        <p:spPr>
          <a:xfrm>
            <a:off x="7584990" y="2465006"/>
            <a:ext cx="116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90" name="Diagram 189">
            <a:extLst>
              <a:ext uri="{FF2B5EF4-FFF2-40B4-BE49-F238E27FC236}">
                <a16:creationId xmlns:a16="http://schemas.microsoft.com/office/drawing/2014/main" id="{D7951550-8011-A5FD-E4C4-48909F9D2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525480"/>
              </p:ext>
            </p:extLst>
          </p:nvPr>
        </p:nvGraphicFramePr>
        <p:xfrm>
          <a:off x="7679160" y="4971934"/>
          <a:ext cx="4319778" cy="177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83" name="TextBox 182">
            <a:extLst>
              <a:ext uri="{FF2B5EF4-FFF2-40B4-BE49-F238E27FC236}">
                <a16:creationId xmlns:a16="http://schemas.microsoft.com/office/drawing/2014/main" id="{A38FB8D9-C70C-DB14-4DB5-90F791059B68}"/>
              </a:ext>
            </a:extLst>
          </p:cNvPr>
          <p:cNvSpPr txBox="1"/>
          <p:nvPr/>
        </p:nvSpPr>
        <p:spPr>
          <a:xfrm>
            <a:off x="3813323" y="5197773"/>
            <a:ext cx="344382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/>
              <a:t>Monetary loss of </a:t>
            </a:r>
            <a:r>
              <a:rPr lang="en-US" b="1">
                <a:solidFill>
                  <a:srgbClr val="C00000"/>
                </a:solidFill>
              </a:rPr>
              <a:t>Rs 20,698 Cr </a:t>
            </a:r>
            <a:r>
              <a:rPr lang="en-US" sz="1400"/>
              <a:t>due to spoiled grain in FY 2021</a:t>
            </a:r>
          </a:p>
        </p:txBody>
      </p:sp>
      <p:sp>
        <p:nvSpPr>
          <p:cNvPr id="187" name="object 82">
            <a:extLst>
              <a:ext uri="{FF2B5EF4-FFF2-40B4-BE49-F238E27FC236}">
                <a16:creationId xmlns:a16="http://schemas.microsoft.com/office/drawing/2014/main" id="{DCCBA588-3D15-7307-0244-869F89F15529}"/>
              </a:ext>
            </a:extLst>
          </p:cNvPr>
          <p:cNvSpPr txBox="1"/>
          <p:nvPr/>
        </p:nvSpPr>
        <p:spPr>
          <a:xfrm>
            <a:off x="7873123" y="4613309"/>
            <a:ext cx="42720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Obstacles in the biofuel, distillery, and brewery industries</a:t>
            </a:r>
            <a:endParaRPr lang="en-US" sz="140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grpSp>
        <p:nvGrpSpPr>
          <p:cNvPr id="191" name="object 100">
            <a:extLst>
              <a:ext uri="{FF2B5EF4-FFF2-40B4-BE49-F238E27FC236}">
                <a16:creationId xmlns:a16="http://schemas.microsoft.com/office/drawing/2014/main" id="{FFD64DA5-3981-7C65-81F0-6891E0B847B2}"/>
              </a:ext>
            </a:extLst>
          </p:cNvPr>
          <p:cNvGrpSpPr/>
          <p:nvPr/>
        </p:nvGrpSpPr>
        <p:grpSpPr>
          <a:xfrm>
            <a:off x="7518821" y="4596110"/>
            <a:ext cx="320675" cy="319405"/>
            <a:chOff x="3841750" y="2438145"/>
            <a:chExt cx="320675" cy="319405"/>
          </a:xfrm>
        </p:grpSpPr>
        <p:sp>
          <p:nvSpPr>
            <p:cNvPr id="192" name="object 101">
              <a:extLst>
                <a:ext uri="{FF2B5EF4-FFF2-40B4-BE49-F238E27FC236}">
                  <a16:creationId xmlns:a16="http://schemas.microsoft.com/office/drawing/2014/main" id="{308957B0-03CF-F148-2ACD-331C4CFC4633}"/>
                </a:ext>
              </a:extLst>
            </p:cNvPr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4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4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8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02">
              <a:extLst>
                <a:ext uri="{FF2B5EF4-FFF2-40B4-BE49-F238E27FC236}">
                  <a16:creationId xmlns:a16="http://schemas.microsoft.com/office/drawing/2014/main" id="{A57A21E8-1094-2C8C-FF42-A81EB7130790}"/>
                </a:ext>
              </a:extLst>
            </p:cNvPr>
            <p:cNvSpPr/>
            <p:nvPr/>
          </p:nvSpPr>
          <p:spPr>
            <a:xfrm>
              <a:off x="3848100" y="2444495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0" y="153162"/>
                  </a:moveTo>
                  <a:lnTo>
                    <a:pt x="7851" y="104753"/>
                  </a:lnTo>
                  <a:lnTo>
                    <a:pt x="29711" y="62709"/>
                  </a:lnTo>
                  <a:lnTo>
                    <a:pt x="63038" y="29553"/>
                  </a:lnTo>
                  <a:lnTo>
                    <a:pt x="105290" y="7808"/>
                  </a:lnTo>
                  <a:lnTo>
                    <a:pt x="153924" y="0"/>
                  </a:lnTo>
                  <a:lnTo>
                    <a:pt x="202557" y="7808"/>
                  </a:lnTo>
                  <a:lnTo>
                    <a:pt x="244809" y="29553"/>
                  </a:lnTo>
                  <a:lnTo>
                    <a:pt x="278136" y="62709"/>
                  </a:lnTo>
                  <a:lnTo>
                    <a:pt x="299996" y="104753"/>
                  </a:lnTo>
                  <a:lnTo>
                    <a:pt x="307848" y="153162"/>
                  </a:lnTo>
                  <a:lnTo>
                    <a:pt x="299996" y="201570"/>
                  </a:lnTo>
                  <a:lnTo>
                    <a:pt x="278136" y="243614"/>
                  </a:lnTo>
                  <a:lnTo>
                    <a:pt x="244809" y="276770"/>
                  </a:lnTo>
                  <a:lnTo>
                    <a:pt x="202557" y="298515"/>
                  </a:lnTo>
                  <a:lnTo>
                    <a:pt x="153924" y="306324"/>
                  </a:lnTo>
                  <a:lnTo>
                    <a:pt x="105290" y="298515"/>
                  </a:lnTo>
                  <a:lnTo>
                    <a:pt x="63038" y="276770"/>
                  </a:lnTo>
                  <a:lnTo>
                    <a:pt x="29711" y="243614"/>
                  </a:lnTo>
                  <a:lnTo>
                    <a:pt x="7851" y="201570"/>
                  </a:lnTo>
                  <a:lnTo>
                    <a:pt x="0" y="15316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03">
            <a:extLst>
              <a:ext uri="{FF2B5EF4-FFF2-40B4-BE49-F238E27FC236}">
                <a16:creationId xmlns:a16="http://schemas.microsoft.com/office/drawing/2014/main" id="{9FC31556-BAF5-8D24-D9DA-CD440F8EA6E2}"/>
              </a:ext>
            </a:extLst>
          </p:cNvPr>
          <p:cNvSpPr txBox="1"/>
          <p:nvPr/>
        </p:nvSpPr>
        <p:spPr>
          <a:xfrm>
            <a:off x="7621057" y="4630187"/>
            <a:ext cx="116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95" name="object 82">
            <a:extLst>
              <a:ext uri="{FF2B5EF4-FFF2-40B4-BE49-F238E27FC236}">
                <a16:creationId xmlns:a16="http://schemas.microsoft.com/office/drawing/2014/main" id="{44662B27-874E-AB80-4942-50661869A7DB}"/>
              </a:ext>
            </a:extLst>
          </p:cNvPr>
          <p:cNvSpPr txBox="1"/>
          <p:nvPr/>
        </p:nvSpPr>
        <p:spPr>
          <a:xfrm>
            <a:off x="7830312" y="2479102"/>
            <a:ext cx="427202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Food Grains can be used in ethanol production</a:t>
            </a:r>
            <a:endParaRPr lang="en-US" sz="140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1E5DE19-03B9-C9BD-C12F-9DF723B67186}"/>
              </a:ext>
            </a:extLst>
          </p:cNvPr>
          <p:cNvSpPr txBox="1"/>
          <p:nvPr/>
        </p:nvSpPr>
        <p:spPr>
          <a:xfrm>
            <a:off x="3788993" y="5873921"/>
            <a:ext cx="3519166" cy="27699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 2/kg animal feed grain price impacts </a:t>
            </a:r>
          </a:p>
        </p:txBody>
      </p:sp>
      <p:graphicFrame>
        <p:nvGraphicFramePr>
          <p:cNvPr id="201" name="Diagram 200">
            <a:extLst>
              <a:ext uri="{FF2B5EF4-FFF2-40B4-BE49-F238E27FC236}">
                <a16:creationId xmlns:a16="http://schemas.microsoft.com/office/drawing/2014/main" id="{58C5D83E-DECF-FDCF-B819-A72639909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113712"/>
              </p:ext>
            </p:extLst>
          </p:nvPr>
        </p:nvGraphicFramePr>
        <p:xfrm>
          <a:off x="3788495" y="6136388"/>
          <a:ext cx="3488954" cy="690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pic>
        <p:nvPicPr>
          <p:cNvPr id="1026" name="Picture 2" descr="Rice Icon PNG, Vector, PSD, and Clipart With Transparent ...">
            <a:extLst>
              <a:ext uri="{FF2B5EF4-FFF2-40B4-BE49-F238E27FC236}">
                <a16:creationId xmlns:a16="http://schemas.microsoft.com/office/drawing/2014/main" id="{4726A6BD-9BE9-F635-094F-44BEAB008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2" t="24597" r="12970" b="25663"/>
          <a:stretch/>
        </p:blipFill>
        <p:spPr bwMode="auto">
          <a:xfrm>
            <a:off x="7607058" y="2797598"/>
            <a:ext cx="1024521" cy="68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01B5D2-7130-5F0E-EA19-BA5279DF89D9}"/>
              </a:ext>
            </a:extLst>
          </p:cNvPr>
          <p:cNvSpPr txBox="1"/>
          <p:nvPr/>
        </p:nvSpPr>
        <p:spPr>
          <a:xfrm>
            <a:off x="7468891" y="3466161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Paddy </a:t>
            </a:r>
          </a:p>
        </p:txBody>
      </p:sp>
      <p:pic>
        <p:nvPicPr>
          <p:cNvPr id="1028" name="Picture 4" descr="Corn - Free food and restaurant icons">
            <a:extLst>
              <a:ext uri="{FF2B5EF4-FFF2-40B4-BE49-F238E27FC236}">
                <a16:creationId xmlns:a16="http://schemas.microsoft.com/office/drawing/2014/main" id="{7162D8A4-0936-21AD-A387-F4F32AB4D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3061" y="3806046"/>
            <a:ext cx="603284" cy="60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8533F4-2616-21BD-2527-D2A3274993D0}"/>
              </a:ext>
            </a:extLst>
          </p:cNvPr>
          <p:cNvSpPr txBox="1"/>
          <p:nvPr/>
        </p:nvSpPr>
        <p:spPr>
          <a:xfrm>
            <a:off x="10358626" y="4386953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Corn</a:t>
            </a:r>
          </a:p>
        </p:txBody>
      </p:sp>
      <p:pic>
        <p:nvPicPr>
          <p:cNvPr id="1030" name="Picture 6" descr="White MaxIcons Lineal color icon">
            <a:extLst>
              <a:ext uri="{FF2B5EF4-FFF2-40B4-BE49-F238E27FC236}">
                <a16:creationId xmlns:a16="http://schemas.microsoft.com/office/drawing/2014/main" id="{BF7DD78C-E538-9FD3-C8AE-D9B562C900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7" r="26923"/>
          <a:stretch/>
        </p:blipFill>
        <p:spPr bwMode="auto">
          <a:xfrm>
            <a:off x="10232106" y="2809504"/>
            <a:ext cx="383824" cy="77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BBEE39-4CD5-F105-56E7-8EFA4B660D15}"/>
              </a:ext>
            </a:extLst>
          </p:cNvPr>
          <p:cNvSpPr txBox="1"/>
          <p:nvPr/>
        </p:nvSpPr>
        <p:spPr>
          <a:xfrm>
            <a:off x="9934767" y="3544782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Sorghum</a:t>
            </a:r>
          </a:p>
        </p:txBody>
      </p:sp>
      <p:pic>
        <p:nvPicPr>
          <p:cNvPr id="1032" name="Picture 8" descr="Wheat - Free food icons">
            <a:extLst>
              <a:ext uri="{FF2B5EF4-FFF2-40B4-BE49-F238E27FC236}">
                <a16:creationId xmlns:a16="http://schemas.microsoft.com/office/drawing/2014/main" id="{1598E1D0-1EDB-4C19-26D4-702A4C0AA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9637" y="2779776"/>
            <a:ext cx="798384" cy="79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858B76-99BC-7E7D-7559-7B0F0151B239}"/>
              </a:ext>
            </a:extLst>
          </p:cNvPr>
          <p:cNvSpPr txBox="1"/>
          <p:nvPr/>
        </p:nvSpPr>
        <p:spPr>
          <a:xfrm>
            <a:off x="11061700" y="3562636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Wheat</a:t>
            </a:r>
          </a:p>
        </p:txBody>
      </p:sp>
      <p:pic>
        <p:nvPicPr>
          <p:cNvPr id="1034" name="Picture 10" descr="Millet Logo Hi-res Stock Photography And Images Page Alamy, 43% OFF">
            <a:extLst>
              <a:ext uri="{FF2B5EF4-FFF2-40B4-BE49-F238E27FC236}">
                <a16:creationId xmlns:a16="http://schemas.microsoft.com/office/drawing/2014/main" id="{6E997974-19EE-DDB7-29CA-DF22CBEB20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6" t="8191" r="18042" b="12332"/>
          <a:stretch/>
        </p:blipFill>
        <p:spPr bwMode="auto">
          <a:xfrm>
            <a:off x="8306189" y="3472812"/>
            <a:ext cx="692811" cy="90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0C4313-C3CD-B2D1-58D0-37D64CBDB649}"/>
              </a:ext>
            </a:extLst>
          </p:cNvPr>
          <p:cNvSpPr txBox="1"/>
          <p:nvPr/>
        </p:nvSpPr>
        <p:spPr>
          <a:xfrm>
            <a:off x="8129055" y="4367003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Millets</a:t>
            </a:r>
          </a:p>
        </p:txBody>
      </p:sp>
      <p:pic>
        <p:nvPicPr>
          <p:cNvPr id="1036" name="Picture 12" descr="Barley Icon Vector Art, Icons, and Graphics for Free Download">
            <a:extLst>
              <a:ext uri="{FF2B5EF4-FFF2-40B4-BE49-F238E27FC236}">
                <a16:creationId xmlns:a16="http://schemas.microsoft.com/office/drawing/2014/main" id="{4B6AF167-D496-908E-D352-E4327A44C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7" b="12895"/>
          <a:stretch/>
        </p:blipFill>
        <p:spPr bwMode="auto">
          <a:xfrm>
            <a:off x="9049750" y="2857041"/>
            <a:ext cx="916572" cy="67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DB6938-4D51-A297-CF85-0683A5CD695B}"/>
              </a:ext>
            </a:extLst>
          </p:cNvPr>
          <p:cNvSpPr txBox="1"/>
          <p:nvPr/>
        </p:nvSpPr>
        <p:spPr>
          <a:xfrm>
            <a:off x="8836330" y="3544060"/>
            <a:ext cx="1092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Millets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247077" y="35755"/>
            <a:ext cx="532449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>
                <a:solidFill>
                  <a:schemeClr val="tx2"/>
                </a:solidFill>
              </a:rPr>
              <a:t>Business Model-</a:t>
            </a:r>
            <a:r>
              <a:rPr lang="hi-IN" sz="2800" b="1" spc="-10">
                <a:solidFill>
                  <a:schemeClr val="tx2"/>
                </a:solidFill>
              </a:rPr>
              <a:t> किसान संजीवनी</a:t>
            </a:r>
            <a:r>
              <a:rPr lang="en-US" sz="2800" b="1" spc="-10">
                <a:solidFill>
                  <a:schemeClr val="tx2"/>
                </a:solidFill>
              </a:rPr>
              <a:t> </a:t>
            </a:r>
            <a:endParaRPr lang="en-IN" sz="2800" b="1" spc="-10">
              <a:solidFill>
                <a:schemeClr val="tx2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149979"/>
            <a:ext cx="3400380" cy="264758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824985" y="785622"/>
            <a:ext cx="1730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b="1" i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2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074402" y="770890"/>
            <a:ext cx="1772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RISKS</a:t>
            </a:r>
            <a:r>
              <a:rPr sz="1600" b="1" i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b="1" i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1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0" name="object 24">
            <a:extLst>
              <a:ext uri="{FF2B5EF4-FFF2-40B4-BE49-F238E27FC236}">
                <a16:creationId xmlns:a16="http://schemas.microsoft.com/office/drawing/2014/main" id="{36A8FB52-3FB2-A14B-9AA3-4CBF7EE5F5FE}"/>
              </a:ext>
            </a:extLst>
          </p:cNvPr>
          <p:cNvSpPr/>
          <p:nvPr/>
        </p:nvSpPr>
        <p:spPr>
          <a:xfrm>
            <a:off x="8388299" y="148667"/>
            <a:ext cx="3803701" cy="266070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2FD7EF-51D7-61DD-D879-5F101E3021C7}"/>
              </a:ext>
            </a:extLst>
          </p:cNvPr>
          <p:cNvGrpSpPr/>
          <p:nvPr/>
        </p:nvGrpSpPr>
        <p:grpSpPr>
          <a:xfrm>
            <a:off x="888743" y="554961"/>
            <a:ext cx="11253919" cy="1973483"/>
            <a:chOff x="917447" y="611910"/>
            <a:chExt cx="11175874" cy="1989177"/>
          </a:xfrm>
        </p:grpSpPr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0F8E2C3A-3F7E-A16A-6276-3143E64F7702}"/>
                </a:ext>
              </a:extLst>
            </p:cNvPr>
            <p:cNvSpPr txBox="1"/>
            <p:nvPr/>
          </p:nvSpPr>
          <p:spPr>
            <a:xfrm>
              <a:off x="917447" y="621790"/>
              <a:ext cx="4151758" cy="230832"/>
            </a:xfrm>
            <a:prstGeom prst="rect">
              <a:avLst/>
            </a:prstGeom>
            <a:solidFill>
              <a:srgbClr val="340D4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4445" algn="ctr">
                <a:lnSpc>
                  <a:spcPts val="1820"/>
                </a:lnSpc>
              </a:pPr>
              <a:r>
                <a:rPr sz="1600" b="1">
                  <a:solidFill>
                    <a:srgbClr val="FFFFFF"/>
                  </a:solidFill>
                  <a:latin typeface="Calibri"/>
                  <a:cs typeface="Calibri"/>
                </a:rPr>
                <a:t>Phase</a:t>
              </a:r>
              <a:r>
                <a:rPr sz="1600" b="1" spc="-6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50">
                  <a:solidFill>
                    <a:srgbClr val="FFFFFF"/>
                  </a:solidFill>
                  <a:latin typeface="Calibri"/>
                  <a:cs typeface="Calibri"/>
                </a:rPr>
                <a:t>1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158E8D32-ED41-2693-7119-7CF097F4FB98}"/>
                </a:ext>
              </a:extLst>
            </p:cNvPr>
            <p:cNvSpPr/>
            <p:nvPr/>
          </p:nvSpPr>
          <p:spPr>
            <a:xfrm>
              <a:off x="10766044" y="621455"/>
              <a:ext cx="1293494" cy="230832"/>
            </a:xfrm>
            <a:custGeom>
              <a:avLst/>
              <a:gdLst/>
              <a:ahLst/>
              <a:cxnLst/>
              <a:rect l="l" t="t" r="r" b="b"/>
              <a:pathLst>
                <a:path w="5554980" h="243840">
                  <a:moveTo>
                    <a:pt x="5554980" y="0"/>
                  </a:moveTo>
                  <a:lnTo>
                    <a:pt x="0" y="0"/>
                  </a:lnTo>
                  <a:lnTo>
                    <a:pt x="0" y="243839"/>
                  </a:lnTo>
                  <a:lnTo>
                    <a:pt x="5554980" y="243839"/>
                  </a:lnTo>
                  <a:lnTo>
                    <a:pt x="5554980" y="0"/>
                  </a:lnTo>
                  <a:close/>
                </a:path>
              </a:pathLst>
            </a:custGeom>
            <a:solidFill>
              <a:srgbClr val="340D47"/>
            </a:solidFill>
          </p:spPr>
          <p:txBody>
            <a:bodyPr wrap="square" lIns="0" tIns="0" rIns="0" bIns="0" rtlCol="0"/>
            <a:lstStyle/>
            <a:p>
              <a:pPr lvl="1" algn="ctr"/>
              <a:r>
                <a:rPr lang="en-IN" sz="1600" b="1" dirty="0">
                  <a:solidFill>
                    <a:schemeClr val="bg1"/>
                  </a:solidFill>
                  <a:latin typeface="Calibri"/>
                  <a:cs typeface="Calibri"/>
                </a:rPr>
                <a:t>Phase 3</a:t>
              </a:r>
            </a:p>
            <a:p>
              <a:endParaRPr dirty="0"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B3D47EA-F4A5-40FA-993F-AC22E40A16C0}"/>
                </a:ext>
              </a:extLst>
            </p:cNvPr>
            <p:cNvSpPr txBox="1"/>
            <p:nvPr/>
          </p:nvSpPr>
          <p:spPr>
            <a:xfrm>
              <a:off x="5153408" y="611910"/>
              <a:ext cx="5552946" cy="230832"/>
            </a:xfrm>
            <a:prstGeom prst="rect">
              <a:avLst/>
            </a:prstGeom>
            <a:solidFill>
              <a:srgbClr val="340D4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2453640">
                <a:lnSpc>
                  <a:spcPts val="1820"/>
                </a:lnSpc>
              </a:pPr>
              <a:r>
                <a:rPr sz="1600" b="1">
                  <a:solidFill>
                    <a:srgbClr val="FFFFFF"/>
                  </a:solidFill>
                  <a:latin typeface="Calibri"/>
                  <a:cs typeface="Calibri"/>
                </a:rPr>
                <a:t>Phase</a:t>
              </a:r>
              <a:r>
                <a:rPr sz="1600" b="1" spc="-6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600" b="1" spc="-50">
                  <a:solidFill>
                    <a:srgbClr val="FFFFFF"/>
                  </a:solidFill>
                  <a:latin typeface="Calibri"/>
                  <a:cs typeface="Calibri"/>
                </a:rPr>
                <a:t>2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7101731C-953B-9928-F147-2BE506CDB370}"/>
                </a:ext>
              </a:extLst>
            </p:cNvPr>
            <p:cNvSpPr txBox="1"/>
            <p:nvPr/>
          </p:nvSpPr>
          <p:spPr>
            <a:xfrm>
              <a:off x="917447" y="950975"/>
              <a:ext cx="1335405" cy="243840"/>
            </a:xfrm>
            <a:prstGeom prst="rect">
              <a:avLst/>
            </a:prstGeom>
            <a:solidFill>
              <a:srgbClr val="1E4A75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825"/>
                </a:lnSpc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Q1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15634AA1-7F7E-6E08-E72E-83402484FC62}"/>
                </a:ext>
              </a:extLst>
            </p:cNvPr>
            <p:cNvSpPr/>
            <p:nvPr/>
          </p:nvSpPr>
          <p:spPr>
            <a:xfrm>
              <a:off x="2327148" y="952500"/>
              <a:ext cx="1335405" cy="242570"/>
            </a:xfrm>
            <a:custGeom>
              <a:avLst/>
              <a:gdLst/>
              <a:ahLst/>
              <a:cxnLst/>
              <a:rect l="l" t="t" r="r" b="b"/>
              <a:pathLst>
                <a:path w="1335404" h="242569">
                  <a:moveTo>
                    <a:pt x="1335024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1335024" y="242315"/>
                  </a:lnTo>
                  <a:lnTo>
                    <a:pt x="1335024" y="0"/>
                  </a:lnTo>
                  <a:close/>
                </a:path>
              </a:pathLst>
            </a:custGeom>
            <a:solidFill>
              <a:srgbClr val="1E4A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1001CAE2-3101-C5E2-F9A3-F0B101F2D395}"/>
                </a:ext>
              </a:extLst>
            </p:cNvPr>
            <p:cNvSpPr/>
            <p:nvPr/>
          </p:nvSpPr>
          <p:spPr>
            <a:xfrm>
              <a:off x="3733800" y="949452"/>
              <a:ext cx="1335405" cy="242570"/>
            </a:xfrm>
            <a:custGeom>
              <a:avLst/>
              <a:gdLst/>
              <a:ahLst/>
              <a:cxnLst/>
              <a:rect l="l" t="t" r="r" b="b"/>
              <a:pathLst>
                <a:path w="1335404" h="242569">
                  <a:moveTo>
                    <a:pt x="1335024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1335024" y="242315"/>
                  </a:lnTo>
                  <a:lnTo>
                    <a:pt x="1335024" y="0"/>
                  </a:lnTo>
                  <a:close/>
                </a:path>
              </a:pathLst>
            </a:custGeom>
            <a:solidFill>
              <a:srgbClr val="1E4A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5CCE9D3F-E3BC-A6DA-0BCA-5BF915E7A1AD}"/>
                </a:ext>
              </a:extLst>
            </p:cNvPr>
            <p:cNvSpPr/>
            <p:nvPr/>
          </p:nvSpPr>
          <p:spPr>
            <a:xfrm>
              <a:off x="5135879" y="950975"/>
              <a:ext cx="1335405" cy="242570"/>
            </a:xfrm>
            <a:custGeom>
              <a:avLst/>
              <a:gdLst/>
              <a:ahLst/>
              <a:cxnLst/>
              <a:rect l="l" t="t" r="r" b="b"/>
              <a:pathLst>
                <a:path w="1335404" h="242569">
                  <a:moveTo>
                    <a:pt x="1335024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1335024" y="242315"/>
                  </a:lnTo>
                  <a:lnTo>
                    <a:pt x="1335024" y="0"/>
                  </a:lnTo>
                  <a:close/>
                </a:path>
              </a:pathLst>
            </a:custGeom>
            <a:solidFill>
              <a:srgbClr val="1E4A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41E279AE-5B56-F760-E2D0-FA5D87CB7542}"/>
                </a:ext>
              </a:extLst>
            </p:cNvPr>
            <p:cNvSpPr txBox="1"/>
            <p:nvPr/>
          </p:nvSpPr>
          <p:spPr>
            <a:xfrm>
              <a:off x="2860675" y="926414"/>
              <a:ext cx="307657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1419860" algn="l"/>
                  <a:tab pos="2821940" algn="l"/>
                </a:tabLst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Q2</a:t>
              </a:r>
              <a:r>
                <a:rPr sz="1600" b="1">
                  <a:solidFill>
                    <a:srgbClr val="FFFFFF"/>
                  </a:solidFill>
                  <a:latin typeface="Calibri"/>
                  <a:cs typeface="Calibri"/>
                </a:rPr>
                <a:t>	</a:t>
              </a: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Q3</a:t>
              </a:r>
              <a:r>
                <a:rPr sz="1600" b="1">
                  <a:solidFill>
                    <a:srgbClr val="FFFFFF"/>
                  </a:solidFill>
                  <a:latin typeface="Calibri"/>
                  <a:cs typeface="Calibri"/>
                </a:rPr>
                <a:t>	</a:t>
              </a: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Q4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3C211B0C-3117-F926-2A80-DFC447F2082F}"/>
                </a:ext>
              </a:extLst>
            </p:cNvPr>
            <p:cNvSpPr txBox="1"/>
            <p:nvPr/>
          </p:nvSpPr>
          <p:spPr>
            <a:xfrm>
              <a:off x="6547104" y="950975"/>
              <a:ext cx="1327785" cy="243840"/>
            </a:xfrm>
            <a:prstGeom prst="rect">
              <a:avLst/>
            </a:prstGeom>
            <a:solidFill>
              <a:srgbClr val="1E4A75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814"/>
                </a:lnSpc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Q1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048DB385-C3F7-5ACF-FC18-6737D8F4CE69}"/>
                </a:ext>
              </a:extLst>
            </p:cNvPr>
            <p:cNvSpPr txBox="1"/>
            <p:nvPr/>
          </p:nvSpPr>
          <p:spPr>
            <a:xfrm>
              <a:off x="7941564" y="950975"/>
              <a:ext cx="1335405" cy="243840"/>
            </a:xfrm>
            <a:prstGeom prst="rect">
              <a:avLst/>
            </a:prstGeom>
            <a:solidFill>
              <a:srgbClr val="1E4A75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635" algn="ctr">
                <a:lnSpc>
                  <a:spcPts val="1820"/>
                </a:lnSpc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Q2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3A5B3815-DEB6-3435-88A6-1F2E3AFB3A96}"/>
                </a:ext>
              </a:extLst>
            </p:cNvPr>
            <p:cNvSpPr txBox="1"/>
            <p:nvPr/>
          </p:nvSpPr>
          <p:spPr>
            <a:xfrm>
              <a:off x="9355835" y="954024"/>
              <a:ext cx="1350645" cy="242570"/>
            </a:xfrm>
            <a:prstGeom prst="rect">
              <a:avLst/>
            </a:prstGeom>
            <a:solidFill>
              <a:srgbClr val="1E4A75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2540" algn="ctr">
                <a:lnSpc>
                  <a:spcPts val="1814"/>
                </a:lnSpc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Q3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79176ABF-052B-D9F1-3865-D44E00FF2299}"/>
                </a:ext>
              </a:extLst>
            </p:cNvPr>
            <p:cNvSpPr/>
            <p:nvPr/>
          </p:nvSpPr>
          <p:spPr>
            <a:xfrm>
              <a:off x="10757916" y="954024"/>
              <a:ext cx="1335405" cy="242570"/>
            </a:xfrm>
            <a:custGeom>
              <a:avLst/>
              <a:gdLst/>
              <a:ahLst/>
              <a:cxnLst/>
              <a:rect l="l" t="t" r="r" b="b"/>
              <a:pathLst>
                <a:path w="1335404" h="242569">
                  <a:moveTo>
                    <a:pt x="1335024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1335024" y="242315"/>
                  </a:lnTo>
                  <a:lnTo>
                    <a:pt x="1335024" y="0"/>
                  </a:lnTo>
                  <a:close/>
                </a:path>
              </a:pathLst>
            </a:custGeom>
            <a:solidFill>
              <a:srgbClr val="1E4A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34DC7829-B011-A80B-CB8B-FCFF9C8CF848}"/>
                </a:ext>
              </a:extLst>
            </p:cNvPr>
            <p:cNvSpPr txBox="1"/>
            <p:nvPr/>
          </p:nvSpPr>
          <p:spPr>
            <a:xfrm>
              <a:off x="11292967" y="928497"/>
              <a:ext cx="26670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b="1" spc="-25">
                  <a:solidFill>
                    <a:srgbClr val="FFFFFF"/>
                  </a:solidFill>
                  <a:latin typeface="Calibri"/>
                  <a:cs typeface="Calibri"/>
                </a:rPr>
                <a:t>Q4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26" name="object 19">
              <a:extLst>
                <a:ext uri="{FF2B5EF4-FFF2-40B4-BE49-F238E27FC236}">
                  <a16:creationId xmlns:a16="http://schemas.microsoft.com/office/drawing/2014/main" id="{E6E96200-9495-82CA-E276-F40842B3874C}"/>
                </a:ext>
              </a:extLst>
            </p:cNvPr>
            <p:cNvSpPr txBox="1"/>
            <p:nvPr/>
          </p:nvSpPr>
          <p:spPr>
            <a:xfrm>
              <a:off x="1037945" y="1377137"/>
              <a:ext cx="10280650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  <a:tabLst>
                  <a:tab pos="4795520" algn="l"/>
                </a:tabLst>
              </a:pPr>
              <a:r>
                <a:rPr sz="2100" b="1" baseline="1984">
                  <a:solidFill>
                    <a:srgbClr val="FFFFFF"/>
                  </a:solidFill>
                  <a:latin typeface="Calibri"/>
                  <a:cs typeface="Calibri"/>
                </a:rPr>
                <a:t>Launching</a:t>
              </a:r>
              <a:r>
                <a:rPr sz="2100" b="1" spc="-67" baseline="1984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2100" b="1" baseline="1984">
                  <a:solidFill>
                    <a:srgbClr val="FFFFFF"/>
                  </a:solidFill>
                  <a:latin typeface="Calibri"/>
                  <a:cs typeface="Calibri"/>
                </a:rPr>
                <a:t>and</a:t>
              </a:r>
              <a:r>
                <a:rPr sz="2100" b="1" spc="-60" baseline="1984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2100" b="1" baseline="1984">
                  <a:solidFill>
                    <a:srgbClr val="FFFFFF"/>
                  </a:solidFill>
                  <a:latin typeface="Calibri"/>
                  <a:cs typeface="Calibri"/>
                </a:rPr>
                <a:t>Expanding</a:t>
              </a:r>
              <a:r>
                <a:rPr sz="2100" b="1" spc="-75" baseline="1984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2100" b="1" baseline="1984">
                  <a:solidFill>
                    <a:srgbClr val="FFFFFF"/>
                  </a:solidFill>
                  <a:latin typeface="Calibri"/>
                  <a:cs typeface="Calibri"/>
                </a:rPr>
                <a:t>	</a:t>
              </a:r>
              <a:r>
                <a:rPr sz="1400" b="1" spc="-10">
                  <a:solidFill>
                    <a:srgbClr val="FFFFFF"/>
                  </a:solidFill>
                  <a:latin typeface="Calibri"/>
                  <a:cs typeface="Calibri"/>
                </a:rPr>
                <a:t>Revenue</a:t>
              </a:r>
              <a:r>
                <a:rPr sz="1400" b="1" spc="-6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b="1" spc="-10">
                  <a:solidFill>
                    <a:srgbClr val="FFFFFF"/>
                  </a:solidFill>
                  <a:latin typeface="Calibri"/>
                  <a:cs typeface="Calibri"/>
                </a:rPr>
                <a:t>generation</a:t>
              </a:r>
              <a:r>
                <a:rPr sz="1400" b="1" spc="-6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b="1">
                  <a:solidFill>
                    <a:srgbClr val="FFFFFF"/>
                  </a:solidFill>
                  <a:latin typeface="Calibri"/>
                  <a:cs typeface="Calibri"/>
                </a:rPr>
                <a:t>post-</a:t>
              </a:r>
              <a:r>
                <a:rPr sz="1400" b="1" spc="-10">
                  <a:solidFill>
                    <a:srgbClr val="FFFFFF"/>
                  </a:solidFill>
                  <a:latin typeface="Calibri"/>
                  <a:cs typeface="Calibri"/>
                </a:rPr>
                <a:t>expansion</a:t>
              </a:r>
              <a:r>
                <a:rPr sz="1400" b="1" spc="-6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b="1">
                  <a:solidFill>
                    <a:srgbClr val="FFFFFF"/>
                  </a:solidFill>
                  <a:latin typeface="Calibri"/>
                  <a:cs typeface="Calibri"/>
                </a:rPr>
                <a:t>phase</a:t>
              </a:r>
              <a:r>
                <a:rPr sz="1400" b="1" spc="-4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i="1">
                  <a:solidFill>
                    <a:srgbClr val="FFFFFF"/>
                  </a:solidFill>
                  <a:latin typeface="Calibri"/>
                  <a:cs typeface="Calibri"/>
                </a:rPr>
                <a:t>(launch</a:t>
              </a:r>
              <a:r>
                <a:rPr sz="1400" i="1" spc="-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i="1">
                  <a:solidFill>
                    <a:srgbClr val="FFFFFF"/>
                  </a:solidFill>
                  <a:latin typeface="Calibri"/>
                  <a:cs typeface="Calibri"/>
                </a:rPr>
                <a:t>The</a:t>
              </a:r>
              <a:r>
                <a:rPr sz="1400" i="1" spc="-2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i="1">
                  <a:solidFill>
                    <a:srgbClr val="FFFFFF"/>
                  </a:solidFill>
                  <a:latin typeface="Calibri"/>
                  <a:cs typeface="Calibri"/>
                </a:rPr>
                <a:t>Nimbus</a:t>
              </a:r>
              <a:r>
                <a:rPr sz="1400" i="1" spc="-1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i="1">
                  <a:solidFill>
                    <a:srgbClr val="FFFFFF"/>
                  </a:solidFill>
                  <a:latin typeface="Calibri"/>
                  <a:cs typeface="Calibri"/>
                </a:rPr>
                <a:t>Land</a:t>
              </a:r>
              <a:r>
                <a:rPr sz="1400" i="1" spc="-2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i="1" spc="-10">
                  <a:solidFill>
                    <a:srgbClr val="FFFFFF"/>
                  </a:solidFill>
                  <a:latin typeface="Calibri"/>
                  <a:cs typeface="Calibri"/>
                </a:rPr>
                <a:t>event)</a:t>
              </a:r>
              <a:endParaRPr sz="1400">
                <a:latin typeface="Calibri"/>
                <a:cs typeface="Calibri"/>
              </a:endParaRPr>
            </a:p>
          </p:txBody>
        </p:sp>
        <p:sp>
          <p:nvSpPr>
            <p:cNvPr id="28" name="object 21">
              <a:extLst>
                <a:ext uri="{FF2B5EF4-FFF2-40B4-BE49-F238E27FC236}">
                  <a16:creationId xmlns:a16="http://schemas.microsoft.com/office/drawing/2014/main" id="{40C72061-6D0D-9CF5-6A36-B5BD725996CF}"/>
                </a:ext>
              </a:extLst>
            </p:cNvPr>
            <p:cNvSpPr/>
            <p:nvPr/>
          </p:nvSpPr>
          <p:spPr>
            <a:xfrm>
              <a:off x="2350768" y="1600711"/>
              <a:ext cx="3502660" cy="213207"/>
            </a:xfrm>
            <a:custGeom>
              <a:avLst/>
              <a:gdLst/>
              <a:ahLst/>
              <a:cxnLst/>
              <a:rect l="l" t="t" r="r" b="b"/>
              <a:pathLst>
                <a:path w="3502659" h="243839">
                  <a:moveTo>
                    <a:pt x="3380231" y="0"/>
                  </a:moveTo>
                  <a:lnTo>
                    <a:pt x="0" y="0"/>
                  </a:lnTo>
                  <a:lnTo>
                    <a:pt x="0" y="243839"/>
                  </a:lnTo>
                  <a:lnTo>
                    <a:pt x="3380231" y="243839"/>
                  </a:lnTo>
                  <a:lnTo>
                    <a:pt x="3502152" y="121920"/>
                  </a:lnTo>
                  <a:lnTo>
                    <a:pt x="3380231" y="0"/>
                  </a:lnTo>
                  <a:close/>
                </a:path>
              </a:pathLst>
            </a:custGeom>
            <a:solidFill>
              <a:srgbClr val="5088BB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1050" b="1">
                  <a:solidFill>
                    <a:schemeClr val="bg1"/>
                  </a:solidFill>
                </a:rPr>
                <a:t>Installation of Kiosks at multiple locations</a:t>
              </a:r>
              <a:endParaRPr sz="1050">
                <a:solidFill>
                  <a:schemeClr val="bg1"/>
                </a:solidFill>
              </a:endParaRPr>
            </a:p>
          </p:txBody>
        </p:sp>
        <p:sp>
          <p:nvSpPr>
            <p:cNvPr id="29" name="object 22">
              <a:extLst>
                <a:ext uri="{FF2B5EF4-FFF2-40B4-BE49-F238E27FC236}">
                  <a16:creationId xmlns:a16="http://schemas.microsoft.com/office/drawing/2014/main" id="{5272F998-A043-A175-A2BF-A2A31A2A3F8F}"/>
                </a:ext>
              </a:extLst>
            </p:cNvPr>
            <p:cNvSpPr txBox="1"/>
            <p:nvPr/>
          </p:nvSpPr>
          <p:spPr>
            <a:xfrm>
              <a:off x="7675244" y="1774316"/>
              <a:ext cx="2498725" cy="1866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Backend</a:t>
              </a:r>
              <a:r>
                <a:rPr sz="1050" b="1" spc="-1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and</a:t>
              </a:r>
              <a:r>
                <a:rPr sz="1050" b="1" spc="-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UI</a:t>
              </a:r>
              <a:r>
                <a:rPr sz="1050" b="1" spc="1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 spc="-10">
                  <a:solidFill>
                    <a:srgbClr val="FFFFFF"/>
                  </a:solidFill>
                  <a:latin typeface="Calibri"/>
                  <a:cs typeface="Calibri"/>
                </a:rPr>
                <a:t>development</a:t>
              </a:r>
              <a:r>
                <a:rPr sz="1050" b="1" spc="-3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 spc="-10">
                  <a:solidFill>
                    <a:srgbClr val="FFFFFF"/>
                  </a:solidFill>
                  <a:latin typeface="Calibri"/>
                  <a:cs typeface="Calibri"/>
                </a:rPr>
                <a:t>enhancements</a:t>
              </a:r>
              <a:endParaRPr sz="1050">
                <a:latin typeface="Calibri"/>
                <a:cs typeface="Calibri"/>
              </a:endParaRPr>
            </a:p>
          </p:txBody>
        </p:sp>
        <p:sp>
          <p:nvSpPr>
            <p:cNvPr id="32" name="object 25">
              <a:extLst>
                <a:ext uri="{FF2B5EF4-FFF2-40B4-BE49-F238E27FC236}">
                  <a16:creationId xmlns:a16="http://schemas.microsoft.com/office/drawing/2014/main" id="{F9B44CF3-8A16-58F1-A10E-D52D5CB88A1A}"/>
                </a:ext>
              </a:extLst>
            </p:cNvPr>
            <p:cNvSpPr txBox="1"/>
            <p:nvPr/>
          </p:nvSpPr>
          <p:spPr>
            <a:xfrm>
              <a:off x="8310118" y="2090673"/>
              <a:ext cx="1968500" cy="1866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Raising</a:t>
              </a:r>
              <a:r>
                <a:rPr sz="1050" b="1" spc="-4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Awareness</a:t>
              </a:r>
              <a:r>
                <a:rPr sz="1050" b="1" spc="-2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on</a:t>
              </a:r>
              <a:r>
                <a:rPr sz="1050" b="1" spc="-4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Social</a:t>
              </a:r>
              <a:r>
                <a:rPr sz="1050" b="1" spc="-3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 spc="-20">
                  <a:solidFill>
                    <a:srgbClr val="FFFFFF"/>
                  </a:solidFill>
                  <a:latin typeface="Calibri"/>
                  <a:cs typeface="Calibri"/>
                </a:rPr>
                <a:t>Media</a:t>
              </a:r>
              <a:endParaRPr sz="1050">
                <a:latin typeface="Calibri"/>
                <a:cs typeface="Calibri"/>
              </a:endParaRPr>
            </a:p>
          </p:txBody>
        </p:sp>
        <p:sp>
          <p:nvSpPr>
            <p:cNvPr id="34" name="object 27">
              <a:extLst>
                <a:ext uri="{FF2B5EF4-FFF2-40B4-BE49-F238E27FC236}">
                  <a16:creationId xmlns:a16="http://schemas.microsoft.com/office/drawing/2014/main" id="{46389547-D435-677E-4886-E6D81A8869B8}"/>
                </a:ext>
              </a:extLst>
            </p:cNvPr>
            <p:cNvSpPr txBox="1"/>
            <p:nvPr/>
          </p:nvSpPr>
          <p:spPr>
            <a:xfrm>
              <a:off x="2158110" y="2406141"/>
              <a:ext cx="4469130" cy="1866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Marketing</a:t>
              </a:r>
              <a:r>
                <a:rPr sz="1050" b="1" spc="-5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campaigns</a:t>
              </a:r>
              <a:r>
                <a:rPr sz="1050" b="1" spc="-5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to</a:t>
              </a:r>
              <a:r>
                <a:rPr sz="1050" b="1" spc="-3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improve</a:t>
              </a:r>
              <a:r>
                <a:rPr sz="1050" b="1" spc="-4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brand</a:t>
              </a:r>
              <a:r>
                <a:rPr sz="1050" b="1" spc="-3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visibility</a:t>
              </a:r>
              <a:r>
                <a:rPr sz="1050" b="1" spc="-3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&amp;</a:t>
              </a:r>
              <a:r>
                <a:rPr sz="1050" b="1" spc="-2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awareness</a:t>
              </a:r>
              <a:r>
                <a:rPr sz="1050" b="1" spc="-1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among</a:t>
              </a:r>
              <a:r>
                <a:rPr sz="1050" b="1" spc="-4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 spc="-10">
                  <a:solidFill>
                    <a:srgbClr val="FFFFFF"/>
                  </a:solidFill>
                  <a:latin typeface="Calibri"/>
                  <a:cs typeface="Calibri"/>
                </a:rPr>
                <a:t>customers</a:t>
              </a:r>
              <a:endParaRPr sz="1050">
                <a:latin typeface="Calibri"/>
                <a:cs typeface="Calibri"/>
              </a:endParaRPr>
            </a:p>
          </p:txBody>
        </p:sp>
        <p:sp>
          <p:nvSpPr>
            <p:cNvPr id="36" name="object 29">
              <a:extLst>
                <a:ext uri="{FF2B5EF4-FFF2-40B4-BE49-F238E27FC236}">
                  <a16:creationId xmlns:a16="http://schemas.microsoft.com/office/drawing/2014/main" id="{66E07282-4A63-C46C-5667-9043C5435876}"/>
                </a:ext>
              </a:extLst>
            </p:cNvPr>
            <p:cNvSpPr txBox="1"/>
            <p:nvPr/>
          </p:nvSpPr>
          <p:spPr>
            <a:xfrm>
              <a:off x="8595106" y="2414397"/>
              <a:ext cx="1397635" cy="18669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050" b="1" spc="-10">
                  <a:solidFill>
                    <a:srgbClr val="FFFFFF"/>
                  </a:solidFill>
                  <a:latin typeface="Calibri"/>
                  <a:cs typeface="Calibri"/>
                </a:rPr>
                <a:t>Collaborating</a:t>
              </a:r>
              <a:r>
                <a:rPr sz="1050" b="1" spc="-1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>
                  <a:solidFill>
                    <a:srgbClr val="FFFFFF"/>
                  </a:solidFill>
                  <a:latin typeface="Calibri"/>
                  <a:cs typeface="Calibri"/>
                </a:rPr>
                <a:t>with</a:t>
              </a:r>
              <a:r>
                <a:rPr sz="1050" b="1" spc="35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050" b="1" spc="-20">
                  <a:solidFill>
                    <a:srgbClr val="FFFFFF"/>
                  </a:solidFill>
                  <a:latin typeface="Calibri"/>
                  <a:cs typeface="Calibri"/>
                </a:rPr>
                <a:t>NGOs</a:t>
              </a:r>
              <a:endParaRPr sz="1050">
                <a:latin typeface="Calibri"/>
                <a:cs typeface="Calibri"/>
              </a:endParaRPr>
            </a:p>
          </p:txBody>
        </p:sp>
      </p:grpSp>
      <p:sp>
        <p:nvSpPr>
          <p:cNvPr id="39" name="object 76">
            <a:extLst>
              <a:ext uri="{FF2B5EF4-FFF2-40B4-BE49-F238E27FC236}">
                <a16:creationId xmlns:a16="http://schemas.microsoft.com/office/drawing/2014/main" id="{8F237B81-F676-1F2D-DB01-644BF5BB2163}"/>
              </a:ext>
            </a:extLst>
          </p:cNvPr>
          <p:cNvSpPr/>
          <p:nvPr/>
        </p:nvSpPr>
        <p:spPr>
          <a:xfrm>
            <a:off x="0" y="2376702"/>
            <a:ext cx="12191365" cy="22860"/>
          </a:xfrm>
          <a:custGeom>
            <a:avLst/>
            <a:gdLst/>
            <a:ahLst/>
            <a:cxnLst/>
            <a:rect l="l" t="t" r="r" b="b"/>
            <a:pathLst>
              <a:path w="12191365" h="22860">
                <a:moveTo>
                  <a:pt x="0" y="0"/>
                </a:moveTo>
                <a:lnTo>
                  <a:pt x="12191238" y="22618"/>
                </a:lnTo>
              </a:path>
            </a:pathLst>
          </a:custGeom>
          <a:ln w="190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A95A486E-68E3-D547-FD20-EF970486CF99}"/>
              </a:ext>
            </a:extLst>
          </p:cNvPr>
          <p:cNvSpPr/>
          <p:nvPr/>
        </p:nvSpPr>
        <p:spPr>
          <a:xfrm>
            <a:off x="887982" y="1217483"/>
            <a:ext cx="4180751" cy="219588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A25CC1-C66A-829B-F503-B531A9CF2C64}"/>
              </a:ext>
            </a:extLst>
          </p:cNvPr>
          <p:cNvSpPr txBox="1"/>
          <p:nvPr/>
        </p:nvSpPr>
        <p:spPr>
          <a:xfrm>
            <a:off x="1010082" y="1200415"/>
            <a:ext cx="3528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Launch and Pilot Project</a:t>
            </a:r>
            <a:endParaRPr lang="en-IN" sz="110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065489-76CC-2232-7C29-21F3A67B5FE1}"/>
              </a:ext>
            </a:extLst>
          </p:cNvPr>
          <p:cNvSpPr txBox="1"/>
          <p:nvPr/>
        </p:nvSpPr>
        <p:spPr>
          <a:xfrm>
            <a:off x="418044" y="2437517"/>
            <a:ext cx="251074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Segments</a:t>
            </a: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D2767290-93BA-8955-705D-C513D943B599}"/>
              </a:ext>
            </a:extLst>
          </p:cNvPr>
          <p:cNvSpPr/>
          <p:nvPr/>
        </p:nvSpPr>
        <p:spPr>
          <a:xfrm>
            <a:off x="5136632" y="1216847"/>
            <a:ext cx="5591723" cy="227104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942A12-A63A-ACAD-71A9-9770670B847A}"/>
              </a:ext>
            </a:extLst>
          </p:cNvPr>
          <p:cNvSpPr txBox="1"/>
          <p:nvPr/>
        </p:nvSpPr>
        <p:spPr>
          <a:xfrm>
            <a:off x="5861713" y="1207456"/>
            <a:ext cx="366403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Expansion  and Revenue Generation 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9" name="Arrow: Pentagon 48">
            <a:extLst>
              <a:ext uri="{FF2B5EF4-FFF2-40B4-BE49-F238E27FC236}">
                <a16:creationId xmlns:a16="http://schemas.microsoft.com/office/drawing/2014/main" id="{B874F959-7FEF-5951-11E6-06DDBE357B3D}"/>
              </a:ext>
            </a:extLst>
          </p:cNvPr>
          <p:cNvSpPr/>
          <p:nvPr/>
        </p:nvSpPr>
        <p:spPr>
          <a:xfrm>
            <a:off x="10828494" y="1216847"/>
            <a:ext cx="1344730" cy="223129"/>
          </a:xfrm>
          <a:prstGeom prst="homePlat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188250-865C-8068-BD0C-D4F471532018}"/>
              </a:ext>
            </a:extLst>
          </p:cNvPr>
          <p:cNvGrpSpPr/>
          <p:nvPr/>
        </p:nvGrpSpPr>
        <p:grpSpPr>
          <a:xfrm>
            <a:off x="144844" y="2696912"/>
            <a:ext cx="2827148" cy="2343416"/>
            <a:chOff x="107121" y="2856381"/>
            <a:chExt cx="2827148" cy="2343416"/>
          </a:xfrm>
        </p:grpSpPr>
        <p:graphicFrame>
          <p:nvGraphicFramePr>
            <p:cNvPr id="48" name="Diagram 47">
              <a:extLst>
                <a:ext uri="{FF2B5EF4-FFF2-40B4-BE49-F238E27FC236}">
                  <a16:creationId xmlns:a16="http://schemas.microsoft.com/office/drawing/2014/main" id="{AFC3DC8A-98AD-0CEF-89F4-2BC51012780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26636412"/>
                </p:ext>
              </p:extLst>
            </p:nvPr>
          </p:nvGraphicFramePr>
          <p:xfrm>
            <a:off x="107121" y="2856381"/>
            <a:ext cx="2827148" cy="234341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2050" name="Picture 2" descr="Farmer - Free people icons">
              <a:extLst>
                <a:ext uri="{FF2B5EF4-FFF2-40B4-BE49-F238E27FC236}">
                  <a16:creationId xmlns:a16="http://schemas.microsoft.com/office/drawing/2014/main" id="{976B2AE2-9FB5-A730-A120-BF36C63B8E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110" y="2997813"/>
              <a:ext cx="336232" cy="336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Whisky distillery icon vector. Isolated contour symbol illustration  10278088 Vector Art at Vecteezy">
              <a:extLst>
                <a:ext uri="{FF2B5EF4-FFF2-40B4-BE49-F238E27FC236}">
                  <a16:creationId xmlns:a16="http://schemas.microsoft.com/office/drawing/2014/main" id="{3E54954C-49D3-827B-172B-0A9BE63B7F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15" t="24690" r="19352" b="24179"/>
            <a:stretch/>
          </p:blipFill>
          <p:spPr bwMode="auto">
            <a:xfrm>
              <a:off x="2197079" y="3009593"/>
              <a:ext cx="364103" cy="309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Cooperation Special Lineal color icon">
              <a:extLst>
                <a:ext uri="{FF2B5EF4-FFF2-40B4-BE49-F238E27FC236}">
                  <a16:creationId xmlns:a16="http://schemas.microsoft.com/office/drawing/2014/main" id="{E95DF96D-12C1-8E21-A778-F5AD80D7CF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3021" y="4145806"/>
              <a:ext cx="296913" cy="296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Ngo - Free hands and gestures icons">
              <a:extLst>
                <a:ext uri="{FF2B5EF4-FFF2-40B4-BE49-F238E27FC236}">
                  <a16:creationId xmlns:a16="http://schemas.microsoft.com/office/drawing/2014/main" id="{D7F622D2-6B2A-ECCA-1AF4-3C7F2912D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4900" y="4145807"/>
              <a:ext cx="336232" cy="3362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4F6226F-ED5D-8C49-623E-569FA9BF7864}"/>
              </a:ext>
            </a:extLst>
          </p:cNvPr>
          <p:cNvSpPr txBox="1"/>
          <p:nvPr/>
        </p:nvSpPr>
        <p:spPr>
          <a:xfrm>
            <a:off x="10559327" y="1196472"/>
            <a:ext cx="1687958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Growth</a:t>
            </a:r>
            <a:endParaRPr lang="en-US" sz="110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E405D8-0574-4A44-9E7D-87E435B5E7BB}"/>
              </a:ext>
            </a:extLst>
          </p:cNvPr>
          <p:cNvGrpSpPr/>
          <p:nvPr/>
        </p:nvGrpSpPr>
        <p:grpSpPr>
          <a:xfrm>
            <a:off x="49339" y="2422663"/>
            <a:ext cx="306705" cy="306705"/>
            <a:chOff x="102107" y="2465832"/>
            <a:chExt cx="306705" cy="306705"/>
          </a:xfrm>
        </p:grpSpPr>
        <p:grpSp>
          <p:nvGrpSpPr>
            <p:cNvPr id="4" name="object 83">
              <a:extLst>
                <a:ext uri="{FF2B5EF4-FFF2-40B4-BE49-F238E27FC236}">
                  <a16:creationId xmlns:a16="http://schemas.microsoft.com/office/drawing/2014/main" id="{B9C0FE06-5E35-725A-06BF-C081F85BC9B0}"/>
                </a:ext>
              </a:extLst>
            </p:cNvPr>
            <p:cNvGrpSpPr/>
            <p:nvPr/>
          </p:nvGrpSpPr>
          <p:grpSpPr>
            <a:xfrm>
              <a:off x="102107" y="2465832"/>
              <a:ext cx="306705" cy="306705"/>
              <a:chOff x="102107" y="2465832"/>
              <a:chExt cx="306705" cy="306705"/>
            </a:xfrm>
          </p:grpSpPr>
          <p:sp>
            <p:nvSpPr>
              <p:cNvPr id="10" name="object 84">
                <a:extLst>
                  <a:ext uri="{FF2B5EF4-FFF2-40B4-BE49-F238E27FC236}">
                    <a16:creationId xmlns:a16="http://schemas.microsoft.com/office/drawing/2014/main" id="{D8FA1D45-4CCA-D0D2-C105-EE7392B369C8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153162" y="0"/>
                    </a:moveTo>
                    <a:lnTo>
                      <a:pt x="104748" y="7808"/>
                    </a:lnTo>
                    <a:lnTo>
                      <a:pt x="62704" y="29553"/>
                    </a:lnTo>
                    <a:lnTo>
                      <a:pt x="29549" y="62709"/>
                    </a:lnTo>
                    <a:lnTo>
                      <a:pt x="7807" y="104753"/>
                    </a:lnTo>
                    <a:lnTo>
                      <a:pt x="0" y="153162"/>
                    </a:lnTo>
                    <a:lnTo>
                      <a:pt x="7807" y="201570"/>
                    </a:lnTo>
                    <a:lnTo>
                      <a:pt x="29549" y="243614"/>
                    </a:lnTo>
                    <a:lnTo>
                      <a:pt x="62704" y="276770"/>
                    </a:lnTo>
                    <a:lnTo>
                      <a:pt x="104748" y="298515"/>
                    </a:lnTo>
                    <a:lnTo>
                      <a:pt x="153162" y="306323"/>
                    </a:lnTo>
                    <a:lnTo>
                      <a:pt x="201575" y="298515"/>
                    </a:lnTo>
                    <a:lnTo>
                      <a:pt x="243619" y="276770"/>
                    </a:lnTo>
                    <a:lnTo>
                      <a:pt x="276774" y="243614"/>
                    </a:lnTo>
                    <a:lnTo>
                      <a:pt x="298516" y="201570"/>
                    </a:lnTo>
                    <a:lnTo>
                      <a:pt x="306323" y="153162"/>
                    </a:lnTo>
                    <a:lnTo>
                      <a:pt x="298516" y="104753"/>
                    </a:lnTo>
                    <a:lnTo>
                      <a:pt x="276774" y="62709"/>
                    </a:lnTo>
                    <a:lnTo>
                      <a:pt x="243619" y="29553"/>
                    </a:lnTo>
                    <a:lnTo>
                      <a:pt x="201575" y="7808"/>
                    </a:lnTo>
                    <a:lnTo>
                      <a:pt x="153162" y="0"/>
                    </a:lnTo>
                    <a:close/>
                  </a:path>
                </a:pathLst>
              </a:custGeom>
              <a:solidFill>
                <a:srgbClr val="1F4E7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85">
                <a:extLst>
                  <a:ext uri="{FF2B5EF4-FFF2-40B4-BE49-F238E27FC236}">
                    <a16:creationId xmlns:a16="http://schemas.microsoft.com/office/drawing/2014/main" id="{EC4C58BC-5978-59CE-F72B-3F8C7EC33AC8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0" y="153162"/>
                    </a:moveTo>
                    <a:lnTo>
                      <a:pt x="7807" y="104753"/>
                    </a:lnTo>
                    <a:lnTo>
                      <a:pt x="29549" y="62709"/>
                    </a:lnTo>
                    <a:lnTo>
                      <a:pt x="62704" y="29553"/>
                    </a:lnTo>
                    <a:lnTo>
                      <a:pt x="104748" y="7808"/>
                    </a:lnTo>
                    <a:lnTo>
                      <a:pt x="153162" y="0"/>
                    </a:lnTo>
                    <a:lnTo>
                      <a:pt x="201575" y="7808"/>
                    </a:lnTo>
                    <a:lnTo>
                      <a:pt x="243619" y="29553"/>
                    </a:lnTo>
                    <a:lnTo>
                      <a:pt x="276774" y="62709"/>
                    </a:lnTo>
                    <a:lnTo>
                      <a:pt x="298516" y="104753"/>
                    </a:lnTo>
                    <a:lnTo>
                      <a:pt x="306323" y="153162"/>
                    </a:lnTo>
                    <a:lnTo>
                      <a:pt x="298516" y="201570"/>
                    </a:lnTo>
                    <a:lnTo>
                      <a:pt x="276774" y="243614"/>
                    </a:lnTo>
                    <a:lnTo>
                      <a:pt x="243619" y="276770"/>
                    </a:lnTo>
                    <a:lnTo>
                      <a:pt x="201575" y="298515"/>
                    </a:lnTo>
                    <a:lnTo>
                      <a:pt x="153162" y="306323"/>
                    </a:lnTo>
                    <a:lnTo>
                      <a:pt x="104748" y="298515"/>
                    </a:lnTo>
                    <a:lnTo>
                      <a:pt x="62704" y="276770"/>
                    </a:lnTo>
                    <a:lnTo>
                      <a:pt x="29549" y="243614"/>
                    </a:lnTo>
                    <a:lnTo>
                      <a:pt x="7807" y="201570"/>
                    </a:lnTo>
                    <a:lnTo>
                      <a:pt x="0" y="153162"/>
                    </a:lnTo>
                    <a:close/>
                  </a:path>
                </a:pathLst>
              </a:custGeom>
              <a:ln w="12700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86">
              <a:extLst>
                <a:ext uri="{FF2B5EF4-FFF2-40B4-BE49-F238E27FC236}">
                  <a16:creationId xmlns:a16="http://schemas.microsoft.com/office/drawing/2014/main" id="{98997419-FA90-584D-A002-9DD41C7D47BF}"/>
                </a:ext>
              </a:extLst>
            </p:cNvPr>
            <p:cNvSpPr txBox="1"/>
            <p:nvPr/>
          </p:nvSpPr>
          <p:spPr>
            <a:xfrm>
              <a:off x="197612" y="2487930"/>
              <a:ext cx="116205" cy="23939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400" b="1" spc="-50">
                  <a:solidFill>
                    <a:srgbClr val="FFFFFF"/>
                  </a:solidFill>
                  <a:latin typeface="Calibri"/>
                  <a:cs typeface="Calibri"/>
                </a:rPr>
                <a:t>1</a:t>
              </a:r>
              <a:endParaRPr sz="1400">
                <a:latin typeface="Calibri"/>
                <a:cs typeface="Calibri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337816-481C-5345-E8E8-66C52DFFDD6D}"/>
              </a:ext>
            </a:extLst>
          </p:cNvPr>
          <p:cNvGrpSpPr/>
          <p:nvPr/>
        </p:nvGrpSpPr>
        <p:grpSpPr>
          <a:xfrm>
            <a:off x="49338" y="4973223"/>
            <a:ext cx="306705" cy="306705"/>
            <a:chOff x="102107" y="2465832"/>
            <a:chExt cx="306705" cy="306705"/>
          </a:xfrm>
        </p:grpSpPr>
        <p:grpSp>
          <p:nvGrpSpPr>
            <p:cNvPr id="33" name="object 83">
              <a:extLst>
                <a:ext uri="{FF2B5EF4-FFF2-40B4-BE49-F238E27FC236}">
                  <a16:creationId xmlns:a16="http://schemas.microsoft.com/office/drawing/2014/main" id="{AAB629A4-C652-9415-EE33-72538B6AF60B}"/>
                </a:ext>
              </a:extLst>
            </p:cNvPr>
            <p:cNvGrpSpPr/>
            <p:nvPr/>
          </p:nvGrpSpPr>
          <p:grpSpPr>
            <a:xfrm>
              <a:off x="102107" y="2465832"/>
              <a:ext cx="306705" cy="306705"/>
              <a:chOff x="102107" y="2465832"/>
              <a:chExt cx="306705" cy="306705"/>
            </a:xfrm>
          </p:grpSpPr>
          <p:sp>
            <p:nvSpPr>
              <p:cNvPr id="38" name="object 84">
                <a:extLst>
                  <a:ext uri="{FF2B5EF4-FFF2-40B4-BE49-F238E27FC236}">
                    <a16:creationId xmlns:a16="http://schemas.microsoft.com/office/drawing/2014/main" id="{2D3C0F96-80BA-FD9F-3040-9088A0FF7F7A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153162" y="0"/>
                    </a:moveTo>
                    <a:lnTo>
                      <a:pt x="104748" y="7808"/>
                    </a:lnTo>
                    <a:lnTo>
                      <a:pt x="62704" y="29553"/>
                    </a:lnTo>
                    <a:lnTo>
                      <a:pt x="29549" y="62709"/>
                    </a:lnTo>
                    <a:lnTo>
                      <a:pt x="7807" y="104753"/>
                    </a:lnTo>
                    <a:lnTo>
                      <a:pt x="0" y="153162"/>
                    </a:lnTo>
                    <a:lnTo>
                      <a:pt x="7807" y="201570"/>
                    </a:lnTo>
                    <a:lnTo>
                      <a:pt x="29549" y="243614"/>
                    </a:lnTo>
                    <a:lnTo>
                      <a:pt x="62704" y="276770"/>
                    </a:lnTo>
                    <a:lnTo>
                      <a:pt x="104748" y="298515"/>
                    </a:lnTo>
                    <a:lnTo>
                      <a:pt x="153162" y="306323"/>
                    </a:lnTo>
                    <a:lnTo>
                      <a:pt x="201575" y="298515"/>
                    </a:lnTo>
                    <a:lnTo>
                      <a:pt x="243619" y="276770"/>
                    </a:lnTo>
                    <a:lnTo>
                      <a:pt x="276774" y="243614"/>
                    </a:lnTo>
                    <a:lnTo>
                      <a:pt x="298516" y="201570"/>
                    </a:lnTo>
                    <a:lnTo>
                      <a:pt x="306323" y="153162"/>
                    </a:lnTo>
                    <a:lnTo>
                      <a:pt x="298516" y="104753"/>
                    </a:lnTo>
                    <a:lnTo>
                      <a:pt x="276774" y="62709"/>
                    </a:lnTo>
                    <a:lnTo>
                      <a:pt x="243619" y="29553"/>
                    </a:lnTo>
                    <a:lnTo>
                      <a:pt x="201575" y="7808"/>
                    </a:lnTo>
                    <a:lnTo>
                      <a:pt x="153162" y="0"/>
                    </a:lnTo>
                    <a:close/>
                  </a:path>
                </a:pathLst>
              </a:custGeom>
              <a:solidFill>
                <a:srgbClr val="1F4E7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85">
                <a:extLst>
                  <a:ext uri="{FF2B5EF4-FFF2-40B4-BE49-F238E27FC236}">
                    <a16:creationId xmlns:a16="http://schemas.microsoft.com/office/drawing/2014/main" id="{DC8C02AB-8DCA-3B0B-CAD0-D7D1C11AB46B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0" y="153162"/>
                    </a:moveTo>
                    <a:lnTo>
                      <a:pt x="7807" y="104753"/>
                    </a:lnTo>
                    <a:lnTo>
                      <a:pt x="29549" y="62709"/>
                    </a:lnTo>
                    <a:lnTo>
                      <a:pt x="62704" y="29553"/>
                    </a:lnTo>
                    <a:lnTo>
                      <a:pt x="104748" y="7808"/>
                    </a:lnTo>
                    <a:lnTo>
                      <a:pt x="153162" y="0"/>
                    </a:lnTo>
                    <a:lnTo>
                      <a:pt x="201575" y="7808"/>
                    </a:lnTo>
                    <a:lnTo>
                      <a:pt x="243619" y="29553"/>
                    </a:lnTo>
                    <a:lnTo>
                      <a:pt x="276774" y="62709"/>
                    </a:lnTo>
                    <a:lnTo>
                      <a:pt x="298516" y="104753"/>
                    </a:lnTo>
                    <a:lnTo>
                      <a:pt x="306323" y="153162"/>
                    </a:lnTo>
                    <a:lnTo>
                      <a:pt x="298516" y="201570"/>
                    </a:lnTo>
                    <a:lnTo>
                      <a:pt x="276774" y="243614"/>
                    </a:lnTo>
                    <a:lnTo>
                      <a:pt x="243619" y="276770"/>
                    </a:lnTo>
                    <a:lnTo>
                      <a:pt x="201575" y="298515"/>
                    </a:lnTo>
                    <a:lnTo>
                      <a:pt x="153162" y="306323"/>
                    </a:lnTo>
                    <a:lnTo>
                      <a:pt x="104748" y="298515"/>
                    </a:lnTo>
                    <a:lnTo>
                      <a:pt x="62704" y="276770"/>
                    </a:lnTo>
                    <a:lnTo>
                      <a:pt x="29549" y="243614"/>
                    </a:lnTo>
                    <a:lnTo>
                      <a:pt x="7807" y="201570"/>
                    </a:lnTo>
                    <a:lnTo>
                      <a:pt x="0" y="153162"/>
                    </a:lnTo>
                    <a:close/>
                  </a:path>
                </a:pathLst>
              </a:custGeom>
              <a:ln w="12700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5" name="object 86">
              <a:extLst>
                <a:ext uri="{FF2B5EF4-FFF2-40B4-BE49-F238E27FC236}">
                  <a16:creationId xmlns:a16="http://schemas.microsoft.com/office/drawing/2014/main" id="{9DD91064-96F1-7439-0AFF-4014C8FC6ED9}"/>
                </a:ext>
              </a:extLst>
            </p:cNvPr>
            <p:cNvSpPr txBox="1"/>
            <p:nvPr/>
          </p:nvSpPr>
          <p:spPr>
            <a:xfrm>
              <a:off x="197612" y="2487930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>
                  <a:solidFill>
                    <a:srgbClr val="FFFFFF"/>
                  </a:solidFill>
                  <a:latin typeface="Calibri"/>
                  <a:cs typeface="Calibri"/>
                </a:rPr>
                <a:t>2</a:t>
              </a:r>
              <a:endParaRPr sz="1400">
                <a:latin typeface="Calibri"/>
                <a:cs typeface="Calibri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F5DC6C6B-9EFE-29F0-3987-8724C8EFAF2E}"/>
              </a:ext>
            </a:extLst>
          </p:cNvPr>
          <p:cNvSpPr txBox="1"/>
          <p:nvPr/>
        </p:nvSpPr>
        <p:spPr>
          <a:xfrm>
            <a:off x="408645" y="4978710"/>
            <a:ext cx="251074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Relationships</a:t>
            </a:r>
          </a:p>
        </p:txBody>
      </p:sp>
      <p:sp>
        <p:nvSpPr>
          <p:cNvPr id="59" name="object 95">
            <a:extLst>
              <a:ext uri="{FF2B5EF4-FFF2-40B4-BE49-F238E27FC236}">
                <a16:creationId xmlns:a16="http://schemas.microsoft.com/office/drawing/2014/main" id="{2A1C0C4B-63CE-59A4-E5F0-A818075DFFEA}"/>
              </a:ext>
            </a:extLst>
          </p:cNvPr>
          <p:cNvSpPr txBox="1"/>
          <p:nvPr/>
        </p:nvSpPr>
        <p:spPr>
          <a:xfrm>
            <a:off x="24084" y="5309775"/>
            <a:ext cx="303301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24/7 customer </a:t>
            </a:r>
            <a:r>
              <a:rPr lang="en-US" sz="1200">
                <a:solidFill>
                  <a:schemeClr val="tx1"/>
                </a:solidFill>
                <a:latin typeface="Calibri"/>
                <a:cs typeface="Calibri"/>
              </a:rPr>
              <a:t>support via chat, email, and phone</a:t>
            </a:r>
          </a:p>
        </p:txBody>
      </p:sp>
      <p:sp>
        <p:nvSpPr>
          <p:cNvPr id="61" name="object 95">
            <a:extLst>
              <a:ext uri="{FF2B5EF4-FFF2-40B4-BE49-F238E27FC236}">
                <a16:creationId xmlns:a16="http://schemas.microsoft.com/office/drawing/2014/main" id="{410EFEF1-55F3-25D0-A146-832592368BDE}"/>
              </a:ext>
            </a:extLst>
          </p:cNvPr>
          <p:cNvSpPr txBox="1"/>
          <p:nvPr/>
        </p:nvSpPr>
        <p:spPr>
          <a:xfrm>
            <a:off x="24085" y="5701705"/>
            <a:ext cx="301206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Regular webinars, workshops, and tutorials </a:t>
            </a:r>
            <a:r>
              <a:rPr lang="en-US" sz="1200">
                <a:solidFill>
                  <a:schemeClr val="tx1"/>
                </a:solidFill>
                <a:latin typeface="Calibri"/>
                <a:cs typeface="Calibri"/>
              </a:rPr>
              <a:t>for education and training</a:t>
            </a:r>
          </a:p>
        </p:txBody>
      </p:sp>
      <p:sp>
        <p:nvSpPr>
          <p:cNvPr id="45" name="object 95">
            <a:extLst>
              <a:ext uri="{FF2B5EF4-FFF2-40B4-BE49-F238E27FC236}">
                <a16:creationId xmlns:a16="http://schemas.microsoft.com/office/drawing/2014/main" id="{A34DE573-9F2E-A78A-AF44-F6EE99D9521F}"/>
              </a:ext>
            </a:extLst>
          </p:cNvPr>
          <p:cNvSpPr txBox="1"/>
          <p:nvPr/>
        </p:nvSpPr>
        <p:spPr>
          <a:xfrm>
            <a:off x="24084" y="6074781"/>
            <a:ext cx="3004454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Online forums and community groups </a:t>
            </a:r>
            <a:r>
              <a:rPr lang="en-US" sz="1200">
                <a:solidFill>
                  <a:schemeClr val="tx1"/>
                </a:solidFill>
                <a:latin typeface="Calibri"/>
                <a:cs typeface="Calibri"/>
              </a:rPr>
              <a:t>for experience sharing and tips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C6E7CD4-FBA0-EB4C-71E9-3A0760B164AF}"/>
              </a:ext>
            </a:extLst>
          </p:cNvPr>
          <p:cNvSpPr/>
          <p:nvPr/>
        </p:nvSpPr>
        <p:spPr>
          <a:xfrm>
            <a:off x="3724763" y="1823172"/>
            <a:ext cx="2756602" cy="211525"/>
          </a:xfrm>
          <a:prstGeom prst="homePlate">
            <a:avLst/>
          </a:prstGeom>
          <a:solidFill>
            <a:srgbClr val="4C84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/>
              <a:t>Platform Fee for Transporters</a:t>
            </a:r>
          </a:p>
        </p:txBody>
      </p:sp>
      <p:sp>
        <p:nvSpPr>
          <p:cNvPr id="51" name="object 95">
            <a:extLst>
              <a:ext uri="{FF2B5EF4-FFF2-40B4-BE49-F238E27FC236}">
                <a16:creationId xmlns:a16="http://schemas.microsoft.com/office/drawing/2014/main" id="{C4CA62CE-766A-3953-AB43-7B1987450CC2}"/>
              </a:ext>
            </a:extLst>
          </p:cNvPr>
          <p:cNvSpPr txBox="1"/>
          <p:nvPr/>
        </p:nvSpPr>
        <p:spPr>
          <a:xfrm>
            <a:off x="30449" y="6447857"/>
            <a:ext cx="30400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200" b="1">
                <a:solidFill>
                  <a:srgbClr val="1F4E79"/>
                </a:solidFill>
                <a:latin typeface="Calibri"/>
                <a:cs typeface="Calibri"/>
              </a:rPr>
              <a:t>Regular surveys and feedback forms </a:t>
            </a:r>
            <a:r>
              <a:rPr lang="en-US" sz="1200">
                <a:solidFill>
                  <a:schemeClr val="tx1"/>
                </a:solidFill>
                <a:latin typeface="Calibri"/>
                <a:cs typeface="Calibri"/>
              </a:rPr>
              <a:t>to enhance platform functionality</a:t>
            </a:r>
          </a:p>
        </p:txBody>
      </p:sp>
      <p:sp>
        <p:nvSpPr>
          <p:cNvPr id="52" name="object 77">
            <a:extLst>
              <a:ext uri="{FF2B5EF4-FFF2-40B4-BE49-F238E27FC236}">
                <a16:creationId xmlns:a16="http://schemas.microsoft.com/office/drawing/2014/main" id="{BA4611F6-8C1D-6D93-4165-A7D35C522CD9}"/>
              </a:ext>
            </a:extLst>
          </p:cNvPr>
          <p:cNvSpPr/>
          <p:nvPr/>
        </p:nvSpPr>
        <p:spPr>
          <a:xfrm>
            <a:off x="3056479" y="2376702"/>
            <a:ext cx="13970" cy="4512945"/>
          </a:xfrm>
          <a:custGeom>
            <a:avLst/>
            <a:gdLst/>
            <a:ahLst/>
            <a:cxnLst/>
            <a:rect l="l" t="t" r="r" b="b"/>
            <a:pathLst>
              <a:path w="13970" h="4512945">
                <a:moveTo>
                  <a:pt x="0" y="0"/>
                </a:moveTo>
                <a:lnTo>
                  <a:pt x="13913" y="4512562"/>
                </a:lnTo>
              </a:path>
            </a:pathLst>
          </a:custGeom>
          <a:ln w="6350">
            <a:solidFill>
              <a:srgbClr val="006BAA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77">
            <a:extLst>
              <a:ext uri="{FF2B5EF4-FFF2-40B4-BE49-F238E27FC236}">
                <a16:creationId xmlns:a16="http://schemas.microsoft.com/office/drawing/2014/main" id="{FB9C0E52-A941-6745-23DD-4D20FDA009BA}"/>
              </a:ext>
            </a:extLst>
          </p:cNvPr>
          <p:cNvSpPr/>
          <p:nvPr/>
        </p:nvSpPr>
        <p:spPr>
          <a:xfrm>
            <a:off x="8816038" y="2408653"/>
            <a:ext cx="13970" cy="4512945"/>
          </a:xfrm>
          <a:custGeom>
            <a:avLst/>
            <a:gdLst/>
            <a:ahLst/>
            <a:cxnLst/>
            <a:rect l="l" t="t" r="r" b="b"/>
            <a:pathLst>
              <a:path w="13970" h="4512945">
                <a:moveTo>
                  <a:pt x="0" y="0"/>
                </a:moveTo>
                <a:lnTo>
                  <a:pt x="13913" y="4512562"/>
                </a:lnTo>
              </a:path>
            </a:pathLst>
          </a:custGeom>
          <a:ln w="6350">
            <a:solidFill>
              <a:srgbClr val="006BAA"/>
            </a:solidFill>
            <a:prstDash val="sysDash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16B582C-C3F9-330C-8471-FAD24FB666F4}"/>
              </a:ext>
            </a:extLst>
          </p:cNvPr>
          <p:cNvGrpSpPr/>
          <p:nvPr/>
        </p:nvGrpSpPr>
        <p:grpSpPr>
          <a:xfrm>
            <a:off x="3093675" y="2450870"/>
            <a:ext cx="306705" cy="306705"/>
            <a:chOff x="102107" y="2465832"/>
            <a:chExt cx="306705" cy="306705"/>
          </a:xfrm>
        </p:grpSpPr>
        <p:grpSp>
          <p:nvGrpSpPr>
            <p:cNvPr id="56" name="object 83">
              <a:extLst>
                <a:ext uri="{FF2B5EF4-FFF2-40B4-BE49-F238E27FC236}">
                  <a16:creationId xmlns:a16="http://schemas.microsoft.com/office/drawing/2014/main" id="{4500D9E2-35A0-90E0-2713-C195A3CE7202}"/>
                </a:ext>
              </a:extLst>
            </p:cNvPr>
            <p:cNvGrpSpPr/>
            <p:nvPr/>
          </p:nvGrpSpPr>
          <p:grpSpPr>
            <a:xfrm>
              <a:off x="102107" y="2465832"/>
              <a:ext cx="306705" cy="306705"/>
              <a:chOff x="102107" y="2465832"/>
              <a:chExt cx="306705" cy="306705"/>
            </a:xfrm>
          </p:grpSpPr>
          <p:sp>
            <p:nvSpPr>
              <p:cNvPr id="63" name="object 84">
                <a:extLst>
                  <a:ext uri="{FF2B5EF4-FFF2-40B4-BE49-F238E27FC236}">
                    <a16:creationId xmlns:a16="http://schemas.microsoft.com/office/drawing/2014/main" id="{9B1C4446-9F30-112F-8753-6C2AA25B9012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153162" y="0"/>
                    </a:moveTo>
                    <a:lnTo>
                      <a:pt x="104748" y="7808"/>
                    </a:lnTo>
                    <a:lnTo>
                      <a:pt x="62704" y="29553"/>
                    </a:lnTo>
                    <a:lnTo>
                      <a:pt x="29549" y="62709"/>
                    </a:lnTo>
                    <a:lnTo>
                      <a:pt x="7807" y="104753"/>
                    </a:lnTo>
                    <a:lnTo>
                      <a:pt x="0" y="153162"/>
                    </a:lnTo>
                    <a:lnTo>
                      <a:pt x="7807" y="201570"/>
                    </a:lnTo>
                    <a:lnTo>
                      <a:pt x="29549" y="243614"/>
                    </a:lnTo>
                    <a:lnTo>
                      <a:pt x="62704" y="276770"/>
                    </a:lnTo>
                    <a:lnTo>
                      <a:pt x="104748" y="298515"/>
                    </a:lnTo>
                    <a:lnTo>
                      <a:pt x="153162" y="306323"/>
                    </a:lnTo>
                    <a:lnTo>
                      <a:pt x="201575" y="298515"/>
                    </a:lnTo>
                    <a:lnTo>
                      <a:pt x="243619" y="276770"/>
                    </a:lnTo>
                    <a:lnTo>
                      <a:pt x="276774" y="243614"/>
                    </a:lnTo>
                    <a:lnTo>
                      <a:pt x="298516" y="201570"/>
                    </a:lnTo>
                    <a:lnTo>
                      <a:pt x="306323" y="153162"/>
                    </a:lnTo>
                    <a:lnTo>
                      <a:pt x="298516" y="104753"/>
                    </a:lnTo>
                    <a:lnTo>
                      <a:pt x="276774" y="62709"/>
                    </a:lnTo>
                    <a:lnTo>
                      <a:pt x="243619" y="29553"/>
                    </a:lnTo>
                    <a:lnTo>
                      <a:pt x="201575" y="7808"/>
                    </a:lnTo>
                    <a:lnTo>
                      <a:pt x="153162" y="0"/>
                    </a:lnTo>
                    <a:close/>
                  </a:path>
                </a:pathLst>
              </a:custGeom>
              <a:solidFill>
                <a:srgbClr val="1F4E7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85">
                <a:extLst>
                  <a:ext uri="{FF2B5EF4-FFF2-40B4-BE49-F238E27FC236}">
                    <a16:creationId xmlns:a16="http://schemas.microsoft.com/office/drawing/2014/main" id="{DE15C661-78E4-0684-E5A0-7B5EB76A93B1}"/>
                  </a:ext>
                </a:extLst>
              </p:cNvPr>
              <p:cNvSpPr/>
              <p:nvPr/>
            </p:nvSpPr>
            <p:spPr>
              <a:xfrm>
                <a:off x="102107" y="2465832"/>
                <a:ext cx="306705" cy="306705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306705">
                    <a:moveTo>
                      <a:pt x="0" y="153162"/>
                    </a:moveTo>
                    <a:lnTo>
                      <a:pt x="7807" y="104753"/>
                    </a:lnTo>
                    <a:lnTo>
                      <a:pt x="29549" y="62709"/>
                    </a:lnTo>
                    <a:lnTo>
                      <a:pt x="62704" y="29553"/>
                    </a:lnTo>
                    <a:lnTo>
                      <a:pt x="104748" y="7808"/>
                    </a:lnTo>
                    <a:lnTo>
                      <a:pt x="153162" y="0"/>
                    </a:lnTo>
                    <a:lnTo>
                      <a:pt x="201575" y="7808"/>
                    </a:lnTo>
                    <a:lnTo>
                      <a:pt x="243619" y="29553"/>
                    </a:lnTo>
                    <a:lnTo>
                      <a:pt x="276774" y="62709"/>
                    </a:lnTo>
                    <a:lnTo>
                      <a:pt x="298516" y="104753"/>
                    </a:lnTo>
                    <a:lnTo>
                      <a:pt x="306323" y="153162"/>
                    </a:lnTo>
                    <a:lnTo>
                      <a:pt x="298516" y="201570"/>
                    </a:lnTo>
                    <a:lnTo>
                      <a:pt x="276774" y="243614"/>
                    </a:lnTo>
                    <a:lnTo>
                      <a:pt x="243619" y="276770"/>
                    </a:lnTo>
                    <a:lnTo>
                      <a:pt x="201575" y="298515"/>
                    </a:lnTo>
                    <a:lnTo>
                      <a:pt x="153162" y="306323"/>
                    </a:lnTo>
                    <a:lnTo>
                      <a:pt x="104748" y="298515"/>
                    </a:lnTo>
                    <a:lnTo>
                      <a:pt x="62704" y="276770"/>
                    </a:lnTo>
                    <a:lnTo>
                      <a:pt x="29549" y="243614"/>
                    </a:lnTo>
                    <a:lnTo>
                      <a:pt x="7807" y="201570"/>
                    </a:lnTo>
                    <a:lnTo>
                      <a:pt x="0" y="153162"/>
                    </a:lnTo>
                    <a:close/>
                  </a:path>
                </a:pathLst>
              </a:custGeom>
              <a:ln w="12700">
                <a:solidFill>
                  <a:srgbClr val="2E528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" name="object 86">
              <a:extLst>
                <a:ext uri="{FF2B5EF4-FFF2-40B4-BE49-F238E27FC236}">
                  <a16:creationId xmlns:a16="http://schemas.microsoft.com/office/drawing/2014/main" id="{493B4BA7-DDF2-0009-A61C-28777DFA8E65}"/>
                </a:ext>
              </a:extLst>
            </p:cNvPr>
            <p:cNvSpPr txBox="1"/>
            <p:nvPr/>
          </p:nvSpPr>
          <p:spPr>
            <a:xfrm>
              <a:off x="197612" y="2487930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>
                  <a:solidFill>
                    <a:srgbClr val="FFFFFF"/>
                  </a:solidFill>
                  <a:latin typeface="Calibri"/>
                  <a:cs typeface="Calibri"/>
                </a:rPr>
                <a:t>3</a:t>
              </a:r>
              <a:endParaRPr sz="1400">
                <a:latin typeface="Calibri"/>
                <a:cs typeface="Calibri"/>
              </a:endParaRPr>
            </a:p>
          </p:txBody>
        </p:sp>
      </p:grpSp>
      <p:sp>
        <p:nvSpPr>
          <p:cNvPr id="66" name="object 82">
            <a:extLst>
              <a:ext uri="{FF2B5EF4-FFF2-40B4-BE49-F238E27FC236}">
                <a16:creationId xmlns:a16="http://schemas.microsoft.com/office/drawing/2014/main" id="{F699DF12-FEC4-84AF-4340-8EE154D8CD7B}"/>
              </a:ext>
            </a:extLst>
          </p:cNvPr>
          <p:cNvSpPr txBox="1"/>
          <p:nvPr/>
        </p:nvSpPr>
        <p:spPr>
          <a:xfrm>
            <a:off x="3424176" y="2464826"/>
            <a:ext cx="5013462" cy="24429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1400" b="1" spc="-1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Mobile Application Layout   </a:t>
            </a:r>
            <a:r>
              <a:rPr lang="en-US" sz="1500" b="1">
                <a:solidFill>
                  <a:srgbClr val="4C84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Kisan Sanjeevani</a:t>
            </a: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0E33B305-3B83-1DF4-5EB8-DB3EFAF4B9A0}"/>
              </a:ext>
            </a:extLst>
          </p:cNvPr>
          <p:cNvSpPr/>
          <p:nvPr/>
        </p:nvSpPr>
        <p:spPr>
          <a:xfrm>
            <a:off x="5930172" y="1538291"/>
            <a:ext cx="3527120" cy="211525"/>
          </a:xfrm>
          <a:custGeom>
            <a:avLst/>
            <a:gdLst/>
            <a:ahLst/>
            <a:cxnLst/>
            <a:rect l="l" t="t" r="r" b="b"/>
            <a:pathLst>
              <a:path w="3502659" h="243839">
                <a:moveTo>
                  <a:pt x="3380231" y="0"/>
                </a:moveTo>
                <a:lnTo>
                  <a:pt x="0" y="0"/>
                </a:lnTo>
                <a:lnTo>
                  <a:pt x="0" y="243839"/>
                </a:lnTo>
                <a:lnTo>
                  <a:pt x="3380231" y="243839"/>
                </a:lnTo>
                <a:lnTo>
                  <a:pt x="3502152" y="121920"/>
                </a:lnTo>
                <a:lnTo>
                  <a:pt x="3380231" y="0"/>
                </a:lnTo>
                <a:close/>
              </a:path>
            </a:pathLst>
          </a:custGeom>
          <a:solidFill>
            <a:srgbClr val="5088BB"/>
          </a:solidFill>
        </p:spPr>
        <p:txBody>
          <a:bodyPr wrap="square" lIns="0" tIns="0" rIns="0" bIns="0" rtlCol="0"/>
          <a:lstStyle/>
          <a:p>
            <a:pPr algn="ctr"/>
            <a:r>
              <a:rPr lang="en-IN" sz="1050" b="1">
                <a:solidFill>
                  <a:schemeClr val="bg1"/>
                </a:solidFill>
              </a:rPr>
              <a:t>Scaling the Model to different states</a:t>
            </a:r>
            <a:endParaRPr sz="1050" b="1">
              <a:solidFill>
                <a:schemeClr val="bg1"/>
              </a:solidFill>
            </a:endParaRPr>
          </a:p>
        </p:txBody>
      </p:sp>
      <p:sp>
        <p:nvSpPr>
          <p:cNvPr id="68" name="Arrow: Pentagon 67">
            <a:extLst>
              <a:ext uri="{FF2B5EF4-FFF2-40B4-BE49-F238E27FC236}">
                <a16:creationId xmlns:a16="http://schemas.microsoft.com/office/drawing/2014/main" id="{B8858806-C2F0-CBEC-66B4-31A30972CA00}"/>
              </a:ext>
            </a:extLst>
          </p:cNvPr>
          <p:cNvSpPr/>
          <p:nvPr/>
        </p:nvSpPr>
        <p:spPr>
          <a:xfrm>
            <a:off x="6557713" y="1813132"/>
            <a:ext cx="5550929" cy="207417"/>
          </a:xfrm>
          <a:prstGeom prst="homePlate">
            <a:avLst/>
          </a:prstGeom>
          <a:solidFill>
            <a:srgbClr val="4C84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/>
              <a:t>Subscription Fee for Distilleries</a:t>
            </a:r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4A2DC8B6-D89A-8B49-B7DC-F005244733F3}"/>
              </a:ext>
            </a:extLst>
          </p:cNvPr>
          <p:cNvSpPr/>
          <p:nvPr/>
        </p:nvSpPr>
        <p:spPr>
          <a:xfrm>
            <a:off x="887982" y="2103721"/>
            <a:ext cx="7028815" cy="242570"/>
          </a:xfrm>
          <a:custGeom>
            <a:avLst/>
            <a:gdLst/>
            <a:ahLst/>
            <a:cxnLst/>
            <a:rect l="l" t="t" r="r" b="b"/>
            <a:pathLst>
              <a:path w="7028815" h="242569">
                <a:moveTo>
                  <a:pt x="6907530" y="0"/>
                </a:moveTo>
                <a:lnTo>
                  <a:pt x="0" y="0"/>
                </a:lnTo>
                <a:lnTo>
                  <a:pt x="0" y="242315"/>
                </a:lnTo>
                <a:lnTo>
                  <a:pt x="6907530" y="242315"/>
                </a:lnTo>
                <a:lnTo>
                  <a:pt x="7028688" y="121157"/>
                </a:lnTo>
                <a:lnTo>
                  <a:pt x="6907530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r>
              <a:rPr lang="en-US" sz="11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campaigns</a:t>
            </a:r>
            <a:r>
              <a:rPr lang="en-US" sz="11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lang="en-US" sz="11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improve</a:t>
            </a:r>
            <a:r>
              <a:rPr lang="en-US" sz="11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brand</a:t>
            </a:r>
            <a:r>
              <a:rPr lang="en-US" sz="11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visibility</a:t>
            </a:r>
            <a:r>
              <a:rPr lang="en-US" sz="11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US" sz="11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r>
              <a:rPr lang="en-US" sz="11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>
                <a:solidFill>
                  <a:srgbClr val="FFFFFF"/>
                </a:solidFill>
                <a:latin typeface="Calibri"/>
                <a:cs typeface="Calibri"/>
              </a:rPr>
              <a:t>among</a:t>
            </a:r>
            <a:r>
              <a:rPr lang="en-US" sz="1100" b="1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100" b="1" spc="-1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lang="en-US" sz="1100">
              <a:latin typeface="Calibri"/>
              <a:cs typeface="Calibri"/>
            </a:endParaRPr>
          </a:p>
          <a:p>
            <a:pPr algn="ctr"/>
            <a:endParaRPr sz="1100"/>
          </a:p>
        </p:txBody>
      </p:sp>
      <p:sp>
        <p:nvSpPr>
          <p:cNvPr id="75" name="object 28">
            <a:extLst>
              <a:ext uri="{FF2B5EF4-FFF2-40B4-BE49-F238E27FC236}">
                <a16:creationId xmlns:a16="http://schemas.microsoft.com/office/drawing/2014/main" id="{658F94F2-88CC-AE38-7D6C-BA5D3DC66F17}"/>
              </a:ext>
            </a:extLst>
          </p:cNvPr>
          <p:cNvSpPr/>
          <p:nvPr/>
        </p:nvSpPr>
        <p:spPr>
          <a:xfrm>
            <a:off x="7950781" y="2120001"/>
            <a:ext cx="4157861" cy="223226"/>
          </a:xfrm>
          <a:custGeom>
            <a:avLst/>
            <a:gdLst/>
            <a:ahLst/>
            <a:cxnLst/>
            <a:rect l="l" t="t" r="r" b="b"/>
            <a:pathLst>
              <a:path w="2764790" h="242569">
                <a:moveTo>
                  <a:pt x="2643378" y="0"/>
                </a:moveTo>
                <a:lnTo>
                  <a:pt x="0" y="0"/>
                </a:lnTo>
                <a:lnTo>
                  <a:pt x="0" y="242316"/>
                </a:lnTo>
                <a:lnTo>
                  <a:pt x="2643378" y="242316"/>
                </a:lnTo>
                <a:lnTo>
                  <a:pt x="2764535" y="121158"/>
                </a:lnTo>
                <a:lnTo>
                  <a:pt x="2643378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>
            <a:pPr algn="ctr"/>
            <a:r>
              <a:rPr lang="en-IN" sz="1100" b="1" spc="-10">
                <a:solidFill>
                  <a:srgbClr val="FFFFFF"/>
                </a:solidFill>
                <a:latin typeface="Calibri"/>
                <a:cs typeface="Calibri"/>
              </a:rPr>
              <a:t>Collaborating</a:t>
            </a:r>
            <a:r>
              <a:rPr lang="en-IN" sz="1100" b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100" b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lang="en-IN" sz="1100" b="1" spc="35">
                <a:solidFill>
                  <a:srgbClr val="FFFFFF"/>
                </a:solidFill>
                <a:latin typeface="Calibri"/>
                <a:cs typeface="Calibri"/>
              </a:rPr>
              <a:t> Govt and </a:t>
            </a:r>
            <a:r>
              <a:rPr lang="en-IN" sz="1100" b="1" spc="-20">
                <a:solidFill>
                  <a:srgbClr val="FFFFFF"/>
                </a:solidFill>
                <a:latin typeface="Calibri"/>
                <a:cs typeface="Calibri"/>
              </a:rPr>
              <a:t>NGOs</a:t>
            </a:r>
            <a:endParaRPr lang="en-IN" sz="1100">
              <a:latin typeface="Calibri"/>
              <a:cs typeface="Calibri"/>
            </a:endParaRPr>
          </a:p>
          <a:p>
            <a:pPr algn="ctr"/>
            <a:endParaRPr lang="en-IN" sz="1100"/>
          </a:p>
        </p:txBody>
      </p:sp>
      <p:pic>
        <p:nvPicPr>
          <p:cNvPr id="1026" name="Picture 2" descr="Mobile app - Free technology icons">
            <a:extLst>
              <a:ext uri="{FF2B5EF4-FFF2-40B4-BE49-F238E27FC236}">
                <a16:creationId xmlns:a16="http://schemas.microsoft.com/office/drawing/2014/main" id="{4E310283-3F2C-C493-B11F-2D7096D4A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917" y="2401213"/>
            <a:ext cx="445485" cy="44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63451FB-A875-918A-FAB7-061FB890D3F4}"/>
              </a:ext>
            </a:extLst>
          </p:cNvPr>
          <p:cNvGrpSpPr/>
          <p:nvPr/>
        </p:nvGrpSpPr>
        <p:grpSpPr>
          <a:xfrm>
            <a:off x="8592203" y="2399562"/>
            <a:ext cx="4737317" cy="404506"/>
            <a:chOff x="5453592" y="2401969"/>
            <a:chExt cx="4737317" cy="404506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555853D8-6417-CDE0-9443-D2CC5C6EEBBD}"/>
                </a:ext>
              </a:extLst>
            </p:cNvPr>
            <p:cNvGrpSpPr/>
            <p:nvPr/>
          </p:nvGrpSpPr>
          <p:grpSpPr>
            <a:xfrm>
              <a:off x="5825354" y="2465944"/>
              <a:ext cx="306705" cy="306705"/>
              <a:chOff x="102107" y="2465832"/>
              <a:chExt cx="306705" cy="306705"/>
            </a:xfrm>
          </p:grpSpPr>
          <p:grpSp>
            <p:nvGrpSpPr>
              <p:cNvPr id="78" name="object 83">
                <a:extLst>
                  <a:ext uri="{FF2B5EF4-FFF2-40B4-BE49-F238E27FC236}">
                    <a16:creationId xmlns:a16="http://schemas.microsoft.com/office/drawing/2014/main" id="{6C9FD43A-0755-B339-4019-516A9F5C3A23}"/>
                  </a:ext>
                </a:extLst>
              </p:cNvPr>
              <p:cNvGrpSpPr/>
              <p:nvPr/>
            </p:nvGrpSpPr>
            <p:grpSpPr>
              <a:xfrm>
                <a:off x="102107" y="2465832"/>
                <a:ext cx="306705" cy="306705"/>
                <a:chOff x="102107" y="2465832"/>
                <a:chExt cx="306705" cy="306705"/>
              </a:xfrm>
            </p:grpSpPr>
            <p:sp>
              <p:nvSpPr>
                <p:cNvPr id="80" name="object 84">
                  <a:extLst>
                    <a:ext uri="{FF2B5EF4-FFF2-40B4-BE49-F238E27FC236}">
                      <a16:creationId xmlns:a16="http://schemas.microsoft.com/office/drawing/2014/main" id="{5238610F-5829-A641-BE06-72C14B5B4A91}"/>
                    </a:ext>
                  </a:extLst>
                </p:cNvPr>
                <p:cNvSpPr/>
                <p:nvPr/>
              </p:nvSpPr>
              <p:spPr>
                <a:xfrm>
                  <a:off x="102107" y="2465832"/>
                  <a:ext cx="306705" cy="306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705" h="306705">
                      <a:moveTo>
                        <a:pt x="153162" y="0"/>
                      </a:moveTo>
                      <a:lnTo>
                        <a:pt x="104748" y="7808"/>
                      </a:lnTo>
                      <a:lnTo>
                        <a:pt x="62704" y="29553"/>
                      </a:lnTo>
                      <a:lnTo>
                        <a:pt x="29549" y="62709"/>
                      </a:lnTo>
                      <a:lnTo>
                        <a:pt x="7807" y="104753"/>
                      </a:lnTo>
                      <a:lnTo>
                        <a:pt x="0" y="153162"/>
                      </a:lnTo>
                      <a:lnTo>
                        <a:pt x="7807" y="201570"/>
                      </a:lnTo>
                      <a:lnTo>
                        <a:pt x="29549" y="243614"/>
                      </a:lnTo>
                      <a:lnTo>
                        <a:pt x="62704" y="276770"/>
                      </a:lnTo>
                      <a:lnTo>
                        <a:pt x="104748" y="298515"/>
                      </a:lnTo>
                      <a:lnTo>
                        <a:pt x="153162" y="306323"/>
                      </a:lnTo>
                      <a:lnTo>
                        <a:pt x="201575" y="298515"/>
                      </a:lnTo>
                      <a:lnTo>
                        <a:pt x="243619" y="276770"/>
                      </a:lnTo>
                      <a:lnTo>
                        <a:pt x="276774" y="243614"/>
                      </a:lnTo>
                      <a:lnTo>
                        <a:pt x="298516" y="201570"/>
                      </a:lnTo>
                      <a:lnTo>
                        <a:pt x="306323" y="153162"/>
                      </a:lnTo>
                      <a:lnTo>
                        <a:pt x="298516" y="104753"/>
                      </a:lnTo>
                      <a:lnTo>
                        <a:pt x="276774" y="62709"/>
                      </a:lnTo>
                      <a:lnTo>
                        <a:pt x="243619" y="29553"/>
                      </a:lnTo>
                      <a:lnTo>
                        <a:pt x="201575" y="7808"/>
                      </a:lnTo>
                      <a:lnTo>
                        <a:pt x="153162" y="0"/>
                      </a:lnTo>
                      <a:close/>
                    </a:path>
                  </a:pathLst>
                </a:custGeom>
                <a:solidFill>
                  <a:srgbClr val="1F4E7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1" name="object 85">
                  <a:extLst>
                    <a:ext uri="{FF2B5EF4-FFF2-40B4-BE49-F238E27FC236}">
                      <a16:creationId xmlns:a16="http://schemas.microsoft.com/office/drawing/2014/main" id="{7D68FA23-99B2-4A1C-FCB4-6A08957CBEFF}"/>
                    </a:ext>
                  </a:extLst>
                </p:cNvPr>
                <p:cNvSpPr/>
                <p:nvPr/>
              </p:nvSpPr>
              <p:spPr>
                <a:xfrm>
                  <a:off x="102107" y="2465832"/>
                  <a:ext cx="306705" cy="306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705" h="306705">
                      <a:moveTo>
                        <a:pt x="0" y="153162"/>
                      </a:moveTo>
                      <a:lnTo>
                        <a:pt x="7807" y="104753"/>
                      </a:lnTo>
                      <a:lnTo>
                        <a:pt x="29549" y="62709"/>
                      </a:lnTo>
                      <a:lnTo>
                        <a:pt x="62704" y="29553"/>
                      </a:lnTo>
                      <a:lnTo>
                        <a:pt x="104748" y="7808"/>
                      </a:lnTo>
                      <a:lnTo>
                        <a:pt x="153162" y="0"/>
                      </a:lnTo>
                      <a:lnTo>
                        <a:pt x="201575" y="7808"/>
                      </a:lnTo>
                      <a:lnTo>
                        <a:pt x="243619" y="29553"/>
                      </a:lnTo>
                      <a:lnTo>
                        <a:pt x="276774" y="62709"/>
                      </a:lnTo>
                      <a:lnTo>
                        <a:pt x="298516" y="104753"/>
                      </a:lnTo>
                      <a:lnTo>
                        <a:pt x="306323" y="153162"/>
                      </a:lnTo>
                      <a:lnTo>
                        <a:pt x="298516" y="201570"/>
                      </a:lnTo>
                      <a:lnTo>
                        <a:pt x="276774" y="243614"/>
                      </a:lnTo>
                      <a:lnTo>
                        <a:pt x="243619" y="276770"/>
                      </a:lnTo>
                      <a:lnTo>
                        <a:pt x="201575" y="298515"/>
                      </a:lnTo>
                      <a:lnTo>
                        <a:pt x="153162" y="306323"/>
                      </a:lnTo>
                      <a:lnTo>
                        <a:pt x="104748" y="298515"/>
                      </a:lnTo>
                      <a:lnTo>
                        <a:pt x="62704" y="276770"/>
                      </a:lnTo>
                      <a:lnTo>
                        <a:pt x="29549" y="243614"/>
                      </a:lnTo>
                      <a:lnTo>
                        <a:pt x="7807" y="201570"/>
                      </a:lnTo>
                      <a:lnTo>
                        <a:pt x="0" y="153162"/>
                      </a:lnTo>
                      <a:close/>
                    </a:path>
                  </a:pathLst>
                </a:custGeom>
                <a:ln w="12700">
                  <a:solidFill>
                    <a:srgbClr val="2E528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79" name="object 86">
                <a:extLst>
                  <a:ext uri="{FF2B5EF4-FFF2-40B4-BE49-F238E27FC236}">
                    <a16:creationId xmlns:a16="http://schemas.microsoft.com/office/drawing/2014/main" id="{3465BC7E-3284-2D24-0B07-FF7617911FEF}"/>
                  </a:ext>
                </a:extLst>
              </p:cNvPr>
              <p:cNvSpPr txBox="1"/>
              <p:nvPr/>
            </p:nvSpPr>
            <p:spPr>
              <a:xfrm>
                <a:off x="197612" y="2487930"/>
                <a:ext cx="116205" cy="228909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sz="1400" b="1" spc="-50">
                    <a:solidFill>
                      <a:srgbClr val="FFFFFF"/>
                    </a:solidFill>
                    <a:latin typeface="Calibri"/>
                    <a:cs typeface="Calibri"/>
                  </a:rPr>
                  <a:t>4</a:t>
                </a:r>
              </a:p>
            </p:txBody>
          </p:sp>
        </p:grpSp>
        <p:sp>
          <p:nvSpPr>
            <p:cNvPr id="27" name="object 82">
              <a:extLst>
                <a:ext uri="{FF2B5EF4-FFF2-40B4-BE49-F238E27FC236}">
                  <a16:creationId xmlns:a16="http://schemas.microsoft.com/office/drawing/2014/main" id="{CDE19E6B-2012-8B80-B889-5B0BCFB0BA11}"/>
                </a:ext>
              </a:extLst>
            </p:cNvPr>
            <p:cNvSpPr txBox="1"/>
            <p:nvPr/>
          </p:nvSpPr>
          <p:spPr>
            <a:xfrm>
              <a:off x="5453592" y="2494633"/>
              <a:ext cx="4737317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10">
                  <a:solidFill>
                    <a:schemeClr val="tx2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/>
                  <a:cs typeface="Calibri"/>
                </a:rPr>
                <a:t>Financial Analysis and Roadmap</a:t>
              </a:r>
              <a:endParaRPr lang="en-US" sz="1500" b="1">
                <a:solidFill>
                  <a:srgbClr val="4C84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endParaRPr>
            </a:p>
          </p:txBody>
        </p:sp>
        <p:pic>
          <p:nvPicPr>
            <p:cNvPr id="1028" name="Picture 4" descr="Revenue - Free marketing icons">
              <a:extLst>
                <a:ext uri="{FF2B5EF4-FFF2-40B4-BE49-F238E27FC236}">
                  <a16:creationId xmlns:a16="http://schemas.microsoft.com/office/drawing/2014/main" id="{3D66C7F7-373E-1AF3-6F94-1E4B8FF95A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8244" y="2401969"/>
              <a:ext cx="404506" cy="404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5CA4E6A-649C-D3F2-44E0-53CA46EEB1C6}"/>
              </a:ext>
            </a:extLst>
          </p:cNvPr>
          <p:cNvCxnSpPr/>
          <p:nvPr/>
        </p:nvCxnSpPr>
        <p:spPr>
          <a:xfrm>
            <a:off x="5429104" y="3429000"/>
            <a:ext cx="907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05ECE0C-1158-1428-7AB9-FA10BD3F253E}"/>
              </a:ext>
            </a:extLst>
          </p:cNvPr>
          <p:cNvSpPr/>
          <p:nvPr/>
        </p:nvSpPr>
        <p:spPr>
          <a:xfrm>
            <a:off x="30448" y="574921"/>
            <a:ext cx="805739" cy="173780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 dirty="0"/>
              <a:t>Establish </a:t>
            </a:r>
            <a:r>
              <a:rPr lang="en-IN" sz="1050" b="1" dirty="0">
                <a:solidFill>
                  <a:srgbClr val="FFC000"/>
                </a:solidFill>
              </a:rPr>
              <a:t>Kisan Sanjeevani </a:t>
            </a:r>
            <a:r>
              <a:rPr lang="en-IN" sz="1050" b="1" dirty="0"/>
              <a:t>as a major market player in minimizing crop waste</a:t>
            </a:r>
          </a:p>
        </p:txBody>
      </p:sp>
      <p:grpSp>
        <p:nvGrpSpPr>
          <p:cNvPr id="2248" name="Group 2247">
            <a:extLst>
              <a:ext uri="{FF2B5EF4-FFF2-40B4-BE49-F238E27FC236}">
                <a16:creationId xmlns:a16="http://schemas.microsoft.com/office/drawing/2014/main" id="{65A7F610-C588-FD25-F698-2E95C75DFBFD}"/>
              </a:ext>
            </a:extLst>
          </p:cNvPr>
          <p:cNvGrpSpPr/>
          <p:nvPr/>
        </p:nvGrpSpPr>
        <p:grpSpPr>
          <a:xfrm>
            <a:off x="3173234" y="2830247"/>
            <a:ext cx="5508847" cy="3890293"/>
            <a:chOff x="3173234" y="2830247"/>
            <a:chExt cx="5508847" cy="3890293"/>
          </a:xfrm>
        </p:grpSpPr>
        <p:graphicFrame>
          <p:nvGraphicFramePr>
            <p:cNvPr id="70" name="Diagram 69">
              <a:extLst>
                <a:ext uri="{FF2B5EF4-FFF2-40B4-BE49-F238E27FC236}">
                  <a16:creationId xmlns:a16="http://schemas.microsoft.com/office/drawing/2014/main" id="{B87E469E-3B43-6B42-EF1E-15DD8E08D12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1073095"/>
                </p:ext>
              </p:extLst>
            </p:nvPr>
          </p:nvGraphicFramePr>
          <p:xfrm>
            <a:off x="3173234" y="3092651"/>
            <a:ext cx="2190690" cy="339240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graphicFrame>
          <p:nvGraphicFramePr>
            <p:cNvPr id="72" name="Diagram 71">
              <a:extLst>
                <a:ext uri="{FF2B5EF4-FFF2-40B4-BE49-F238E27FC236}">
                  <a16:creationId xmlns:a16="http://schemas.microsoft.com/office/drawing/2014/main" id="{E623B9F2-1F2B-23C2-1F62-6F42E541695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04085566"/>
                </p:ext>
              </p:extLst>
            </p:nvPr>
          </p:nvGraphicFramePr>
          <p:xfrm>
            <a:off x="6538736" y="3090464"/>
            <a:ext cx="2143345" cy="347360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" r:lo="rId20" r:qs="rId21" r:cs="rId22"/>
            </a:graphicData>
          </a:graphic>
        </p:graphicFrame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7F3F69B5-D7B2-F9F0-CD45-3BB6D77B3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colorTemperature colorTemp="7200"/>
                      </a14:imgEffect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01450" y="2830247"/>
              <a:ext cx="1799764" cy="3890293"/>
            </a:xfrm>
            <a:prstGeom prst="rect">
              <a:avLst/>
            </a:prstGeom>
          </p:spPr>
        </p:pic>
      </p:grpSp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105E958C-120A-4527-20CE-DF876F9E23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328503"/>
              </p:ext>
            </p:extLst>
          </p:nvPr>
        </p:nvGraphicFramePr>
        <p:xfrm>
          <a:off x="8849521" y="3054693"/>
          <a:ext cx="3250591" cy="1619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  <p:sp>
        <p:nvSpPr>
          <p:cNvPr id="2240" name="Rectangle: Rounded Corners 2239">
            <a:extLst>
              <a:ext uri="{FF2B5EF4-FFF2-40B4-BE49-F238E27FC236}">
                <a16:creationId xmlns:a16="http://schemas.microsoft.com/office/drawing/2014/main" id="{8A9FC1F8-970E-293C-A29F-930403C1FD13}"/>
              </a:ext>
            </a:extLst>
          </p:cNvPr>
          <p:cNvSpPr/>
          <p:nvPr/>
        </p:nvSpPr>
        <p:spPr>
          <a:xfrm>
            <a:off x="8902479" y="2942262"/>
            <a:ext cx="3144677" cy="2379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Revenue Streams</a:t>
            </a:r>
          </a:p>
        </p:txBody>
      </p:sp>
      <p:sp>
        <p:nvSpPr>
          <p:cNvPr id="2243" name="Rectangle: Rounded Corners 2242">
            <a:extLst>
              <a:ext uri="{FF2B5EF4-FFF2-40B4-BE49-F238E27FC236}">
                <a16:creationId xmlns:a16="http://schemas.microsoft.com/office/drawing/2014/main" id="{F03A6E60-F372-00A3-7BB8-65AFE46D535B}"/>
              </a:ext>
            </a:extLst>
          </p:cNvPr>
          <p:cNvSpPr/>
          <p:nvPr/>
        </p:nvSpPr>
        <p:spPr>
          <a:xfrm>
            <a:off x="8878101" y="4558248"/>
            <a:ext cx="3144677" cy="23798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Cost Streams</a:t>
            </a:r>
          </a:p>
        </p:txBody>
      </p:sp>
      <p:graphicFrame>
        <p:nvGraphicFramePr>
          <p:cNvPr id="2247" name="Diagram 2246">
            <a:extLst>
              <a:ext uri="{FF2B5EF4-FFF2-40B4-BE49-F238E27FC236}">
                <a16:creationId xmlns:a16="http://schemas.microsoft.com/office/drawing/2014/main" id="{550B0C15-8DEB-BB21-6B53-043D211479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2645274"/>
              </p:ext>
            </p:extLst>
          </p:nvPr>
        </p:nvGraphicFramePr>
        <p:xfrm>
          <a:off x="8496417" y="4934488"/>
          <a:ext cx="4161882" cy="1798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1" r:lo="rId32" r:qs="rId33" r:cs="rId34"/>
          </a:graphicData>
        </a:graphic>
      </p:graphicFrame>
    </p:spTree>
    <p:extLst>
      <p:ext uri="{BB962C8B-B14F-4D97-AF65-F5344CB8AC3E}">
        <p14:creationId xmlns:p14="http://schemas.microsoft.com/office/powerpoint/2010/main" val="126189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3700466" y="29542"/>
            <a:ext cx="491161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 dirty="0">
                <a:solidFill>
                  <a:schemeClr val="tx2"/>
                </a:solidFill>
              </a:rPr>
              <a:t>Marketing &amp; Networking Plan </a:t>
            </a:r>
            <a:endParaRPr sz="2800" b="1" spc="-10" dirty="0">
              <a:solidFill>
                <a:schemeClr val="tx2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475" y="149979"/>
            <a:ext cx="3763163" cy="239252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824985" y="785622"/>
            <a:ext cx="1730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600" b="1" i="1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2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0074402" y="770890"/>
            <a:ext cx="1772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RISKS</a:t>
            </a:r>
            <a:r>
              <a:rPr sz="1600" b="1" i="1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600" b="1" i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i="1" spc="-10">
                <a:solidFill>
                  <a:srgbClr val="FFFFFF"/>
                </a:solidFill>
                <a:latin typeface="Calibri"/>
                <a:cs typeface="Calibri"/>
              </a:rPr>
              <a:t>MITIGATION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0" name="object 24">
            <a:extLst>
              <a:ext uri="{FF2B5EF4-FFF2-40B4-BE49-F238E27FC236}">
                <a16:creationId xmlns:a16="http://schemas.microsoft.com/office/drawing/2014/main" id="{36A8FB52-3FB2-A14B-9AA3-4CBF7EE5F5FE}"/>
              </a:ext>
            </a:extLst>
          </p:cNvPr>
          <p:cNvSpPr/>
          <p:nvPr/>
        </p:nvSpPr>
        <p:spPr>
          <a:xfrm>
            <a:off x="8488908" y="149979"/>
            <a:ext cx="3703092" cy="235614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object 12">
            <a:extLst>
              <a:ext uri="{FF2B5EF4-FFF2-40B4-BE49-F238E27FC236}">
                <a16:creationId xmlns:a16="http://schemas.microsoft.com/office/drawing/2014/main" id="{720BBCA2-CEE1-F608-E6C0-0B5C36CCB5DE}"/>
              </a:ext>
            </a:extLst>
          </p:cNvPr>
          <p:cNvGrpSpPr/>
          <p:nvPr/>
        </p:nvGrpSpPr>
        <p:grpSpPr>
          <a:xfrm>
            <a:off x="0" y="498421"/>
            <a:ext cx="12192000" cy="502920"/>
            <a:chOff x="0" y="641604"/>
            <a:chExt cx="12192000" cy="502920"/>
          </a:xfrm>
        </p:grpSpPr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0159912C-C63E-21F8-D7E3-106C45FBF06F}"/>
                </a:ext>
              </a:extLst>
            </p:cNvPr>
            <p:cNvSpPr/>
            <p:nvPr/>
          </p:nvSpPr>
          <p:spPr>
            <a:xfrm>
              <a:off x="0" y="641604"/>
              <a:ext cx="12192000" cy="502920"/>
            </a:xfrm>
            <a:custGeom>
              <a:avLst/>
              <a:gdLst/>
              <a:ahLst/>
              <a:cxnLst/>
              <a:rect l="l" t="t" r="r" b="b"/>
              <a:pathLst>
                <a:path w="12192000" h="502919">
                  <a:moveTo>
                    <a:pt x="0" y="502920"/>
                  </a:moveTo>
                  <a:lnTo>
                    <a:pt x="12192000" y="50292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solidFill>
              <a:srgbClr val="1F39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14">
              <a:extLst>
                <a:ext uri="{FF2B5EF4-FFF2-40B4-BE49-F238E27FC236}">
                  <a16:creationId xmlns:a16="http://schemas.microsoft.com/office/drawing/2014/main" id="{5E9D1F0A-690D-2B1F-B394-B4371D00AE1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" y="687324"/>
              <a:ext cx="411480" cy="41147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017915-33C0-0A48-5F7B-55B6DF42C394}"/>
              </a:ext>
            </a:extLst>
          </p:cNvPr>
          <p:cNvSpPr txBox="1"/>
          <p:nvPr/>
        </p:nvSpPr>
        <p:spPr>
          <a:xfrm>
            <a:off x="908641" y="588933"/>
            <a:ext cx="1093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C00000"/>
                </a:solidFill>
              </a:rPr>
              <a:t>Marketing Slogan in Regional Languages </a:t>
            </a:r>
            <a:r>
              <a:rPr lang="hi-IN" sz="1130">
                <a:solidFill>
                  <a:schemeClr val="bg2"/>
                </a:solidFill>
              </a:rPr>
              <a:t>आपकी फसल अधिकतम, आपका कचरा न्यूनतम</a:t>
            </a:r>
            <a:r>
              <a:rPr lang="en-US" sz="1130">
                <a:solidFill>
                  <a:schemeClr val="bg2"/>
                </a:solidFill>
              </a:rPr>
              <a:t> (Hindi) | </a:t>
            </a:r>
            <a:r>
              <a:rPr lang="hi-IN" sz="1130">
                <a:solidFill>
                  <a:schemeClr val="bg2"/>
                </a:solidFill>
              </a:rPr>
              <a:t>तुमचे पीक जास्तीत जास्त, तुमचा कचरा कमीात कमी</a:t>
            </a:r>
            <a:r>
              <a:rPr lang="en-US" sz="1130">
                <a:solidFill>
                  <a:schemeClr val="bg2"/>
                </a:solidFill>
              </a:rPr>
              <a:t> (Marathi)</a:t>
            </a:r>
          </a:p>
        </p:txBody>
      </p:sp>
      <p:sp>
        <p:nvSpPr>
          <p:cNvPr id="12" name="object 52">
            <a:extLst>
              <a:ext uri="{FF2B5EF4-FFF2-40B4-BE49-F238E27FC236}">
                <a16:creationId xmlns:a16="http://schemas.microsoft.com/office/drawing/2014/main" id="{3FB0006C-C955-203F-AFA7-7EB250D03573}"/>
              </a:ext>
            </a:extLst>
          </p:cNvPr>
          <p:cNvSpPr txBox="1"/>
          <p:nvPr/>
        </p:nvSpPr>
        <p:spPr>
          <a:xfrm>
            <a:off x="-240026" y="1028426"/>
            <a:ext cx="3066919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  <a:tabLst>
                <a:tab pos="824865" algn="l"/>
              </a:tabLst>
            </a:pPr>
            <a:r>
              <a:rPr sz="1500" b="1" baseline="1984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500" b="1">
                <a:solidFill>
                  <a:srgbClr val="1F4E79"/>
                </a:solidFill>
                <a:latin typeface="Calibri"/>
                <a:cs typeface="Calibri"/>
              </a:rPr>
              <a:t>Digital &amp; Mobile Marketing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973EEFA-5374-D238-8A4D-A0343DBE74DE}"/>
              </a:ext>
            </a:extLst>
          </p:cNvPr>
          <p:cNvGrpSpPr/>
          <p:nvPr/>
        </p:nvGrpSpPr>
        <p:grpSpPr>
          <a:xfrm>
            <a:off x="111297" y="1020533"/>
            <a:ext cx="307975" cy="306705"/>
            <a:chOff x="111297" y="1020533"/>
            <a:chExt cx="307975" cy="306705"/>
          </a:xfrm>
        </p:grpSpPr>
        <p:sp>
          <p:nvSpPr>
            <p:cNvPr id="14" name="object 38">
              <a:extLst>
                <a:ext uri="{FF2B5EF4-FFF2-40B4-BE49-F238E27FC236}">
                  <a16:creationId xmlns:a16="http://schemas.microsoft.com/office/drawing/2014/main" id="{D312DB9D-87A1-87A7-2FA4-88804023244F}"/>
                </a:ext>
              </a:extLst>
            </p:cNvPr>
            <p:cNvSpPr/>
            <p:nvPr/>
          </p:nvSpPr>
          <p:spPr>
            <a:xfrm>
              <a:off x="111297" y="1020533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3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3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7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3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A81ABD-201E-11D0-E19F-01A0B4D8550D}"/>
                </a:ext>
              </a:extLst>
            </p:cNvPr>
            <p:cNvSpPr txBox="1"/>
            <p:nvPr/>
          </p:nvSpPr>
          <p:spPr>
            <a:xfrm>
              <a:off x="169977" y="1033617"/>
              <a:ext cx="95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57255D6-D51E-1663-D4BA-6B08ADED343E}"/>
              </a:ext>
            </a:extLst>
          </p:cNvPr>
          <p:cNvSpPr txBox="1"/>
          <p:nvPr/>
        </p:nvSpPr>
        <p:spPr>
          <a:xfrm>
            <a:off x="0" y="2601793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Increasing Social Media Reach</a:t>
            </a:r>
            <a:endParaRPr lang="en-US" sz="12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E1297B0-BDED-05B3-B93B-2A0A46AAC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3" y="2952171"/>
            <a:ext cx="2436160" cy="496255"/>
          </a:xfrm>
          <a:prstGeom prst="rect">
            <a:avLst/>
          </a:prstGeom>
        </p:spPr>
      </p:pic>
      <p:sp>
        <p:nvSpPr>
          <p:cNvPr id="34" name="object 74">
            <a:extLst>
              <a:ext uri="{FF2B5EF4-FFF2-40B4-BE49-F238E27FC236}">
                <a16:creationId xmlns:a16="http://schemas.microsoft.com/office/drawing/2014/main" id="{4CB0C5E9-5314-F4C3-45E7-4714030F76BD}"/>
              </a:ext>
            </a:extLst>
          </p:cNvPr>
          <p:cNvSpPr txBox="1"/>
          <p:nvPr/>
        </p:nvSpPr>
        <p:spPr>
          <a:xfrm>
            <a:off x="55206" y="3493913"/>
            <a:ext cx="421595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>
                <a:latin typeface="Calibri"/>
                <a:cs typeface="Calibri"/>
              </a:rPr>
              <a:t>Rationale</a:t>
            </a:r>
            <a:r>
              <a:rPr sz="1200" b="1" spc="-55">
                <a:latin typeface="Calibri"/>
                <a:cs typeface="Calibri"/>
              </a:rPr>
              <a:t> </a:t>
            </a:r>
            <a:r>
              <a:rPr sz="1200" b="1">
                <a:latin typeface="Calibri"/>
                <a:cs typeface="Calibri"/>
              </a:rPr>
              <a:t>-</a:t>
            </a:r>
            <a:r>
              <a:rPr sz="1200" b="1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Helping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us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increasing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the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reach,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relevance,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resonance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75">
            <a:extLst>
              <a:ext uri="{FF2B5EF4-FFF2-40B4-BE49-F238E27FC236}">
                <a16:creationId xmlns:a16="http://schemas.microsoft.com/office/drawing/2014/main" id="{6DC6CF70-F919-568C-EBFC-FF96952BAC79}"/>
              </a:ext>
            </a:extLst>
          </p:cNvPr>
          <p:cNvSpPr txBox="1"/>
          <p:nvPr/>
        </p:nvSpPr>
        <p:spPr>
          <a:xfrm>
            <a:off x="55206" y="3755675"/>
            <a:ext cx="4325075" cy="451406"/>
          </a:xfrm>
          <a:prstGeom prst="rect">
            <a:avLst/>
          </a:prstGeom>
          <a:solidFill>
            <a:srgbClr val="340D47"/>
          </a:solidFill>
        </p:spPr>
        <p:txBody>
          <a:bodyPr vert="horz" wrap="square" lIns="0" tIns="25400" rIns="0" bIns="0" rtlCol="0">
            <a:spAutoFit/>
          </a:bodyPr>
          <a:lstStyle/>
          <a:p>
            <a:pPr marL="99695" marR="76835">
              <a:lnSpc>
                <a:spcPct val="100000"/>
              </a:lnSpc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Instagram</a:t>
            </a:r>
            <a:r>
              <a:rPr lang="en-US" sz="1400" b="1" spc="48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>
                <a:solidFill>
                  <a:srgbClr val="FFFFFF"/>
                </a:solidFill>
                <a:latin typeface="Calibri"/>
                <a:cs typeface="Calibri"/>
              </a:rPr>
              <a:t>nfluencers</a:t>
            </a:r>
            <a:endParaRPr lang="en-US" sz="1400" b="1">
              <a:solidFill>
                <a:srgbClr val="FFFFFF"/>
              </a:solidFill>
              <a:latin typeface="Calibri"/>
              <a:cs typeface="Calibri"/>
            </a:endParaRPr>
          </a:p>
          <a:p>
            <a:pPr marL="99695" marR="76835">
              <a:lnSpc>
                <a:spcPct val="100000"/>
              </a:lnSpc>
              <a:spcBef>
                <a:spcPts val="200"/>
              </a:spcBef>
            </a:pPr>
            <a:r>
              <a:rPr lang="en-US" sz="1200">
                <a:solidFill>
                  <a:schemeClr val="bg2"/>
                </a:solidFill>
                <a:latin typeface="Calibri"/>
                <a:cs typeface="Calibri"/>
              </a:rPr>
              <a:t>Santosh Jadhav – MH |Pramod Prajapati  - MP | Robin Tyagi - UP</a:t>
            </a:r>
          </a:p>
        </p:txBody>
      </p:sp>
      <p:sp>
        <p:nvSpPr>
          <p:cNvPr id="37" name="object 76">
            <a:extLst>
              <a:ext uri="{FF2B5EF4-FFF2-40B4-BE49-F238E27FC236}">
                <a16:creationId xmlns:a16="http://schemas.microsoft.com/office/drawing/2014/main" id="{734CD97D-1034-9A95-057E-274EB3B9B9CB}"/>
              </a:ext>
            </a:extLst>
          </p:cNvPr>
          <p:cNvSpPr txBox="1"/>
          <p:nvPr/>
        </p:nvSpPr>
        <p:spPr>
          <a:xfrm>
            <a:off x="67607" y="4244928"/>
            <a:ext cx="4325075" cy="3821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Micro</a:t>
            </a:r>
            <a:r>
              <a:rPr sz="1200" b="1" spc="-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 spc="-1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influencers</a:t>
            </a:r>
            <a:r>
              <a:rPr sz="1200" b="1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-</a:t>
            </a:r>
            <a:r>
              <a:rPr sz="1200" b="1" spc="-3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From</a:t>
            </a:r>
            <a:r>
              <a:rPr sz="1200" spc="-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Tier</a:t>
            </a:r>
            <a:r>
              <a:rPr sz="1200" spc="-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1,2</a:t>
            </a:r>
            <a:r>
              <a:rPr sz="1200" spc="-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&amp;</a:t>
            </a:r>
            <a:r>
              <a:rPr sz="1200" spc="-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3</a:t>
            </a:r>
            <a:r>
              <a:rPr sz="1200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cities</a:t>
            </a:r>
            <a:r>
              <a:rPr sz="1200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having</a:t>
            </a:r>
            <a:r>
              <a:rPr sz="1200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a</a:t>
            </a:r>
            <a:r>
              <a:rPr sz="1200" spc="-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follower</a:t>
            </a:r>
            <a:r>
              <a:rPr sz="1200" spc="-3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base</a:t>
            </a:r>
            <a:r>
              <a:rPr sz="1200" b="1" spc="-1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between</a:t>
            </a:r>
            <a:r>
              <a:rPr sz="1200" b="1" spc="-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30k</a:t>
            </a:r>
            <a:r>
              <a:rPr sz="1200" b="1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 spc="-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-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80k</a:t>
            </a:r>
            <a:r>
              <a:rPr sz="1200" b="1" spc="-1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users</a:t>
            </a:r>
            <a:r>
              <a:rPr sz="1200" b="1" spc="-4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on</a:t>
            </a:r>
            <a:r>
              <a:rPr sz="1200" spc="-3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spc="-1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respective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social</a:t>
            </a:r>
            <a:r>
              <a:rPr sz="1200" spc="-2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media</a:t>
            </a:r>
            <a:r>
              <a:rPr sz="1200" spc="-1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 </a:t>
            </a:r>
            <a:r>
              <a:rPr sz="1200" spc="-1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accounts</a:t>
            </a:r>
            <a:endParaRPr sz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BDD7F4C-C746-DB14-71A9-F99131EE3C61}"/>
              </a:ext>
            </a:extLst>
          </p:cNvPr>
          <p:cNvCxnSpPr>
            <a:cxnSpLocks/>
          </p:cNvCxnSpPr>
          <p:nvPr/>
        </p:nvCxnSpPr>
        <p:spPr>
          <a:xfrm flipH="1">
            <a:off x="4456189" y="1001341"/>
            <a:ext cx="8991" cy="37013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AB28BF-0248-BABE-F982-C5E77E0ABD04}"/>
              </a:ext>
            </a:extLst>
          </p:cNvPr>
          <p:cNvGrpSpPr/>
          <p:nvPr/>
        </p:nvGrpSpPr>
        <p:grpSpPr>
          <a:xfrm>
            <a:off x="4685365" y="1054862"/>
            <a:ext cx="307975" cy="306705"/>
            <a:chOff x="111297" y="1020533"/>
            <a:chExt cx="307975" cy="306705"/>
          </a:xfrm>
        </p:grpSpPr>
        <p:sp>
          <p:nvSpPr>
            <p:cNvPr id="48" name="object 38">
              <a:extLst>
                <a:ext uri="{FF2B5EF4-FFF2-40B4-BE49-F238E27FC236}">
                  <a16:creationId xmlns:a16="http://schemas.microsoft.com/office/drawing/2014/main" id="{AFFD0A88-1DC2-7541-7412-E36D9C7E084B}"/>
                </a:ext>
              </a:extLst>
            </p:cNvPr>
            <p:cNvSpPr/>
            <p:nvPr/>
          </p:nvSpPr>
          <p:spPr>
            <a:xfrm>
              <a:off x="111297" y="1020533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3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3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7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3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59FC79-7D03-73ED-C254-B1469DCC2398}"/>
                </a:ext>
              </a:extLst>
            </p:cNvPr>
            <p:cNvSpPr txBox="1"/>
            <p:nvPr/>
          </p:nvSpPr>
          <p:spPr>
            <a:xfrm>
              <a:off x="169977" y="1033617"/>
              <a:ext cx="95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69DCD0D-4FE9-F6C3-5FBF-83D2F65C053E}"/>
              </a:ext>
            </a:extLst>
          </p:cNvPr>
          <p:cNvSpPr txBox="1"/>
          <p:nvPr/>
        </p:nvSpPr>
        <p:spPr>
          <a:xfrm>
            <a:off x="193622" y="1368984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through Mobile Messages</a:t>
            </a:r>
            <a:endParaRPr lang="en-US" sz="12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7" name="Diagram 66">
            <a:extLst>
              <a:ext uri="{FF2B5EF4-FFF2-40B4-BE49-F238E27FC236}">
                <a16:creationId xmlns:a16="http://schemas.microsoft.com/office/drawing/2014/main" id="{CFB70C90-B366-A5FF-6547-3CD3E157B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955171"/>
              </p:ext>
            </p:extLst>
          </p:nvPr>
        </p:nvGraphicFramePr>
        <p:xfrm>
          <a:off x="109765" y="1603765"/>
          <a:ext cx="4215956" cy="1090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053" name="Picture 5" descr="Farmer - Free people icons">
            <a:extLst>
              <a:ext uri="{FF2B5EF4-FFF2-40B4-BE49-F238E27FC236}">
                <a16:creationId xmlns:a16="http://schemas.microsoft.com/office/drawing/2014/main" id="{DD209D6D-A175-A9D9-88C6-593149069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61" y="1280617"/>
            <a:ext cx="463707" cy="46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Free Vector | Farmer using technology digital agriculture">
            <a:extLst>
              <a:ext uri="{FF2B5EF4-FFF2-40B4-BE49-F238E27FC236}">
                <a16:creationId xmlns:a16="http://schemas.microsoft.com/office/drawing/2014/main" id="{156124F6-7306-90E4-7A08-7B2A64518E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2" t="19391" r="19395" b="17212"/>
          <a:stretch/>
        </p:blipFill>
        <p:spPr bwMode="auto">
          <a:xfrm>
            <a:off x="156206" y="2392469"/>
            <a:ext cx="596972" cy="61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5F2BF49-373E-F54C-69B2-A331686796A4}"/>
              </a:ext>
            </a:extLst>
          </p:cNvPr>
          <p:cNvCxnSpPr>
            <a:cxnSpLocks/>
          </p:cNvCxnSpPr>
          <p:nvPr/>
        </p:nvCxnSpPr>
        <p:spPr>
          <a:xfrm flipH="1">
            <a:off x="0" y="4663844"/>
            <a:ext cx="12192000" cy="31913"/>
          </a:xfrm>
          <a:prstGeom prst="line">
            <a:avLst/>
          </a:prstGeom>
          <a:ln w="28575" cap="flat" cmpd="sng" algn="ctr">
            <a:solidFill>
              <a:schemeClr val="tx2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9096BD6-5B80-46DF-3569-C4A62D136F08}"/>
              </a:ext>
            </a:extLst>
          </p:cNvPr>
          <p:cNvSpPr/>
          <p:nvPr/>
        </p:nvSpPr>
        <p:spPr>
          <a:xfrm>
            <a:off x="101223" y="4935227"/>
            <a:ext cx="1826685" cy="1455517"/>
          </a:xfrm>
          <a:prstGeom prst="round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Networking and Collaborations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999F6F6-8EBF-5C34-38C6-DEF5EF7C7032}"/>
              </a:ext>
            </a:extLst>
          </p:cNvPr>
          <p:cNvCxnSpPr>
            <a:cxnSpLocks/>
          </p:cNvCxnSpPr>
          <p:nvPr/>
        </p:nvCxnSpPr>
        <p:spPr>
          <a:xfrm flipH="1">
            <a:off x="7974173" y="966555"/>
            <a:ext cx="8991" cy="37013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5FE1257-04E1-2AB2-A557-B0BC159EEF29}"/>
              </a:ext>
            </a:extLst>
          </p:cNvPr>
          <p:cNvGrpSpPr/>
          <p:nvPr/>
        </p:nvGrpSpPr>
        <p:grpSpPr>
          <a:xfrm>
            <a:off x="8131249" y="1075881"/>
            <a:ext cx="307975" cy="306705"/>
            <a:chOff x="111297" y="1020533"/>
            <a:chExt cx="307975" cy="306705"/>
          </a:xfrm>
        </p:grpSpPr>
        <p:sp>
          <p:nvSpPr>
            <p:cNvPr id="81" name="object 38">
              <a:extLst>
                <a:ext uri="{FF2B5EF4-FFF2-40B4-BE49-F238E27FC236}">
                  <a16:creationId xmlns:a16="http://schemas.microsoft.com/office/drawing/2014/main" id="{9771E764-28C6-3F37-63C2-5554D48A97DF}"/>
                </a:ext>
              </a:extLst>
            </p:cNvPr>
            <p:cNvSpPr/>
            <p:nvPr/>
          </p:nvSpPr>
          <p:spPr>
            <a:xfrm>
              <a:off x="111297" y="1020533"/>
              <a:ext cx="307975" cy="306705"/>
            </a:xfrm>
            <a:custGeom>
              <a:avLst/>
              <a:gdLst/>
              <a:ahLst/>
              <a:cxnLst/>
              <a:rect l="l" t="t" r="r" b="b"/>
              <a:pathLst>
                <a:path w="307975" h="306705">
                  <a:moveTo>
                    <a:pt x="153923" y="0"/>
                  </a:moveTo>
                  <a:lnTo>
                    <a:pt x="105290" y="7808"/>
                  </a:lnTo>
                  <a:lnTo>
                    <a:pt x="63038" y="29553"/>
                  </a:lnTo>
                  <a:lnTo>
                    <a:pt x="29711" y="62709"/>
                  </a:lnTo>
                  <a:lnTo>
                    <a:pt x="7851" y="104753"/>
                  </a:lnTo>
                  <a:lnTo>
                    <a:pt x="0" y="153162"/>
                  </a:lnTo>
                  <a:lnTo>
                    <a:pt x="7851" y="201570"/>
                  </a:lnTo>
                  <a:lnTo>
                    <a:pt x="29711" y="243614"/>
                  </a:lnTo>
                  <a:lnTo>
                    <a:pt x="63038" y="276770"/>
                  </a:lnTo>
                  <a:lnTo>
                    <a:pt x="105290" y="298515"/>
                  </a:lnTo>
                  <a:lnTo>
                    <a:pt x="153923" y="306324"/>
                  </a:lnTo>
                  <a:lnTo>
                    <a:pt x="202557" y="298515"/>
                  </a:lnTo>
                  <a:lnTo>
                    <a:pt x="244809" y="276770"/>
                  </a:lnTo>
                  <a:lnTo>
                    <a:pt x="278136" y="243614"/>
                  </a:lnTo>
                  <a:lnTo>
                    <a:pt x="299996" y="201570"/>
                  </a:lnTo>
                  <a:lnTo>
                    <a:pt x="307847" y="153162"/>
                  </a:lnTo>
                  <a:lnTo>
                    <a:pt x="299996" y="104753"/>
                  </a:lnTo>
                  <a:lnTo>
                    <a:pt x="278136" y="62709"/>
                  </a:lnTo>
                  <a:lnTo>
                    <a:pt x="244809" y="29553"/>
                  </a:lnTo>
                  <a:lnTo>
                    <a:pt x="202557" y="7808"/>
                  </a:lnTo>
                  <a:lnTo>
                    <a:pt x="153923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A088F8D-9095-69D2-A80C-BDFA0E9C2CAC}"/>
                </a:ext>
              </a:extLst>
            </p:cNvPr>
            <p:cNvSpPr txBox="1"/>
            <p:nvPr/>
          </p:nvSpPr>
          <p:spPr>
            <a:xfrm>
              <a:off x="169977" y="1033617"/>
              <a:ext cx="953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88" name="object 52">
            <a:extLst>
              <a:ext uri="{FF2B5EF4-FFF2-40B4-BE49-F238E27FC236}">
                <a16:creationId xmlns:a16="http://schemas.microsoft.com/office/drawing/2014/main" id="{54B85F15-B848-85DB-F173-D01A1B217DCB}"/>
              </a:ext>
            </a:extLst>
          </p:cNvPr>
          <p:cNvSpPr txBox="1"/>
          <p:nvPr/>
        </p:nvSpPr>
        <p:spPr>
          <a:xfrm>
            <a:off x="4465179" y="1075881"/>
            <a:ext cx="3066919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  <a:tabLst>
                <a:tab pos="824865" algn="l"/>
              </a:tabLst>
            </a:pPr>
            <a:r>
              <a:rPr sz="1500" b="1" baseline="1984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500" b="1">
                <a:solidFill>
                  <a:srgbClr val="1F4E79"/>
                </a:solidFill>
                <a:latin typeface="Calibri"/>
                <a:cs typeface="Calibri"/>
              </a:rPr>
              <a:t>Public Relations</a:t>
            </a:r>
          </a:p>
        </p:txBody>
      </p:sp>
      <p:sp>
        <p:nvSpPr>
          <p:cNvPr id="99" name="object 52">
            <a:extLst>
              <a:ext uri="{FF2B5EF4-FFF2-40B4-BE49-F238E27FC236}">
                <a16:creationId xmlns:a16="http://schemas.microsoft.com/office/drawing/2014/main" id="{1E634E1E-5B10-B0E3-0F5C-31DF76B39F64}"/>
              </a:ext>
            </a:extLst>
          </p:cNvPr>
          <p:cNvSpPr txBox="1"/>
          <p:nvPr/>
        </p:nvSpPr>
        <p:spPr>
          <a:xfrm>
            <a:off x="8189929" y="1089032"/>
            <a:ext cx="3066919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5"/>
              </a:spcBef>
              <a:tabLst>
                <a:tab pos="824865" algn="l"/>
              </a:tabLst>
            </a:pPr>
            <a:r>
              <a:rPr sz="1500" b="1" baseline="1984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z="1500" b="1">
                <a:solidFill>
                  <a:srgbClr val="1F4E79"/>
                </a:solidFill>
                <a:latin typeface="Calibri"/>
                <a:cs typeface="Calibri"/>
              </a:rPr>
              <a:t>Direct Marketing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709F49B-5491-ED08-7236-CCBB313D4E69}"/>
              </a:ext>
            </a:extLst>
          </p:cNvPr>
          <p:cNvSpPr txBox="1"/>
          <p:nvPr/>
        </p:nvSpPr>
        <p:spPr>
          <a:xfrm>
            <a:off x="4058206" y="3015436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and National Media Outlets</a:t>
            </a:r>
          </a:p>
        </p:txBody>
      </p:sp>
      <p:pic>
        <p:nvPicPr>
          <p:cNvPr id="2057" name="Picture 9" descr="DD Kisan - YouTube">
            <a:extLst>
              <a:ext uri="{FF2B5EF4-FFF2-40B4-BE49-F238E27FC236}">
                <a16:creationId xmlns:a16="http://schemas.microsoft.com/office/drawing/2014/main" id="{C3007EE5-85A6-461E-1190-528064A3B3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0" t="4537" r="9613" b="8397"/>
          <a:stretch/>
        </p:blipFill>
        <p:spPr bwMode="auto">
          <a:xfrm>
            <a:off x="4499129" y="3860103"/>
            <a:ext cx="646453" cy="68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Latest Agriculture News in Hindi | Kisan Samvad TV">
            <a:extLst>
              <a:ext uri="{FF2B5EF4-FFF2-40B4-BE49-F238E27FC236}">
                <a16:creationId xmlns:a16="http://schemas.microsoft.com/office/drawing/2014/main" id="{23E1EF1B-E5EA-EE4C-A802-0E173299C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664" y="3846891"/>
            <a:ext cx="646453" cy="70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object 74">
            <a:extLst>
              <a:ext uri="{FF2B5EF4-FFF2-40B4-BE49-F238E27FC236}">
                <a16:creationId xmlns:a16="http://schemas.microsoft.com/office/drawing/2014/main" id="{6A54E76B-8EF3-D170-5D45-F722238F0276}"/>
              </a:ext>
            </a:extLst>
          </p:cNvPr>
          <p:cNvSpPr txBox="1"/>
          <p:nvPr/>
        </p:nvSpPr>
        <p:spPr>
          <a:xfrm>
            <a:off x="4528687" y="3263752"/>
            <a:ext cx="3401314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1100">
                <a:latin typeface="Calibri"/>
                <a:cs typeface="Calibri"/>
              </a:rPr>
              <a:t>Share compelling stories with local and national media highlighting the platform’s transformative impact on farming and environmental sustainability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BCE4C99-62CD-8610-04DE-564563296B20}"/>
              </a:ext>
            </a:extLst>
          </p:cNvPr>
          <p:cNvSpPr txBox="1"/>
          <p:nvPr/>
        </p:nvSpPr>
        <p:spPr>
          <a:xfrm>
            <a:off x="4250082" y="1371885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Press Releases</a:t>
            </a:r>
          </a:p>
        </p:txBody>
      </p:sp>
      <p:pic>
        <p:nvPicPr>
          <p:cNvPr id="2061" name="Picture 13" descr="Krishi Jagran Business - YouTube">
            <a:extLst>
              <a:ext uri="{FF2B5EF4-FFF2-40B4-BE49-F238E27FC236}">
                <a16:creationId xmlns:a16="http://schemas.microsoft.com/office/drawing/2014/main" id="{0BCE2892-DFB9-3A0A-8DE7-3BF497704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1" t="14861" r="8595" b="18774"/>
          <a:stretch/>
        </p:blipFill>
        <p:spPr bwMode="auto">
          <a:xfrm>
            <a:off x="7167378" y="3907959"/>
            <a:ext cx="657178" cy="56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0" name="Picture 2359" descr="A green and black logo&#10;&#10;Description automatically generated">
            <a:extLst>
              <a:ext uri="{FF2B5EF4-FFF2-40B4-BE49-F238E27FC236}">
                <a16:creationId xmlns:a16="http://schemas.microsoft.com/office/drawing/2014/main" id="{D674444F-87F2-EAF4-DFF4-115D544497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2233" y="3793275"/>
            <a:ext cx="973323" cy="892915"/>
          </a:xfrm>
          <a:prstGeom prst="rect">
            <a:avLst/>
          </a:prstGeom>
        </p:spPr>
      </p:pic>
      <p:pic>
        <p:nvPicPr>
          <p:cNvPr id="2374" name="Picture 2373" descr="A black and white line art of a mail&#10;&#10;Description automatically generated">
            <a:extLst>
              <a:ext uri="{FF2B5EF4-FFF2-40B4-BE49-F238E27FC236}">
                <a16:creationId xmlns:a16="http://schemas.microsoft.com/office/drawing/2014/main" id="{2B0E0677-B469-980F-BFB3-970EFFBE263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263" t="23354" r="11250" b="19067"/>
          <a:stretch/>
        </p:blipFill>
        <p:spPr>
          <a:xfrm>
            <a:off x="8142001" y="1696758"/>
            <a:ext cx="710354" cy="419261"/>
          </a:xfrm>
          <a:prstGeom prst="rect">
            <a:avLst/>
          </a:prstGeom>
        </p:spPr>
      </p:pic>
      <p:pic>
        <p:nvPicPr>
          <p:cNvPr id="2375" name="Picture 2374" descr="A black and red logo with a gold circle around it&#10;&#10;Description automatically generated">
            <a:extLst>
              <a:ext uri="{FF2B5EF4-FFF2-40B4-BE49-F238E27FC236}">
                <a16:creationId xmlns:a16="http://schemas.microsoft.com/office/drawing/2014/main" id="{4DF6DDF1-499B-2130-7F55-AB8D3B2B1B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1047" y="2297069"/>
            <a:ext cx="981004" cy="632556"/>
          </a:xfrm>
          <a:prstGeom prst="rect">
            <a:avLst/>
          </a:prstGeom>
        </p:spPr>
      </p:pic>
      <p:pic>
        <p:nvPicPr>
          <p:cNvPr id="2376" name="Picture 2375" descr="A close up of a logo&#10;&#10;Description automatically generated">
            <a:extLst>
              <a:ext uri="{FF2B5EF4-FFF2-40B4-BE49-F238E27FC236}">
                <a16:creationId xmlns:a16="http://schemas.microsoft.com/office/drawing/2014/main" id="{002BC8DD-3403-11B0-19C4-5D11C0FF7C7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64628" y="2374295"/>
            <a:ext cx="633791" cy="538627"/>
          </a:xfrm>
          <a:prstGeom prst="rect">
            <a:avLst/>
          </a:prstGeom>
        </p:spPr>
      </p:pic>
      <p:pic>
        <p:nvPicPr>
          <p:cNvPr id="2389" name="Picture 2388" descr="A circular logo with a person in a hat&#10;&#10;Description automatically generated">
            <a:extLst>
              <a:ext uri="{FF2B5EF4-FFF2-40B4-BE49-F238E27FC236}">
                <a16:creationId xmlns:a16="http://schemas.microsoft.com/office/drawing/2014/main" id="{0B595357-11A6-DE25-3A0C-18B1B658751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01454" y="2315558"/>
            <a:ext cx="974423" cy="654504"/>
          </a:xfrm>
          <a:prstGeom prst="rect">
            <a:avLst/>
          </a:prstGeom>
        </p:spPr>
      </p:pic>
      <p:sp>
        <p:nvSpPr>
          <p:cNvPr id="2390" name="TextBox 2389">
            <a:extLst>
              <a:ext uri="{FF2B5EF4-FFF2-40B4-BE49-F238E27FC236}">
                <a16:creationId xmlns:a16="http://schemas.microsoft.com/office/drawing/2014/main" id="{D394CC34-784D-C7E5-2D98-92FE807BDF95}"/>
              </a:ext>
            </a:extLst>
          </p:cNvPr>
          <p:cNvSpPr txBox="1"/>
          <p:nvPr/>
        </p:nvSpPr>
        <p:spPr>
          <a:xfrm>
            <a:off x="8781910" y="1674298"/>
            <a:ext cx="341008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/>
              <a:t>Send targeted emails to breweries and distilleries about the platform’s promotions and relevant news.</a:t>
            </a:r>
          </a:p>
        </p:txBody>
      </p:sp>
      <p:pic>
        <p:nvPicPr>
          <p:cNvPr id="2391" name="Picture 2390" descr="A black and white logo&#10;&#10;Description automatically generated">
            <a:extLst>
              <a:ext uri="{FF2B5EF4-FFF2-40B4-BE49-F238E27FC236}">
                <a16:creationId xmlns:a16="http://schemas.microsoft.com/office/drawing/2014/main" id="{163071A8-B515-0753-89DF-92C3425FA4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11785" y="2234593"/>
            <a:ext cx="768048" cy="840619"/>
          </a:xfrm>
          <a:prstGeom prst="rect">
            <a:avLst/>
          </a:prstGeom>
        </p:spPr>
      </p:pic>
      <p:sp>
        <p:nvSpPr>
          <p:cNvPr id="117" name="object 74">
            <a:extLst>
              <a:ext uri="{FF2B5EF4-FFF2-40B4-BE49-F238E27FC236}">
                <a16:creationId xmlns:a16="http://schemas.microsoft.com/office/drawing/2014/main" id="{69730724-7F6B-2755-6CFD-F8D88F982F3E}"/>
              </a:ext>
            </a:extLst>
          </p:cNvPr>
          <p:cNvSpPr txBox="1"/>
          <p:nvPr/>
        </p:nvSpPr>
        <p:spPr>
          <a:xfrm>
            <a:off x="4565712" y="1731563"/>
            <a:ext cx="3293592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r>
              <a:rPr lang="en-US" sz="1100"/>
              <a:t>Issue press releases to spotlight the platform's launch, impact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BABE440-4B75-D63E-8DB7-668ABB5FCB38}"/>
              </a:ext>
            </a:extLst>
          </p:cNvPr>
          <p:cNvSpPr txBox="1"/>
          <p:nvPr/>
        </p:nvSpPr>
        <p:spPr>
          <a:xfrm>
            <a:off x="8082248" y="2098033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Kiosks in APMCs or Mandis</a:t>
            </a:r>
          </a:p>
        </p:txBody>
      </p:sp>
      <p:sp>
        <p:nvSpPr>
          <p:cNvPr id="125" name="object 74">
            <a:extLst>
              <a:ext uri="{FF2B5EF4-FFF2-40B4-BE49-F238E27FC236}">
                <a16:creationId xmlns:a16="http://schemas.microsoft.com/office/drawing/2014/main" id="{26D6F1A4-9F8C-66A1-2939-4F7F679B4B0C}"/>
              </a:ext>
            </a:extLst>
          </p:cNvPr>
          <p:cNvSpPr txBox="1"/>
          <p:nvPr/>
        </p:nvSpPr>
        <p:spPr>
          <a:xfrm>
            <a:off x="8015741" y="2475195"/>
            <a:ext cx="421595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1200">
                <a:latin typeface="Calibri"/>
                <a:cs typeface="Calibri"/>
              </a:rPr>
              <a:t>Creating a physical presence in </a:t>
            </a:r>
            <a:r>
              <a:rPr lang="en-US" sz="1200" b="1">
                <a:solidFill>
                  <a:srgbClr val="00B050"/>
                </a:solidFill>
                <a:latin typeface="Calibri"/>
                <a:cs typeface="Calibri"/>
              </a:rPr>
              <a:t>Agricultural Produce Market Committees (APMCs) or Mandis</a:t>
            </a:r>
          </a:p>
        </p:txBody>
      </p:sp>
      <p:graphicFrame>
        <p:nvGraphicFramePr>
          <p:cNvPr id="2306" name="Diagram 2305">
            <a:extLst>
              <a:ext uri="{FF2B5EF4-FFF2-40B4-BE49-F238E27FC236}">
                <a16:creationId xmlns:a16="http://schemas.microsoft.com/office/drawing/2014/main" id="{7A479951-E4F3-ECE1-7CC3-A461E3253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514705"/>
              </p:ext>
            </p:extLst>
          </p:nvPr>
        </p:nvGraphicFramePr>
        <p:xfrm>
          <a:off x="8372076" y="3029127"/>
          <a:ext cx="3530026" cy="134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pic>
        <p:nvPicPr>
          <p:cNvPr id="2063" name="Picture 15" descr="Kiosk Icon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B1A8B8E7-EAE2-C568-594B-13974DFAE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6" t="9849" r="4163" b="10447"/>
          <a:stretch/>
        </p:blipFill>
        <p:spPr bwMode="auto">
          <a:xfrm>
            <a:off x="8901590" y="2868059"/>
            <a:ext cx="2040063" cy="176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2A66BA40-B699-7A79-D5CF-1DD632522F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5287528"/>
              </p:ext>
            </p:extLst>
          </p:nvPr>
        </p:nvGraphicFramePr>
        <p:xfrm>
          <a:off x="2028588" y="5699961"/>
          <a:ext cx="3445819" cy="1119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FA561E1-AE8A-2AAB-8A3E-AC4F469E4E9E}"/>
              </a:ext>
            </a:extLst>
          </p:cNvPr>
          <p:cNvSpPr txBox="1"/>
          <p:nvPr/>
        </p:nvSpPr>
        <p:spPr>
          <a:xfrm>
            <a:off x="1573847" y="4703454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Mandis or APMCs</a:t>
            </a:r>
            <a:endParaRPr lang="en-US" sz="12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F77C230-AE57-F38A-1F77-597CCDCA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928730"/>
              </p:ext>
            </p:extLst>
          </p:nvPr>
        </p:nvGraphicFramePr>
        <p:xfrm>
          <a:off x="3429193" y="5060767"/>
          <a:ext cx="2019300" cy="54292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329404442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1195919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Number of APMCs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8453876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Maharashtra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8179423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Uttar Pradesh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21643336"/>
                  </a:ext>
                </a:extLst>
              </a:tr>
            </a:tbl>
          </a:graphicData>
        </a:graphic>
      </p:graphicFrame>
      <p:pic>
        <p:nvPicPr>
          <p:cNvPr id="1030" name="Picture 6" descr="How Are Mandis Regulated In India? - Indian Mandi System -">
            <a:extLst>
              <a:ext uri="{FF2B5EF4-FFF2-40B4-BE49-F238E27FC236}">
                <a16:creationId xmlns:a16="http://schemas.microsoft.com/office/drawing/2014/main" id="{3C46EF4D-1DD1-56D7-C852-EBF176DAC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755" y="4954357"/>
            <a:ext cx="1177054" cy="66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F03B23-D00F-91C3-7342-814034769374}"/>
              </a:ext>
            </a:extLst>
          </p:cNvPr>
          <p:cNvCxnSpPr>
            <a:cxnSpLocks/>
          </p:cNvCxnSpPr>
          <p:nvPr/>
        </p:nvCxnSpPr>
        <p:spPr>
          <a:xfrm>
            <a:off x="5549173" y="4679800"/>
            <a:ext cx="12781" cy="2178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A63862A-D740-AF64-05DC-DC41ACF589D9}"/>
              </a:ext>
            </a:extLst>
          </p:cNvPr>
          <p:cNvSpPr txBox="1"/>
          <p:nvPr/>
        </p:nvSpPr>
        <p:spPr>
          <a:xfrm>
            <a:off x="5459445" y="4727401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Collaboration with Associations</a:t>
            </a:r>
            <a:endParaRPr lang="en-US" sz="12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37101111-B99E-972A-3349-9FF923561E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827804"/>
              </p:ext>
            </p:extLst>
          </p:nvPr>
        </p:nvGraphicFramePr>
        <p:xfrm>
          <a:off x="5730283" y="5911500"/>
          <a:ext cx="3057097" cy="1015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4" r:lo="rId35" r:qs="rId36" r:cs="rId37"/>
          </a:graphicData>
        </a:graphic>
      </p:graphicFrame>
      <p:pic>
        <p:nvPicPr>
          <p:cNvPr id="1033" name="Picture 9" descr="Bharatiya Kisan Union (@IndianFarmers_) / X">
            <a:extLst>
              <a:ext uri="{FF2B5EF4-FFF2-40B4-BE49-F238E27FC236}">
                <a16:creationId xmlns:a16="http://schemas.microsoft.com/office/drawing/2014/main" id="{360D1280-01C6-C7CB-E407-6DED555A7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061" y="5029421"/>
            <a:ext cx="810569" cy="81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Lok Sangharsh Morcha Purnia's Photos">
            <a:extLst>
              <a:ext uri="{FF2B5EF4-FFF2-40B4-BE49-F238E27FC236}">
                <a16:creationId xmlns:a16="http://schemas.microsoft.com/office/drawing/2014/main" id="{A1CFD179-C160-0F44-EF7B-72CC1CE3E6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 t="1" r="13145" b="6012"/>
          <a:stretch/>
        </p:blipFill>
        <p:spPr bwMode="auto">
          <a:xfrm>
            <a:off x="6532486" y="5097993"/>
            <a:ext cx="810569" cy="70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राष्ट्रीय किसान महासंघ">
            <a:extLst>
              <a:ext uri="{FF2B5EF4-FFF2-40B4-BE49-F238E27FC236}">
                <a16:creationId xmlns:a16="http://schemas.microsoft.com/office/drawing/2014/main" id="{0A92B33C-CA34-8010-5C94-701818B13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450" y="5090043"/>
            <a:ext cx="764479" cy="76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All India Kisan Sabha - Wikipedia">
            <a:extLst>
              <a:ext uri="{FF2B5EF4-FFF2-40B4-BE49-F238E27FC236}">
                <a16:creationId xmlns:a16="http://schemas.microsoft.com/office/drawing/2014/main" id="{74786F6C-4059-7985-A7C3-E6291C3F8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09"/>
          <a:stretch/>
        </p:blipFill>
        <p:spPr bwMode="auto">
          <a:xfrm>
            <a:off x="8233548" y="5134191"/>
            <a:ext cx="712558" cy="67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649F2F-AA74-B093-AE16-93A4843250C2}"/>
              </a:ext>
            </a:extLst>
          </p:cNvPr>
          <p:cNvCxnSpPr>
            <a:cxnSpLocks/>
          </p:cNvCxnSpPr>
          <p:nvPr/>
        </p:nvCxnSpPr>
        <p:spPr>
          <a:xfrm>
            <a:off x="9050479" y="4656147"/>
            <a:ext cx="12781" cy="21782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5EFF176-76AF-E033-BFB0-6EC312598580}"/>
              </a:ext>
            </a:extLst>
          </p:cNvPr>
          <p:cNvSpPr txBox="1"/>
          <p:nvPr/>
        </p:nvSpPr>
        <p:spPr>
          <a:xfrm>
            <a:off x="8662120" y="4744364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Collaboration with NGO and Govt.</a:t>
            </a:r>
            <a:endParaRPr lang="en-US" sz="120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B9325671-74E3-2BE1-E8B0-A9BDC6C46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6191141"/>
              </p:ext>
            </p:extLst>
          </p:nvPr>
        </p:nvGraphicFramePr>
        <p:xfrm>
          <a:off x="9091812" y="6003834"/>
          <a:ext cx="3063479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3" r:lo="rId44" r:qs="rId45" r:cs="rId46"/>
          </a:graphicData>
        </a:graphic>
      </p:graphicFrame>
      <p:pic>
        <p:nvPicPr>
          <p:cNvPr id="1041" name="Picture 17" descr="Manavlok Ambajogai - YouTube">
            <a:extLst>
              <a:ext uri="{FF2B5EF4-FFF2-40B4-BE49-F238E27FC236}">
                <a16:creationId xmlns:a16="http://schemas.microsoft.com/office/drawing/2014/main" id="{5A6669B4-9362-85B0-9858-1B76E5C711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3" t="10348" r="22731" b="11455"/>
          <a:stretch/>
        </p:blipFill>
        <p:spPr bwMode="auto">
          <a:xfrm>
            <a:off x="9785439" y="5111451"/>
            <a:ext cx="555079" cy="78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Government of Bihar | LinkedIn">
            <a:extLst>
              <a:ext uri="{FF2B5EF4-FFF2-40B4-BE49-F238E27FC236}">
                <a16:creationId xmlns:a16="http://schemas.microsoft.com/office/drawing/2014/main" id="{F5C836BF-D89C-2923-49CC-2D98B8EAC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168" y="5072259"/>
            <a:ext cx="782263" cy="78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What are the meanings of the fishes and bow in the logo of the Uttar  Pradesh government? - Quora">
            <a:extLst>
              <a:ext uri="{FF2B5EF4-FFF2-40B4-BE49-F238E27FC236}">
                <a16:creationId xmlns:a16="http://schemas.microsoft.com/office/drawing/2014/main" id="{DF8BF67C-002F-9F35-F06B-8CDECF6B7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686" y="5105167"/>
            <a:ext cx="734368" cy="74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25" descr="Ngo Logo&quot; Images – Browse 88 Stock Photos, Vectors, and ...">
            <a:extLst>
              <a:ext uri="{FF2B5EF4-FFF2-40B4-BE49-F238E27FC236}">
                <a16:creationId xmlns:a16="http://schemas.microsoft.com/office/drawing/2014/main" id="{CDDE122B-040F-D036-B463-B3BBA322C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7" t="26205" r="22545" b="24569"/>
          <a:stretch/>
        </p:blipFill>
        <p:spPr bwMode="auto">
          <a:xfrm>
            <a:off x="9168996" y="5280157"/>
            <a:ext cx="525431" cy="45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734B13-DD3C-9255-252F-897C8BDC447C}"/>
              </a:ext>
            </a:extLst>
          </p:cNvPr>
          <p:cNvSpPr txBox="1"/>
          <p:nvPr/>
        </p:nvSpPr>
        <p:spPr>
          <a:xfrm>
            <a:off x="8049032" y="1388532"/>
            <a:ext cx="4073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 Marketing </a:t>
            </a:r>
          </a:p>
        </p:txBody>
      </p:sp>
    </p:spTree>
    <p:extLst>
      <p:ext uri="{BB962C8B-B14F-4D97-AF65-F5344CB8AC3E}">
        <p14:creationId xmlns:p14="http://schemas.microsoft.com/office/powerpoint/2010/main" val="111745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56489" y="1297794"/>
            <a:ext cx="1576070" cy="753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50" spc="-10">
                <a:solidFill>
                  <a:srgbClr val="FFFFFF"/>
                </a:solidFill>
                <a:latin typeface="Calibri"/>
                <a:cs typeface="Calibri"/>
              </a:rPr>
              <a:t>Personalization</a:t>
            </a:r>
            <a:endParaRPr sz="1950">
              <a:latin typeface="Calibri"/>
              <a:cs typeface="Calibri"/>
            </a:endParaRPr>
          </a:p>
          <a:p>
            <a:pPr marL="13970" algn="ctr">
              <a:lnSpc>
                <a:spcPct val="100000"/>
              </a:lnSpc>
              <a:spcBef>
                <a:spcPts val="80"/>
              </a:spcBef>
            </a:pPr>
            <a:r>
              <a:rPr sz="2750" b="1">
                <a:solidFill>
                  <a:srgbClr val="FFFFFF"/>
                </a:solidFill>
                <a:latin typeface="Calibri"/>
                <a:cs typeface="Calibri"/>
              </a:rPr>
              <a:t>45%</a:t>
            </a:r>
            <a:r>
              <a:rPr sz="2750" b="1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50" spc="-2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74211" y="110002"/>
            <a:ext cx="266090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2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sz="2800" b="1" spc="-2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217996"/>
            <a:ext cx="4659086" cy="210358"/>
          </a:xfrm>
          <a:custGeom>
            <a:avLst/>
            <a:gdLst/>
            <a:ahLst/>
            <a:cxnLst/>
            <a:rect l="l" t="t" r="r" b="b"/>
            <a:pathLst>
              <a:path w="4205605" h="231775">
                <a:moveTo>
                  <a:pt x="4205605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205605" y="231457"/>
                </a:lnTo>
                <a:lnTo>
                  <a:pt x="4205605" y="135001"/>
                </a:lnTo>
                <a:close/>
              </a:path>
              <a:path w="4205605" h="231775">
                <a:moveTo>
                  <a:pt x="4205605" y="0"/>
                </a:moveTo>
                <a:lnTo>
                  <a:pt x="0" y="0"/>
                </a:lnTo>
                <a:lnTo>
                  <a:pt x="0" y="96456"/>
                </a:lnTo>
                <a:lnTo>
                  <a:pt x="4205605" y="96456"/>
                </a:lnTo>
                <a:lnTo>
                  <a:pt x="4205605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35114" y="217880"/>
            <a:ext cx="5056251" cy="247399"/>
          </a:xfrm>
          <a:custGeom>
            <a:avLst/>
            <a:gdLst/>
            <a:ahLst/>
            <a:cxnLst/>
            <a:rect l="l" t="t" r="r" b="b"/>
            <a:pathLst>
              <a:path w="4205605" h="245745">
                <a:moveTo>
                  <a:pt x="4205592" y="143129"/>
                </a:moveTo>
                <a:lnTo>
                  <a:pt x="0" y="143129"/>
                </a:lnTo>
                <a:lnTo>
                  <a:pt x="0" y="245287"/>
                </a:lnTo>
                <a:lnTo>
                  <a:pt x="4205592" y="245287"/>
                </a:lnTo>
                <a:lnTo>
                  <a:pt x="4205592" y="143129"/>
                </a:lnTo>
                <a:close/>
              </a:path>
              <a:path w="4205605" h="245745">
                <a:moveTo>
                  <a:pt x="4205592" y="0"/>
                </a:moveTo>
                <a:lnTo>
                  <a:pt x="0" y="0"/>
                </a:lnTo>
                <a:lnTo>
                  <a:pt x="0" y="102171"/>
                </a:lnTo>
                <a:lnTo>
                  <a:pt x="4205592" y="102171"/>
                </a:lnTo>
                <a:lnTo>
                  <a:pt x="4205592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41604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19">
                <a:moveTo>
                  <a:pt x="0" y="502920"/>
                </a:moveTo>
                <a:lnTo>
                  <a:pt x="12192000" y="502920"/>
                </a:lnTo>
                <a:lnTo>
                  <a:pt x="12192000" y="0"/>
                </a:lnTo>
                <a:lnTo>
                  <a:pt x="0" y="0"/>
                </a:lnTo>
                <a:lnTo>
                  <a:pt x="0" y="502920"/>
                </a:lnTo>
                <a:close/>
              </a:path>
            </a:pathLst>
          </a:custGeom>
          <a:solidFill>
            <a:srgbClr val="1F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88894" y="241439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69996" y="4534916"/>
            <a:ext cx="34975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585" marR="5080" indent="-9652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Partners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sz="1800" b="1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opportunity</a:t>
            </a:r>
            <a:r>
              <a:rPr sz="18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come</a:t>
            </a: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8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inventions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4655" y="2599436"/>
            <a:ext cx="12020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92339" y="3098038"/>
            <a:ext cx="170180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Reaching</a:t>
            </a:r>
            <a:r>
              <a:rPr sz="18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certain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threshold,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Nimbus</a:t>
            </a:r>
            <a:r>
              <a:rPr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land</a:t>
            </a:r>
            <a:r>
              <a:rPr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expanded geographically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involve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>
                <a:solidFill>
                  <a:srgbClr val="FFFFFF"/>
                </a:solidFill>
                <a:latin typeface="Calibri"/>
                <a:cs typeface="Calibri"/>
              </a:rPr>
              <a:t>audiences </a:t>
            </a: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9BC7C3-F165-70B6-AD2B-FE6DBBD7268E}"/>
              </a:ext>
            </a:extLst>
          </p:cNvPr>
          <p:cNvSpPr txBox="1"/>
          <p:nvPr/>
        </p:nvSpPr>
        <p:spPr>
          <a:xfrm>
            <a:off x="451117" y="1252073"/>
            <a:ext cx="9868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https://nsi.gov.in/study-materials/Overview_of_Alcohol_Production_07042020.pdf</a:t>
            </a:r>
          </a:p>
        </p:txBody>
      </p:sp>
      <p:pic>
        <p:nvPicPr>
          <p:cNvPr id="71" name="Picture 70" descr="A magnifying glass and a book&#10;&#10;Description automatically generated">
            <a:extLst>
              <a:ext uri="{FF2B5EF4-FFF2-40B4-BE49-F238E27FC236}">
                <a16:creationId xmlns:a16="http://schemas.microsoft.com/office/drawing/2014/main" id="{4081E54D-AA89-EEAB-CA9E-10760AD7D9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" y="1329503"/>
            <a:ext cx="388547" cy="38854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8438C33-24E0-D8E6-CEAE-B14F5AA751A4}"/>
              </a:ext>
            </a:extLst>
          </p:cNvPr>
          <p:cNvSpPr txBox="1"/>
          <p:nvPr/>
        </p:nvSpPr>
        <p:spPr>
          <a:xfrm>
            <a:off x="462472" y="1709296"/>
            <a:ext cx="11512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https://www.thehindu.com/news/cities/Kochi/12-lakh-kg-of-damaged-foodgrains-sold-off-for-making-cattle-feed/article66463487.ece </a:t>
            </a:r>
          </a:p>
        </p:txBody>
      </p:sp>
      <p:pic>
        <p:nvPicPr>
          <p:cNvPr id="74" name="Picture 73" descr="A magnifying glass and a book&#10;&#10;Description automatically generated">
            <a:extLst>
              <a:ext uri="{FF2B5EF4-FFF2-40B4-BE49-F238E27FC236}">
                <a16:creationId xmlns:a16="http://schemas.microsoft.com/office/drawing/2014/main" id="{2F8A117B-61AF-DADC-FB73-DA3CDB7365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" y="1806384"/>
            <a:ext cx="388547" cy="388547"/>
          </a:xfrm>
          <a:prstGeom prst="rect">
            <a:avLst/>
          </a:prstGeom>
        </p:spPr>
      </p:pic>
      <p:pic>
        <p:nvPicPr>
          <p:cNvPr id="75" name="Picture 74" descr="A magnifying glass and a book&#10;&#10;Description automatically generated">
            <a:extLst>
              <a:ext uri="{FF2B5EF4-FFF2-40B4-BE49-F238E27FC236}">
                <a16:creationId xmlns:a16="http://schemas.microsoft.com/office/drawing/2014/main" id="{6426AA86-8408-C152-8C74-400A4CDE75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5" y="2338285"/>
            <a:ext cx="388547" cy="3885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9E5651-4F04-D7ED-D037-421B1FF7CCB4}"/>
              </a:ext>
            </a:extLst>
          </p:cNvPr>
          <p:cNvSpPr txBox="1"/>
          <p:nvPr/>
        </p:nvSpPr>
        <p:spPr>
          <a:xfrm>
            <a:off x="20494" y="778797"/>
            <a:ext cx="8105158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50" b="1" i="1">
                <a:solidFill>
                  <a:schemeClr val="bg1"/>
                </a:solidFill>
              </a:rPr>
              <a:t> Key Articles and research underpinning our strategy to address crop waste</a:t>
            </a:r>
            <a:endParaRPr lang="en-IN" sz="14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88D42-AFA5-BE7E-E9E5-C0537B0D700D}"/>
              </a:ext>
            </a:extLst>
          </p:cNvPr>
          <p:cNvSpPr txBox="1"/>
          <p:nvPr/>
        </p:nvSpPr>
        <p:spPr>
          <a:xfrm>
            <a:off x="473825" y="2300853"/>
            <a:ext cx="11163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https://desagri.gov.in/wp-content/uploads/2023/05/Agricultural-Statistics-at-a-Glance-2022.pdf </a:t>
            </a:r>
          </a:p>
        </p:txBody>
      </p:sp>
      <p:pic>
        <p:nvPicPr>
          <p:cNvPr id="6" name="Picture 5" descr="A magnifying glass and a book&#10;&#10;Description automatically generated">
            <a:extLst>
              <a:ext uri="{FF2B5EF4-FFF2-40B4-BE49-F238E27FC236}">
                <a16:creationId xmlns:a16="http://schemas.microsoft.com/office/drawing/2014/main" id="{0E381CD7-C0E0-2AE0-76E1-AA01E21224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8" y="2807063"/>
            <a:ext cx="388547" cy="388547"/>
          </a:xfrm>
          <a:prstGeom prst="rect">
            <a:avLst/>
          </a:prstGeom>
        </p:spPr>
      </p:pic>
      <p:pic>
        <p:nvPicPr>
          <p:cNvPr id="7" name="Picture 6" descr="A magnifying glass and a book&#10;&#10;Description automatically generated">
            <a:extLst>
              <a:ext uri="{FF2B5EF4-FFF2-40B4-BE49-F238E27FC236}">
                <a16:creationId xmlns:a16="http://schemas.microsoft.com/office/drawing/2014/main" id="{04752920-7692-6DEC-F21A-A079D20BEA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8" y="3397087"/>
            <a:ext cx="388547" cy="388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259C7D-DB5A-BADA-CB91-C8F491FB4DED}"/>
              </a:ext>
            </a:extLst>
          </p:cNvPr>
          <p:cNvSpPr txBox="1"/>
          <p:nvPr/>
        </p:nvSpPr>
        <p:spPr>
          <a:xfrm>
            <a:off x="462472" y="2731744"/>
            <a:ext cx="11717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https://www.indiatoday.in/india/story/india-grows-more-food-wastes-more-while-more-go-hungry-1752107-2020-12-22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6DE416-DB1C-0A5E-C622-F87222820C59}"/>
              </a:ext>
            </a:extLst>
          </p:cNvPr>
          <p:cNvSpPr txBox="1"/>
          <p:nvPr/>
        </p:nvSpPr>
        <p:spPr>
          <a:xfrm>
            <a:off x="481849" y="3327802"/>
            <a:ext cx="11154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https://nsi.gov.in/study-materials/Overview_of_Alcohol_Production_07042020.pdf </a:t>
            </a:r>
          </a:p>
        </p:txBody>
      </p:sp>
      <p:pic>
        <p:nvPicPr>
          <p:cNvPr id="17" name="Picture 16" descr="A magnifying glass and a book&#10;&#10;Description automatically generated">
            <a:extLst>
              <a:ext uri="{FF2B5EF4-FFF2-40B4-BE49-F238E27FC236}">
                <a16:creationId xmlns:a16="http://schemas.microsoft.com/office/drawing/2014/main" id="{D945D20C-9492-F4FD-A9B3-CB6619F43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6" y="4389643"/>
            <a:ext cx="388547" cy="388547"/>
          </a:xfrm>
          <a:prstGeom prst="rect">
            <a:avLst/>
          </a:prstGeom>
        </p:spPr>
      </p:pic>
      <p:pic>
        <p:nvPicPr>
          <p:cNvPr id="18" name="Picture 17" descr="A magnifying glass and a book&#10;&#10;Description automatically generated">
            <a:extLst>
              <a:ext uri="{FF2B5EF4-FFF2-40B4-BE49-F238E27FC236}">
                <a16:creationId xmlns:a16="http://schemas.microsoft.com/office/drawing/2014/main" id="{6C8A5A02-1C43-DA3F-D08D-1320ACD8E0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6" y="3893365"/>
            <a:ext cx="388547" cy="3885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1A6364-18D8-420A-6C71-9B80D302CD51}"/>
              </a:ext>
            </a:extLst>
          </p:cNvPr>
          <p:cNvSpPr txBox="1"/>
          <p:nvPr/>
        </p:nvSpPr>
        <p:spPr>
          <a:xfrm>
            <a:off x="459354" y="3804865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https://pib.gov.in/Pressreleaseshare.aspx?PRID=1562702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C0526-958A-E64C-9C3B-14301904A976}"/>
              </a:ext>
            </a:extLst>
          </p:cNvPr>
          <p:cNvSpPr txBox="1"/>
          <p:nvPr/>
        </p:nvSpPr>
        <p:spPr>
          <a:xfrm>
            <a:off x="459354" y="4341964"/>
            <a:ext cx="114927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2">
                    <a:lumMod val="60000"/>
                    <a:lumOff val="40000"/>
                  </a:schemeClr>
                </a:solidFill>
              </a:rPr>
              <a:t>https://www.mydrinkbeverages.com/alcoholic-beverage-development-based-on-starchy-materials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02515E-C7A0-3C6B-11A8-6BB5C8066882}"/>
              </a:ext>
            </a:extLst>
          </p:cNvPr>
          <p:cNvSpPr/>
          <p:nvPr/>
        </p:nvSpPr>
        <p:spPr>
          <a:xfrm>
            <a:off x="3904737" y="5363584"/>
            <a:ext cx="43011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1148</Words>
  <Application>Microsoft Office PowerPoint</Application>
  <PresentationFormat>Widescreen</PresentationFormat>
  <Paragraphs>196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Narrow</vt:lpstr>
      <vt:lpstr>Arial MT</vt:lpstr>
      <vt:lpstr>Calibri</vt:lpstr>
      <vt:lpstr>Inter</vt:lpstr>
      <vt:lpstr>Office Theme</vt:lpstr>
      <vt:lpstr>PowerPoint Presentation</vt:lpstr>
      <vt:lpstr>Market Overview</vt:lpstr>
      <vt:lpstr>Business Model- किसान संजीवनी </vt:lpstr>
      <vt:lpstr>Marketing &amp; Networking Plan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SHARMA</dc:creator>
  <cp:lastModifiedBy>Mayank Sharma</cp:lastModifiedBy>
  <cp:revision>1</cp:revision>
  <dcterms:created xsi:type="dcterms:W3CDTF">2024-02-29T09:55:21Z</dcterms:created>
  <dcterms:modified xsi:type="dcterms:W3CDTF">2024-07-27T21:53:47Z</dcterms:modified>
</cp:coreProperties>
</file>